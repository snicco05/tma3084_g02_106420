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73" r:id="rId5"/>
  </p:sldMasterIdLst>
  <p:notesMasterIdLst>
    <p:notesMasterId r:id="rId49"/>
  </p:notesMasterIdLst>
  <p:handoutMasterIdLst>
    <p:handoutMasterId r:id="rId50"/>
  </p:handoutMasterIdLst>
  <p:sldIdLst>
    <p:sldId id="256" r:id="rId6"/>
    <p:sldId id="298" r:id="rId7"/>
    <p:sldId id="299" r:id="rId8"/>
    <p:sldId id="329" r:id="rId9"/>
    <p:sldId id="330" r:id="rId10"/>
    <p:sldId id="348" r:id="rId11"/>
    <p:sldId id="332" r:id="rId12"/>
    <p:sldId id="333" r:id="rId13"/>
    <p:sldId id="334" r:id="rId14"/>
    <p:sldId id="335" r:id="rId15"/>
    <p:sldId id="336" r:id="rId16"/>
    <p:sldId id="337" r:id="rId17"/>
    <p:sldId id="338" r:id="rId18"/>
    <p:sldId id="339" r:id="rId19"/>
    <p:sldId id="340" r:id="rId20"/>
    <p:sldId id="341" r:id="rId21"/>
    <p:sldId id="342" r:id="rId22"/>
    <p:sldId id="343" r:id="rId23"/>
    <p:sldId id="344" r:id="rId24"/>
    <p:sldId id="345" r:id="rId25"/>
    <p:sldId id="346" r:id="rId26"/>
    <p:sldId id="347" r:id="rId27"/>
    <p:sldId id="349" r:id="rId28"/>
    <p:sldId id="350" r:id="rId29"/>
    <p:sldId id="351" r:id="rId30"/>
    <p:sldId id="352" r:id="rId31"/>
    <p:sldId id="353" r:id="rId32"/>
    <p:sldId id="354" r:id="rId33"/>
    <p:sldId id="355" r:id="rId34"/>
    <p:sldId id="356" r:id="rId35"/>
    <p:sldId id="357" r:id="rId36"/>
    <p:sldId id="358" r:id="rId37"/>
    <p:sldId id="359" r:id="rId38"/>
    <p:sldId id="360" r:id="rId39"/>
    <p:sldId id="361" r:id="rId40"/>
    <p:sldId id="362" r:id="rId41"/>
    <p:sldId id="363" r:id="rId42"/>
    <p:sldId id="364" r:id="rId43"/>
    <p:sldId id="365" r:id="rId44"/>
    <p:sldId id="366" r:id="rId45"/>
    <p:sldId id="367" r:id="rId46"/>
    <p:sldId id="296" r:id="rId47"/>
    <p:sldId id="328"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31" autoAdjust="0"/>
  </p:normalViewPr>
  <p:slideViewPr>
    <p:cSldViewPr snapToGrid="0">
      <p:cViewPr varScale="1">
        <p:scale>
          <a:sx n="113" d="100"/>
          <a:sy n="113" d="100"/>
        </p:scale>
        <p:origin x="510" y="96"/>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60" d="100"/>
          <a:sy n="60" d="100"/>
        </p:scale>
        <p:origin x="2424"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handoutMaster" Target="handoutMasters/handout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10/5/2026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a:t>
            </a:fld>
            <a:endParaRPr lang="en-US" noProof="0"/>
          </a:p>
        </p:txBody>
      </p:sp>
    </p:spTree>
    <p:extLst>
      <p:ext uri="{BB962C8B-B14F-4D97-AF65-F5344CB8AC3E}">
        <p14:creationId xmlns:p14="http://schemas.microsoft.com/office/powerpoint/2010/main" val="199658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a:t>
            </a:fld>
            <a:endParaRPr lang="en-US" noProof="0"/>
          </a:p>
        </p:txBody>
      </p:sp>
    </p:spTree>
    <p:extLst>
      <p:ext uri="{BB962C8B-B14F-4D97-AF65-F5344CB8AC3E}">
        <p14:creationId xmlns:p14="http://schemas.microsoft.com/office/powerpoint/2010/main" val="2675482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4</a:t>
            </a:fld>
            <a:endParaRPr lang="en-US" noProof="0"/>
          </a:p>
        </p:txBody>
      </p:sp>
    </p:spTree>
    <p:extLst>
      <p:ext uri="{BB962C8B-B14F-4D97-AF65-F5344CB8AC3E}">
        <p14:creationId xmlns:p14="http://schemas.microsoft.com/office/powerpoint/2010/main" val="480562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a:p>
        </p:txBody>
      </p:sp>
    </p:spTree>
    <p:extLst>
      <p:ext uri="{BB962C8B-B14F-4D97-AF65-F5344CB8AC3E}">
        <p14:creationId xmlns:p14="http://schemas.microsoft.com/office/powerpoint/2010/main" val="3701698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a:p>
        </p:txBody>
      </p:sp>
    </p:spTree>
    <p:extLst>
      <p:ext uri="{BB962C8B-B14F-4D97-AF65-F5344CB8AC3E}">
        <p14:creationId xmlns:p14="http://schemas.microsoft.com/office/powerpoint/2010/main" val="2512429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7</a:t>
            </a:fld>
            <a:endParaRPr lang="en-US" noProof="0"/>
          </a:p>
        </p:txBody>
      </p:sp>
    </p:spTree>
    <p:extLst>
      <p:ext uri="{BB962C8B-B14F-4D97-AF65-F5344CB8AC3E}">
        <p14:creationId xmlns:p14="http://schemas.microsoft.com/office/powerpoint/2010/main" val="2028786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8</a:t>
            </a:fld>
            <a:endParaRPr lang="en-US" noProof="0"/>
          </a:p>
        </p:txBody>
      </p:sp>
    </p:spTree>
    <p:extLst>
      <p:ext uri="{BB962C8B-B14F-4D97-AF65-F5344CB8AC3E}">
        <p14:creationId xmlns:p14="http://schemas.microsoft.com/office/powerpoint/2010/main" val="3659592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9</a:t>
            </a:fld>
            <a:endParaRPr lang="en-US" noProof="0"/>
          </a:p>
        </p:txBody>
      </p:sp>
    </p:spTree>
    <p:extLst>
      <p:ext uri="{BB962C8B-B14F-4D97-AF65-F5344CB8AC3E}">
        <p14:creationId xmlns:p14="http://schemas.microsoft.com/office/powerpoint/2010/main" val="831531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10</a:t>
            </a:fld>
            <a:endParaRPr lang="en-US" noProof="0"/>
          </a:p>
        </p:txBody>
      </p:sp>
    </p:spTree>
    <p:extLst>
      <p:ext uri="{BB962C8B-B14F-4D97-AF65-F5344CB8AC3E}">
        <p14:creationId xmlns:p14="http://schemas.microsoft.com/office/powerpoint/2010/main" val="10681382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11</a:t>
            </a:fld>
            <a:endParaRPr lang="en-US" noProof="0"/>
          </a:p>
        </p:txBody>
      </p:sp>
    </p:spTree>
    <p:extLst>
      <p:ext uri="{BB962C8B-B14F-4D97-AF65-F5344CB8AC3E}">
        <p14:creationId xmlns:p14="http://schemas.microsoft.com/office/powerpoint/2010/main" val="3447429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12</a:t>
            </a:fld>
            <a:endParaRPr lang="en-US" noProof="0"/>
          </a:p>
        </p:txBody>
      </p:sp>
    </p:spTree>
    <p:extLst>
      <p:ext uri="{BB962C8B-B14F-4D97-AF65-F5344CB8AC3E}">
        <p14:creationId xmlns:p14="http://schemas.microsoft.com/office/powerpoint/2010/main" val="28011435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13</a:t>
            </a:fld>
            <a:endParaRPr lang="en-US" noProof="0"/>
          </a:p>
        </p:txBody>
      </p:sp>
    </p:spTree>
    <p:extLst>
      <p:ext uri="{BB962C8B-B14F-4D97-AF65-F5344CB8AC3E}">
        <p14:creationId xmlns:p14="http://schemas.microsoft.com/office/powerpoint/2010/main" val="38435093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14</a:t>
            </a:fld>
            <a:endParaRPr lang="en-US" noProof="0"/>
          </a:p>
        </p:txBody>
      </p:sp>
    </p:spTree>
    <p:extLst>
      <p:ext uri="{BB962C8B-B14F-4D97-AF65-F5344CB8AC3E}">
        <p14:creationId xmlns:p14="http://schemas.microsoft.com/office/powerpoint/2010/main" val="21852680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15</a:t>
            </a:fld>
            <a:endParaRPr lang="en-US" noProof="0"/>
          </a:p>
        </p:txBody>
      </p:sp>
    </p:spTree>
    <p:extLst>
      <p:ext uri="{BB962C8B-B14F-4D97-AF65-F5344CB8AC3E}">
        <p14:creationId xmlns:p14="http://schemas.microsoft.com/office/powerpoint/2010/main" val="28428292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16</a:t>
            </a:fld>
            <a:endParaRPr lang="en-US" noProof="0"/>
          </a:p>
        </p:txBody>
      </p:sp>
    </p:spTree>
    <p:extLst>
      <p:ext uri="{BB962C8B-B14F-4D97-AF65-F5344CB8AC3E}">
        <p14:creationId xmlns:p14="http://schemas.microsoft.com/office/powerpoint/2010/main" val="9653020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17</a:t>
            </a:fld>
            <a:endParaRPr lang="en-US" noProof="0"/>
          </a:p>
        </p:txBody>
      </p:sp>
    </p:spTree>
    <p:extLst>
      <p:ext uri="{BB962C8B-B14F-4D97-AF65-F5344CB8AC3E}">
        <p14:creationId xmlns:p14="http://schemas.microsoft.com/office/powerpoint/2010/main" val="27546771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18</a:t>
            </a:fld>
            <a:endParaRPr lang="en-US" noProof="0"/>
          </a:p>
        </p:txBody>
      </p:sp>
    </p:spTree>
    <p:extLst>
      <p:ext uri="{BB962C8B-B14F-4D97-AF65-F5344CB8AC3E}">
        <p14:creationId xmlns:p14="http://schemas.microsoft.com/office/powerpoint/2010/main" val="40966949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19</a:t>
            </a:fld>
            <a:endParaRPr lang="en-US" noProof="0"/>
          </a:p>
        </p:txBody>
      </p:sp>
    </p:spTree>
    <p:extLst>
      <p:ext uri="{BB962C8B-B14F-4D97-AF65-F5344CB8AC3E}">
        <p14:creationId xmlns:p14="http://schemas.microsoft.com/office/powerpoint/2010/main" val="12539727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20</a:t>
            </a:fld>
            <a:endParaRPr lang="en-US" noProof="0"/>
          </a:p>
        </p:txBody>
      </p:sp>
    </p:spTree>
    <p:extLst>
      <p:ext uri="{BB962C8B-B14F-4D97-AF65-F5344CB8AC3E}">
        <p14:creationId xmlns:p14="http://schemas.microsoft.com/office/powerpoint/2010/main" val="2441879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21</a:t>
            </a:fld>
            <a:endParaRPr lang="en-US" noProof="0"/>
          </a:p>
        </p:txBody>
      </p:sp>
    </p:spTree>
    <p:extLst>
      <p:ext uri="{BB962C8B-B14F-4D97-AF65-F5344CB8AC3E}">
        <p14:creationId xmlns:p14="http://schemas.microsoft.com/office/powerpoint/2010/main" val="8129097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22</a:t>
            </a:fld>
            <a:endParaRPr lang="en-US" noProof="0"/>
          </a:p>
        </p:txBody>
      </p:sp>
    </p:spTree>
    <p:extLst>
      <p:ext uri="{BB962C8B-B14F-4D97-AF65-F5344CB8AC3E}">
        <p14:creationId xmlns:p14="http://schemas.microsoft.com/office/powerpoint/2010/main" val="22094751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23</a:t>
            </a:fld>
            <a:endParaRPr lang="en-US" noProof="0"/>
          </a:p>
        </p:txBody>
      </p:sp>
    </p:spTree>
    <p:extLst>
      <p:ext uri="{BB962C8B-B14F-4D97-AF65-F5344CB8AC3E}">
        <p14:creationId xmlns:p14="http://schemas.microsoft.com/office/powerpoint/2010/main" val="9386094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24</a:t>
            </a:fld>
            <a:endParaRPr lang="en-US" noProof="0"/>
          </a:p>
        </p:txBody>
      </p:sp>
    </p:spTree>
    <p:extLst>
      <p:ext uri="{BB962C8B-B14F-4D97-AF65-F5344CB8AC3E}">
        <p14:creationId xmlns:p14="http://schemas.microsoft.com/office/powerpoint/2010/main" val="27517553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25</a:t>
            </a:fld>
            <a:endParaRPr lang="en-US" noProof="0"/>
          </a:p>
        </p:txBody>
      </p:sp>
    </p:spTree>
    <p:extLst>
      <p:ext uri="{BB962C8B-B14F-4D97-AF65-F5344CB8AC3E}">
        <p14:creationId xmlns:p14="http://schemas.microsoft.com/office/powerpoint/2010/main" val="32934598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26</a:t>
            </a:fld>
            <a:endParaRPr lang="en-US" noProof="0"/>
          </a:p>
        </p:txBody>
      </p:sp>
    </p:spTree>
    <p:extLst>
      <p:ext uri="{BB962C8B-B14F-4D97-AF65-F5344CB8AC3E}">
        <p14:creationId xmlns:p14="http://schemas.microsoft.com/office/powerpoint/2010/main" val="20045896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27</a:t>
            </a:fld>
            <a:endParaRPr lang="en-US" noProof="0"/>
          </a:p>
        </p:txBody>
      </p:sp>
    </p:spTree>
    <p:extLst>
      <p:ext uri="{BB962C8B-B14F-4D97-AF65-F5344CB8AC3E}">
        <p14:creationId xmlns:p14="http://schemas.microsoft.com/office/powerpoint/2010/main" val="11317871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28</a:t>
            </a:fld>
            <a:endParaRPr lang="en-US" noProof="0"/>
          </a:p>
        </p:txBody>
      </p:sp>
    </p:spTree>
    <p:extLst>
      <p:ext uri="{BB962C8B-B14F-4D97-AF65-F5344CB8AC3E}">
        <p14:creationId xmlns:p14="http://schemas.microsoft.com/office/powerpoint/2010/main" val="36645170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29</a:t>
            </a:fld>
            <a:endParaRPr lang="en-US" noProof="0"/>
          </a:p>
        </p:txBody>
      </p:sp>
    </p:spTree>
    <p:extLst>
      <p:ext uri="{BB962C8B-B14F-4D97-AF65-F5344CB8AC3E}">
        <p14:creationId xmlns:p14="http://schemas.microsoft.com/office/powerpoint/2010/main" val="28213293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30</a:t>
            </a:fld>
            <a:endParaRPr lang="en-US" noProof="0"/>
          </a:p>
        </p:txBody>
      </p:sp>
    </p:spTree>
    <p:extLst>
      <p:ext uri="{BB962C8B-B14F-4D97-AF65-F5344CB8AC3E}">
        <p14:creationId xmlns:p14="http://schemas.microsoft.com/office/powerpoint/2010/main" val="30972245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31</a:t>
            </a:fld>
            <a:endParaRPr lang="en-US" noProof="0"/>
          </a:p>
        </p:txBody>
      </p:sp>
    </p:spTree>
    <p:extLst>
      <p:ext uri="{BB962C8B-B14F-4D97-AF65-F5344CB8AC3E}">
        <p14:creationId xmlns:p14="http://schemas.microsoft.com/office/powerpoint/2010/main" val="39532872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32</a:t>
            </a:fld>
            <a:endParaRPr lang="en-US" noProof="0"/>
          </a:p>
        </p:txBody>
      </p:sp>
    </p:spTree>
    <p:extLst>
      <p:ext uri="{BB962C8B-B14F-4D97-AF65-F5344CB8AC3E}">
        <p14:creationId xmlns:p14="http://schemas.microsoft.com/office/powerpoint/2010/main" val="1771403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33</a:t>
            </a:fld>
            <a:endParaRPr lang="en-US" noProof="0"/>
          </a:p>
        </p:txBody>
      </p:sp>
    </p:spTree>
    <p:extLst>
      <p:ext uri="{BB962C8B-B14F-4D97-AF65-F5344CB8AC3E}">
        <p14:creationId xmlns:p14="http://schemas.microsoft.com/office/powerpoint/2010/main" val="9046927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34</a:t>
            </a:fld>
            <a:endParaRPr lang="en-US" noProof="0"/>
          </a:p>
        </p:txBody>
      </p:sp>
    </p:spTree>
    <p:extLst>
      <p:ext uri="{BB962C8B-B14F-4D97-AF65-F5344CB8AC3E}">
        <p14:creationId xmlns:p14="http://schemas.microsoft.com/office/powerpoint/2010/main" val="9661008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35</a:t>
            </a:fld>
            <a:endParaRPr lang="en-US" noProof="0"/>
          </a:p>
        </p:txBody>
      </p:sp>
    </p:spTree>
    <p:extLst>
      <p:ext uri="{BB962C8B-B14F-4D97-AF65-F5344CB8AC3E}">
        <p14:creationId xmlns:p14="http://schemas.microsoft.com/office/powerpoint/2010/main" val="39102827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36</a:t>
            </a:fld>
            <a:endParaRPr lang="en-US" noProof="0"/>
          </a:p>
        </p:txBody>
      </p:sp>
    </p:spTree>
    <p:extLst>
      <p:ext uri="{BB962C8B-B14F-4D97-AF65-F5344CB8AC3E}">
        <p14:creationId xmlns:p14="http://schemas.microsoft.com/office/powerpoint/2010/main" val="10077984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37</a:t>
            </a:fld>
            <a:endParaRPr lang="en-US" noProof="0"/>
          </a:p>
        </p:txBody>
      </p:sp>
    </p:spTree>
    <p:extLst>
      <p:ext uri="{BB962C8B-B14F-4D97-AF65-F5344CB8AC3E}">
        <p14:creationId xmlns:p14="http://schemas.microsoft.com/office/powerpoint/2010/main" val="19941707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38</a:t>
            </a:fld>
            <a:endParaRPr lang="en-US" noProof="0"/>
          </a:p>
        </p:txBody>
      </p:sp>
    </p:spTree>
    <p:extLst>
      <p:ext uri="{BB962C8B-B14F-4D97-AF65-F5344CB8AC3E}">
        <p14:creationId xmlns:p14="http://schemas.microsoft.com/office/powerpoint/2010/main" val="28172273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39</a:t>
            </a:fld>
            <a:endParaRPr lang="en-US" noProof="0"/>
          </a:p>
        </p:txBody>
      </p:sp>
    </p:spTree>
    <p:extLst>
      <p:ext uri="{BB962C8B-B14F-4D97-AF65-F5344CB8AC3E}">
        <p14:creationId xmlns:p14="http://schemas.microsoft.com/office/powerpoint/2010/main" val="11870049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40</a:t>
            </a:fld>
            <a:endParaRPr lang="en-US" noProof="0"/>
          </a:p>
        </p:txBody>
      </p:sp>
    </p:spTree>
    <p:extLst>
      <p:ext uri="{BB962C8B-B14F-4D97-AF65-F5344CB8AC3E}">
        <p14:creationId xmlns:p14="http://schemas.microsoft.com/office/powerpoint/2010/main" val="14243994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41</a:t>
            </a:fld>
            <a:endParaRPr lang="en-US" noProof="0"/>
          </a:p>
        </p:txBody>
      </p:sp>
    </p:spTree>
    <p:extLst>
      <p:ext uri="{BB962C8B-B14F-4D97-AF65-F5344CB8AC3E}">
        <p14:creationId xmlns:p14="http://schemas.microsoft.com/office/powerpoint/2010/main" val="21413905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42</a:t>
            </a:fld>
            <a:endParaRPr lang="en-US" noProof="0"/>
          </a:p>
        </p:txBody>
      </p:sp>
    </p:spTree>
    <p:extLst>
      <p:ext uri="{BB962C8B-B14F-4D97-AF65-F5344CB8AC3E}">
        <p14:creationId xmlns:p14="http://schemas.microsoft.com/office/powerpoint/2010/main" val="41896101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43</a:t>
            </a:fld>
            <a:endParaRPr lang="en-US" noProof="0"/>
          </a:p>
        </p:txBody>
      </p:sp>
    </p:spTree>
    <p:extLst>
      <p:ext uri="{BB962C8B-B14F-4D97-AF65-F5344CB8AC3E}">
        <p14:creationId xmlns:p14="http://schemas.microsoft.com/office/powerpoint/2010/main" val="1069112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Small Image">
    <p:spTree>
      <p:nvGrpSpPr>
        <p:cNvPr id="1" name=""/>
        <p:cNvGrpSpPr/>
        <p:nvPr/>
      </p:nvGrpSpPr>
      <p:grpSpPr>
        <a:xfrm>
          <a:off x="0" y="0"/>
          <a:ext cx="0" cy="0"/>
          <a:chOff x="0" y="0"/>
          <a:chExt cx="0" cy="0"/>
        </a:xfrm>
      </p:grpSpPr>
      <p:sp>
        <p:nvSpPr>
          <p:cNvPr id="9" name="Picture Placeholder 1">
            <a:extLst>
              <a:ext uri="{FF2B5EF4-FFF2-40B4-BE49-F238E27FC236}">
                <a16:creationId xmlns:a16="http://schemas.microsoft.com/office/drawing/2014/main" id="{837F9836-5B23-424D-8C60-AC02A8512A4B}"/>
              </a:ext>
            </a:extLst>
          </p:cNvPr>
          <p:cNvSpPr>
            <a:spLocks noGrp="1"/>
          </p:cNvSpPr>
          <p:nvPr>
            <p:ph type="pic" sz="quarter" idx="13" hasCustomPrompt="1"/>
          </p:nvPr>
        </p:nvSpPr>
        <p:spPr>
          <a:xfrm>
            <a:off x="9980476" y="0"/>
            <a:ext cx="2211524" cy="6858000"/>
          </a:xfrm>
          <a:solidFill>
            <a:schemeClr val="bg1">
              <a:lumMod val="9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86990" y="4346296"/>
            <a:ext cx="6798250" cy="1674470"/>
          </a:xfrm>
        </p:spPr>
        <p:txBody>
          <a:bodyPr anchor="b"/>
          <a:lstStyle>
            <a:lvl1pPr algn="r">
              <a:lnSpc>
                <a:spcPts val="5000"/>
              </a:lnSpc>
              <a:defRPr sz="6000" b="1" cap="all" spc="-300" baseline="0">
                <a:solidFill>
                  <a:schemeClr val="tx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11904" y="4650539"/>
            <a:ext cx="3401478" cy="1192038"/>
          </a:xfrm>
          <a:solidFill>
            <a:schemeClr val="tx1"/>
          </a:solidFill>
        </p:spPr>
        <p:txBody>
          <a:bodyPr lIns="252000" tIns="0" anchor="ctr"/>
          <a:lstStyle>
            <a:lvl1pPr marL="0" indent="0" algn="l">
              <a:lnSpc>
                <a:spcPct val="100000"/>
              </a:lnSpc>
              <a:buNone/>
              <a:defRPr sz="1800" i="1">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bwMode="auto">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54ED587-2D2F-4D3F-B55B-C64465AB4EC5}"/>
              </a:ext>
            </a:extLst>
          </p:cNvPr>
          <p:cNvSpPr/>
          <p:nvPr userDrawn="1"/>
        </p:nvSpPr>
        <p:spPr>
          <a:xfrm>
            <a:off x="69274" y="66963"/>
            <a:ext cx="9911201" cy="672734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86990" y="4346296"/>
            <a:ext cx="6798250" cy="1674470"/>
          </a:xfrm>
        </p:spPr>
        <p:txBody>
          <a:bodyPr anchor="b"/>
          <a:lstStyle>
            <a:lvl1pPr algn="r">
              <a:lnSpc>
                <a:spcPts val="5000"/>
              </a:lnSpc>
              <a:defRPr sz="6000" b="1" cap="all" spc="-300" baseline="0">
                <a:solidFill>
                  <a:schemeClr val="bg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26418" y="4650539"/>
            <a:ext cx="2456210" cy="1192038"/>
          </a:xfrm>
          <a:solidFill>
            <a:schemeClr val="bg1"/>
          </a:solidFill>
        </p:spPr>
        <p:txBody>
          <a:bodyPr lIns="252000" tIns="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E798A99C-9485-48F0-8E1E-227AD1348A45}"/>
              </a:ext>
            </a:extLst>
          </p:cNvPr>
          <p:cNvSpPr>
            <a:spLocks noGrp="1"/>
          </p:cNvSpPr>
          <p:nvPr>
            <p:ph type="sldNum" sz="quarter" idx="11"/>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218115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Large Image">
    <p:bg>
      <p:bgPr>
        <a:solidFill>
          <a:schemeClr val="bg1"/>
        </a:solidFill>
        <a:effectLst/>
      </p:bgPr>
    </p:bg>
    <p:spTree>
      <p:nvGrpSpPr>
        <p:cNvPr id="1" name=""/>
        <p:cNvGrpSpPr/>
        <p:nvPr/>
      </p:nvGrpSpPr>
      <p:grpSpPr>
        <a:xfrm>
          <a:off x="0" y="0"/>
          <a:ext cx="0" cy="0"/>
          <a:chOff x="0" y="0"/>
          <a:chExt cx="0" cy="0"/>
        </a:xfrm>
      </p:grpSpPr>
      <p:sp>
        <p:nvSpPr>
          <p:cNvPr id="9" name="Picture Placeholder 1">
            <a:extLst>
              <a:ext uri="{FF2B5EF4-FFF2-40B4-BE49-F238E27FC236}">
                <a16:creationId xmlns:a16="http://schemas.microsoft.com/office/drawing/2014/main" id="{069FFAE5-B16E-4571-88F7-52FA5354B1A1}"/>
              </a:ext>
            </a:extLst>
          </p:cNvPr>
          <p:cNvSpPr>
            <a:spLocks noGrp="1"/>
          </p:cNvSpPr>
          <p:nvPr>
            <p:ph type="pic" sz="quarter" idx="13" hasCustomPrompt="1"/>
          </p:nvPr>
        </p:nvSpPr>
        <p:spPr>
          <a:xfrm>
            <a:off x="69273" y="63691"/>
            <a:ext cx="9911201" cy="6727346"/>
          </a:xfrm>
          <a:solidFill>
            <a:schemeClr val="tx1">
              <a:lumMod val="75000"/>
              <a:lumOff val="25000"/>
            </a:schemeClr>
          </a:solidFill>
        </p:spPr>
        <p:txBody>
          <a:bodyPr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86990" y="4346296"/>
            <a:ext cx="6798250" cy="1674470"/>
          </a:xfrm>
        </p:spPr>
        <p:txBody>
          <a:bodyPr anchor="b"/>
          <a:lstStyle>
            <a:lvl1pPr algn="r">
              <a:lnSpc>
                <a:spcPts val="5000"/>
              </a:lnSpc>
              <a:defRPr sz="6000" b="1" cap="all" spc="-300" baseline="0">
                <a:solidFill>
                  <a:schemeClr val="bg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326418" y="4650539"/>
            <a:ext cx="2456210" cy="1192038"/>
          </a:xfrm>
          <a:solidFill>
            <a:schemeClr val="bg1"/>
          </a:solidFill>
        </p:spPr>
        <p:txBody>
          <a:bodyPr lIns="252000" tIns="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7" name="Rectangle 6">
            <a:extLst>
              <a:ext uri="{FF2B5EF4-FFF2-40B4-BE49-F238E27FC236}">
                <a16:creationId xmlns:a16="http://schemas.microsoft.com/office/drawing/2014/main" id="{756F2950-BBCB-4A53-9EAC-D714777B8FA2}"/>
              </a:ext>
            </a:extLst>
          </p:cNvPr>
          <p:cNvSpPr/>
          <p:nvPr userDrawn="1"/>
        </p:nvSpPr>
        <p:spPr>
          <a:xfrm>
            <a:off x="0" y="6794309"/>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D5253865-24CF-4EF5-92A5-F64EB9ABC8B7}"/>
              </a:ext>
            </a:extLst>
          </p:cNvPr>
          <p:cNvSpPr/>
          <p:nvPr userDrawn="1"/>
        </p:nvSpPr>
        <p:spPr>
          <a:xfrm>
            <a:off x="0" y="0"/>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BBE19773-9B6A-4A2C-95A5-69A3788C2D94}"/>
              </a:ext>
            </a:extLst>
          </p:cNvPr>
          <p:cNvSpPr/>
          <p:nvPr userDrawn="1"/>
        </p:nvSpPr>
        <p:spPr>
          <a:xfrm rot="5400000">
            <a:off x="-3378441" y="3410285"/>
            <a:ext cx="6826157" cy="69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E798A99C-9485-48F0-8E1E-227AD1348A45}"/>
              </a:ext>
            </a:extLst>
          </p:cNvPr>
          <p:cNvSpPr>
            <a:spLocks noGrp="1"/>
          </p:cNvSpPr>
          <p:nvPr>
            <p:ph type="sldNum" sz="quarter" idx="11"/>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4094738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
            <a:extLst>
              <a:ext uri="{FF2B5EF4-FFF2-40B4-BE49-F238E27FC236}">
                <a16:creationId xmlns:a16="http://schemas.microsoft.com/office/drawing/2014/main" id="{1599E2D7-24B3-4D66-9AFB-83C1AEC4DBBB}"/>
              </a:ext>
            </a:extLst>
          </p:cNvPr>
          <p:cNvSpPr>
            <a:spLocks noGrp="1"/>
          </p:cNvSpPr>
          <p:nvPr>
            <p:ph type="pic" sz="quarter" idx="33" hasCustomPrompt="1"/>
          </p:nvPr>
        </p:nvSpPr>
        <p:spPr>
          <a:xfrm>
            <a:off x="9980476" y="0"/>
            <a:ext cx="2211524" cy="6192000"/>
          </a:xfrm>
          <a:solidFill>
            <a:schemeClr val="bg1">
              <a:lumMod val="9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445086" y="1807950"/>
            <a:ext cx="5184913" cy="432000"/>
          </a:xfrm>
        </p:spPr>
        <p:txBody>
          <a:bodyPr/>
          <a:lstStyle>
            <a:lvl1pPr algn="r">
              <a:defRPr>
                <a:solidFill>
                  <a:schemeClr val="tx1"/>
                </a:solidFill>
              </a:defRPr>
            </a:lvl1pPr>
          </a:lstStyle>
          <a:p>
            <a:r>
              <a:rPr lang="en-US" noProof="0"/>
              <a:t>Click to edit page title</a:t>
            </a:r>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444886" y="2383950"/>
            <a:ext cx="5184913" cy="360000"/>
          </a:xfrm>
        </p:spPr>
        <p:txBody>
          <a:bodyPr/>
          <a:lstStyle>
            <a:lvl1pPr marL="0" indent="0" algn="r">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4445000" y="2908300"/>
            <a:ext cx="5184800" cy="3283700"/>
          </a:xfrm>
          <a:solidFill>
            <a:schemeClr val="bg1"/>
          </a:solidFill>
        </p:spPr>
        <p:txBody>
          <a:bodyPr lIns="180000" tIns="252000" rIns="252000"/>
          <a:lstStyle>
            <a:lvl1pPr algn="l">
              <a:defRPr>
                <a:solidFill>
                  <a:schemeClr val="tx1">
                    <a:lumMod val="75000"/>
                    <a:lumOff val="25000"/>
                  </a:schemeClr>
                </a:solidFill>
              </a:defRPr>
            </a:lvl1pPr>
            <a:lvl2pPr algn="l">
              <a:defRPr>
                <a:solidFill>
                  <a:schemeClr val="tx1">
                    <a:lumMod val="75000"/>
                    <a:lumOff val="25000"/>
                  </a:schemeClr>
                </a:solidFill>
              </a:defRPr>
            </a:lvl2pPr>
            <a:lvl3pPr algn="l">
              <a:defRPr>
                <a:solidFill>
                  <a:schemeClr val="tx1">
                    <a:lumMod val="75000"/>
                    <a:lumOff val="25000"/>
                  </a:schemeClr>
                </a:solidFill>
              </a:defRPr>
            </a:lvl3pPr>
            <a:lvl4pPr algn="l">
              <a:defRPr>
                <a:solidFill>
                  <a:schemeClr val="tx1">
                    <a:lumMod val="75000"/>
                    <a:lumOff val="25000"/>
                  </a:schemeClr>
                </a:solidFill>
              </a:defRPr>
            </a:lvl4pPr>
            <a:lvl5pPr algn="l">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53DA1E79-BA17-41C5-98B7-CFBC5859A512}"/>
              </a:ext>
            </a:extLst>
          </p:cNvPr>
          <p:cNvSpPr>
            <a:spLocks noGrp="1"/>
          </p:cNvSpPr>
          <p:nvPr>
            <p:ph type="sldNum" sz="quarter" idx="34"/>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350103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3823393" y="1343906"/>
            <a:ext cx="3736800" cy="3933645"/>
          </a:xfrm>
          <a:solidFill>
            <a:schemeClr val="bg1"/>
          </a:solidFill>
        </p:spPr>
        <p:txBody>
          <a:bodyPr lIns="180000" tIns="180000" rIns="18000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53DA1E79-BA17-41C5-98B7-CFBC5859A512}"/>
              </a:ext>
            </a:extLst>
          </p:cNvPr>
          <p:cNvSpPr>
            <a:spLocks noGrp="1"/>
          </p:cNvSpPr>
          <p:nvPr>
            <p:ph type="sldNum" sz="quarter" idx="34"/>
          </p:nvPr>
        </p:nvSpPr>
        <p:spPr/>
        <p:txBody>
          <a:bodyPr/>
          <a:lstStyle/>
          <a:p>
            <a:fld id="{19B51A1E-902D-48AF-9020-955120F399B6}" type="slidenum">
              <a:rPr lang="en-US" noProof="0" smtClean="0"/>
              <a:pPr/>
              <a:t>‹#›</a:t>
            </a:fld>
            <a:endParaRPr lang="en-US" noProof="0" dirty="0"/>
          </a:p>
        </p:txBody>
      </p:sp>
      <p:sp>
        <p:nvSpPr>
          <p:cNvPr id="9" name="Picture Placeholder 6">
            <a:extLst>
              <a:ext uri="{FF2B5EF4-FFF2-40B4-BE49-F238E27FC236}">
                <a16:creationId xmlns:a16="http://schemas.microsoft.com/office/drawing/2014/main" id="{492C2A1D-F7BD-46B6-BC01-15D365ACD50B}"/>
              </a:ext>
            </a:extLst>
          </p:cNvPr>
          <p:cNvSpPr>
            <a:spLocks noGrp="1"/>
          </p:cNvSpPr>
          <p:nvPr>
            <p:ph type="pic" sz="quarter" idx="14" hasCustomPrompt="1"/>
          </p:nvPr>
        </p:nvSpPr>
        <p:spPr>
          <a:xfrm>
            <a:off x="7560193" y="1344803"/>
            <a:ext cx="3737526" cy="3933645"/>
          </a:xfrm>
          <a:solidFill>
            <a:schemeClr val="tx1">
              <a:lumMod val="75000"/>
              <a:lumOff val="25000"/>
            </a:schemeClr>
          </a:solidFill>
        </p:spPr>
        <p:txBody>
          <a:bodyPr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6" name="Title 5">
            <a:extLst>
              <a:ext uri="{FF2B5EF4-FFF2-40B4-BE49-F238E27FC236}">
                <a16:creationId xmlns:a16="http://schemas.microsoft.com/office/drawing/2014/main" id="{7F4F1543-153D-4F77-A4A9-C9BBA1C2052E}"/>
              </a:ext>
            </a:extLst>
          </p:cNvPr>
          <p:cNvSpPr>
            <a:spLocks noGrp="1"/>
          </p:cNvSpPr>
          <p:nvPr>
            <p:ph type="title"/>
          </p:nvPr>
        </p:nvSpPr>
        <p:spPr>
          <a:xfrm>
            <a:off x="432000" y="432000"/>
            <a:ext cx="9131100" cy="432000"/>
          </a:xfrm>
        </p:spPr>
        <p:txBody>
          <a:bodyPr/>
          <a:lstStyle/>
          <a:p>
            <a:r>
              <a:rPr lang="en-US" noProof="0"/>
              <a:t>Click to edit Master title style</a:t>
            </a:r>
          </a:p>
        </p:txBody>
      </p:sp>
      <p:sp>
        <p:nvSpPr>
          <p:cNvPr id="11" name="Subtitle 2">
            <a:extLst>
              <a:ext uri="{FF2B5EF4-FFF2-40B4-BE49-F238E27FC236}">
                <a16:creationId xmlns:a16="http://schemas.microsoft.com/office/drawing/2014/main" id="{9FAA210E-391A-499A-89D5-F222045FD1A4}"/>
              </a:ext>
            </a:extLst>
          </p:cNvPr>
          <p:cNvSpPr>
            <a:spLocks noGrp="1"/>
          </p:cNvSpPr>
          <p:nvPr>
            <p:ph type="body" sz="quarter" idx="32" hasCustomPrompt="1"/>
          </p:nvPr>
        </p:nvSpPr>
        <p:spPr>
          <a:xfrm>
            <a:off x="431800" y="1008000"/>
            <a:ext cx="68959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2347197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9" name="Subtitle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91980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mparison Left Placeholder 1">
            <a:extLst>
              <a:ext uri="{FF2B5EF4-FFF2-40B4-BE49-F238E27FC236}">
                <a16:creationId xmlns:a16="http://schemas.microsoft.com/office/drawing/2014/main" id="{9322B50D-6A7D-41C6-BA57-613BC231DF36}"/>
              </a:ext>
            </a:extLst>
          </p:cNvPr>
          <p:cNvSpPr>
            <a:spLocks noGrp="1"/>
          </p:cNvSpPr>
          <p:nvPr>
            <p:ph type="body" idx="1" hasCustomPrompt="1"/>
          </p:nvPr>
        </p:nvSpPr>
        <p:spPr>
          <a:xfrm>
            <a:off x="432000" y="1432296"/>
            <a:ext cx="4500000" cy="527076"/>
          </a:xfrm>
          <a:solidFill>
            <a:schemeClr val="tx1"/>
          </a:solidFill>
        </p:spPr>
        <p:txBody>
          <a:bodyPr lIns="180000" tIns="36000" anchor="ctr"/>
          <a:lstStyle>
            <a:lvl1pPr marL="0" indent="0">
              <a:buNone/>
              <a:defRPr sz="2400" b="1" spc="-15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2">
            <a:extLst>
              <a:ext uri="{FF2B5EF4-FFF2-40B4-BE49-F238E27FC236}">
                <a16:creationId xmlns:a16="http://schemas.microsoft.com/office/drawing/2014/main" id="{9FD584DA-F775-47B8-A1D7-6556AD5FCBD2}"/>
              </a:ext>
            </a:extLst>
          </p:cNvPr>
          <p:cNvSpPr>
            <a:spLocks noGrp="1"/>
          </p:cNvSpPr>
          <p:nvPr>
            <p:ph sz="half" idx="2" hasCustomPrompt="1"/>
          </p:nvPr>
        </p:nvSpPr>
        <p:spPr>
          <a:xfrm>
            <a:off x="432000" y="2023668"/>
            <a:ext cx="4500000" cy="4168332"/>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mparison Left Placeholder 2">
            <a:extLst>
              <a:ext uri="{FF2B5EF4-FFF2-40B4-BE49-F238E27FC236}">
                <a16:creationId xmlns:a16="http://schemas.microsoft.com/office/drawing/2014/main" id="{78A963F8-6F6E-440E-B3B3-DDE13C083A36}"/>
              </a:ext>
            </a:extLst>
          </p:cNvPr>
          <p:cNvSpPr>
            <a:spLocks noGrp="1"/>
          </p:cNvSpPr>
          <p:nvPr>
            <p:ph type="body" sz="quarter" idx="13" hasCustomPrompt="1"/>
          </p:nvPr>
        </p:nvSpPr>
        <p:spPr>
          <a:xfrm>
            <a:off x="5129800" y="1433105"/>
            <a:ext cx="4500000" cy="525283"/>
          </a:xfrm>
          <a:solidFill>
            <a:schemeClr val="tx1"/>
          </a:solidFill>
        </p:spPr>
        <p:txBody>
          <a:bodyPr lIns="180000" tIns="36000" anchor="ctr"/>
          <a:lstStyle>
            <a:lvl1pPr marL="0" indent="0">
              <a:buNone/>
              <a:defRPr sz="2400" b="1" spc="-150">
                <a:solidFill>
                  <a:schemeClr val="bg1"/>
                </a:solidFill>
                <a:latin typeface="+mj-lt"/>
              </a:defRPr>
            </a:lvl1pPr>
          </a:lstStyle>
          <a:p>
            <a:pPr lvl="0"/>
            <a:r>
              <a:rPr lang="en-US" noProof="0"/>
              <a:t>Edit Master text styles</a:t>
            </a:r>
          </a:p>
        </p:txBody>
      </p:sp>
      <p:sp>
        <p:nvSpPr>
          <p:cNvPr id="8" name="Text Placeholder 4">
            <a:extLst>
              <a:ext uri="{FF2B5EF4-FFF2-40B4-BE49-F238E27FC236}">
                <a16:creationId xmlns:a16="http://schemas.microsoft.com/office/drawing/2014/main" id="{DF0A5256-B267-47DA-858A-0F3867CB6139}"/>
              </a:ext>
            </a:extLst>
          </p:cNvPr>
          <p:cNvSpPr>
            <a:spLocks noGrp="1"/>
          </p:cNvSpPr>
          <p:nvPr>
            <p:ph type="body" sz="quarter" idx="12" hasCustomPrompt="1"/>
          </p:nvPr>
        </p:nvSpPr>
        <p:spPr>
          <a:xfrm>
            <a:off x="5129800" y="2020359"/>
            <a:ext cx="4500000" cy="417089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50995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6299200" y="432000"/>
            <a:ext cx="5472113" cy="5759250"/>
          </a:xfrm>
          <a:solidFill>
            <a:schemeClr val="tx1">
              <a:lumMod val="75000"/>
              <a:lumOff val="25000"/>
            </a:schemeClr>
          </a:solidFill>
        </p:spPr>
        <p:txBody>
          <a:bodyPr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3875314" y="5096632"/>
            <a:ext cx="2028686" cy="1094618"/>
          </a:xfrm>
        </p:spPr>
        <p:txBody>
          <a:bodyPr anchor="b"/>
          <a:lstStyle>
            <a:lvl1pPr marL="0" indent="0" algn="r">
              <a:buNone/>
              <a:defRPr i="1">
                <a:solidFill>
                  <a:schemeClr val="tx1"/>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Enter your caption</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2" name="Slide Number Placeholder 1">
            <a:extLst>
              <a:ext uri="{FF2B5EF4-FFF2-40B4-BE49-F238E27FC236}">
                <a16:creationId xmlns:a16="http://schemas.microsoft.com/office/drawing/2014/main" id="{E25951D2-91DB-40E7-95D5-4B372602DEB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
        <p:nvSpPr>
          <p:cNvPr id="5" name="Title 4">
            <a:extLst>
              <a:ext uri="{FF2B5EF4-FFF2-40B4-BE49-F238E27FC236}">
                <a16:creationId xmlns:a16="http://schemas.microsoft.com/office/drawing/2014/main" id="{16EFF903-F1F3-440A-B12C-9FD51606B03D}"/>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987784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hank You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174360" y="2112793"/>
            <a:ext cx="6798250" cy="1674470"/>
          </a:xfrm>
        </p:spPr>
        <p:txBody>
          <a:bodyPr anchor="ctr"/>
          <a:lstStyle>
            <a:lvl1pPr algn="l">
              <a:lnSpc>
                <a:spcPct val="100000"/>
              </a:lnSpc>
              <a:defRPr sz="6000" b="1" cap="all" spc="-300" baseline="0">
                <a:solidFill>
                  <a:schemeClr val="bg1"/>
                </a:solidFill>
                <a:latin typeface="+mj-lt"/>
              </a:defRPr>
            </a:lvl1pPr>
          </a:lstStyle>
          <a:p>
            <a:r>
              <a:rPr lang="en-US" noProof="0"/>
              <a:t>Thank you</a:t>
            </a:r>
          </a:p>
        </p:txBody>
      </p:sp>
      <p:sp>
        <p:nvSpPr>
          <p:cNvPr id="10" name="Text Placeholder 5">
            <a:extLst>
              <a:ext uri="{FF2B5EF4-FFF2-40B4-BE49-F238E27FC236}">
                <a16:creationId xmlns:a16="http://schemas.microsoft.com/office/drawing/2014/main" id="{CA3EFDD3-A9D2-4EB6-BB2A-F6999D9F7EA6}"/>
              </a:ext>
            </a:extLst>
          </p:cNvPr>
          <p:cNvSpPr>
            <a:spLocks noGrp="1"/>
          </p:cNvSpPr>
          <p:nvPr>
            <p:ph type="body" sz="quarter" idx="15" hasCustomPrompt="1"/>
          </p:nvPr>
        </p:nvSpPr>
        <p:spPr>
          <a:xfrm>
            <a:off x="2174361" y="4035727"/>
            <a:ext cx="3329850" cy="382887"/>
          </a:xfrm>
        </p:spPr>
        <p:txBody>
          <a:bodyPr/>
          <a:lstStyle>
            <a:lvl1pPr marL="0" indent="0" algn="r">
              <a:buNone/>
              <a:defRPr sz="2400"/>
            </a:lvl1pPr>
            <a:lvl2pPr marL="266700" indent="0">
              <a:buNone/>
              <a:defRPr/>
            </a:lvl2pPr>
            <a:lvl3pPr marL="542925" indent="0">
              <a:buNone/>
              <a:defRPr/>
            </a:lvl3pPr>
            <a:lvl4pPr marL="809625" indent="0">
              <a:buNone/>
              <a:defRPr/>
            </a:lvl4pPr>
            <a:lvl5pPr marL="1076325" indent="0">
              <a:buNone/>
              <a:defRPr/>
            </a:lvl5pPr>
          </a:lstStyle>
          <a:p>
            <a:pPr lvl="0"/>
            <a:r>
              <a:rPr lang="en-US" noProof="0"/>
              <a:t>Full Name</a:t>
            </a:r>
          </a:p>
        </p:txBody>
      </p:sp>
      <p:sp>
        <p:nvSpPr>
          <p:cNvPr id="12" name="Text Placeholder 6">
            <a:extLst>
              <a:ext uri="{FF2B5EF4-FFF2-40B4-BE49-F238E27FC236}">
                <a16:creationId xmlns:a16="http://schemas.microsoft.com/office/drawing/2014/main" id="{261ED1F7-B623-43D9-9BDA-8808C5CFAFFB}"/>
              </a:ext>
            </a:extLst>
          </p:cNvPr>
          <p:cNvSpPr>
            <a:spLocks noGrp="1"/>
          </p:cNvSpPr>
          <p:nvPr>
            <p:ph type="body" sz="quarter" idx="16" hasCustomPrompt="1"/>
          </p:nvPr>
        </p:nvSpPr>
        <p:spPr>
          <a:xfrm>
            <a:off x="6062268" y="4150118"/>
            <a:ext cx="2910342" cy="238016"/>
          </a:xfrm>
        </p:spPr>
        <p:txBody>
          <a:bodyPr/>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a:r>
              <a:rPr lang="en-US" noProof="0"/>
              <a:t>Phone Number</a:t>
            </a:r>
          </a:p>
        </p:txBody>
      </p:sp>
      <p:sp>
        <p:nvSpPr>
          <p:cNvPr id="13" name="Text Placeholder 7">
            <a:extLst>
              <a:ext uri="{FF2B5EF4-FFF2-40B4-BE49-F238E27FC236}">
                <a16:creationId xmlns:a16="http://schemas.microsoft.com/office/drawing/2014/main" id="{E27366FC-4115-4122-9CE2-5FA9D424AD51}"/>
              </a:ext>
            </a:extLst>
          </p:cNvPr>
          <p:cNvSpPr>
            <a:spLocks noGrp="1"/>
          </p:cNvSpPr>
          <p:nvPr>
            <p:ph type="body" sz="quarter" idx="17" hasCustomPrompt="1"/>
          </p:nvPr>
        </p:nvSpPr>
        <p:spPr>
          <a:xfrm>
            <a:off x="6062268" y="4540691"/>
            <a:ext cx="2910342" cy="238016"/>
          </a:xfrm>
        </p:spPr>
        <p:txBody>
          <a:bodyPr/>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a:r>
              <a:rPr lang="en-US" noProof="0"/>
              <a:t>Email or Social Media Handle</a:t>
            </a:r>
          </a:p>
        </p:txBody>
      </p:sp>
      <p:sp>
        <p:nvSpPr>
          <p:cNvPr id="14" name="Text Placeholder 8">
            <a:extLst>
              <a:ext uri="{FF2B5EF4-FFF2-40B4-BE49-F238E27FC236}">
                <a16:creationId xmlns:a16="http://schemas.microsoft.com/office/drawing/2014/main" id="{DEB36829-2F8B-4E22-AB6D-4111D18AF847}"/>
              </a:ext>
            </a:extLst>
          </p:cNvPr>
          <p:cNvSpPr>
            <a:spLocks noGrp="1"/>
          </p:cNvSpPr>
          <p:nvPr>
            <p:ph type="body" sz="quarter" idx="18" hasCustomPrompt="1"/>
          </p:nvPr>
        </p:nvSpPr>
        <p:spPr>
          <a:xfrm>
            <a:off x="6062268" y="4931263"/>
            <a:ext cx="2910342" cy="238016"/>
          </a:xfrm>
        </p:spPr>
        <p:txBody>
          <a:bodyPr/>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a:r>
              <a:rPr lang="en-US" noProof="0"/>
              <a:t>Company Website</a:t>
            </a:r>
          </a:p>
        </p:txBody>
      </p:sp>
    </p:spTree>
    <p:extLst>
      <p:ext uri="{BB962C8B-B14F-4D97-AF65-F5344CB8AC3E}">
        <p14:creationId xmlns:p14="http://schemas.microsoft.com/office/powerpoint/2010/main" val="3189010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a:lstStyle>
            <a:lvl1pPr>
              <a:defRPr>
                <a:solidFill>
                  <a:schemeClr val="tx1"/>
                </a:solidFill>
              </a:defRPr>
            </a:lvl1pPr>
          </a:lstStyle>
          <a:p>
            <a:r>
              <a:rPr lang="en-US" noProof="0"/>
              <a:t>Click to edit page title</a:t>
            </a:r>
          </a:p>
        </p:txBody>
      </p:sp>
      <p:sp>
        <p:nvSpPr>
          <p:cNvPr id="7" name="Subtitle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1" y="1008000"/>
            <a:ext cx="9198116"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3442953D-28FC-41B5-A1BB-BB3BA7CA40B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9" name="Subtitle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91980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512000"/>
            <a:ext cx="2916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hasCustomPrompt="1"/>
          </p:nvPr>
        </p:nvSpPr>
        <p:spPr>
          <a:xfrm>
            <a:off x="3572900" y="1511476"/>
            <a:ext cx="2916000" cy="467924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5">
            <a:extLst>
              <a:ext uri="{FF2B5EF4-FFF2-40B4-BE49-F238E27FC236}">
                <a16:creationId xmlns:a16="http://schemas.microsoft.com/office/drawing/2014/main" id="{5B4A252E-78C9-4F76-98A4-A4B580AD072A}"/>
              </a:ext>
            </a:extLst>
          </p:cNvPr>
          <p:cNvSpPr>
            <a:spLocks noGrp="1"/>
          </p:cNvSpPr>
          <p:nvPr>
            <p:ph type="body" sz="quarter" idx="13" hasCustomPrompt="1"/>
          </p:nvPr>
        </p:nvSpPr>
        <p:spPr>
          <a:xfrm>
            <a:off x="6713800" y="1511475"/>
            <a:ext cx="2916000" cy="4679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6D4BCA97-F31B-451D-82F8-6E000DF2118A}"/>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10" name="Subtitle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91980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512000"/>
            <a:ext cx="1764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hasCustomPrompt="1"/>
          </p:nvPr>
        </p:nvSpPr>
        <p:spPr>
          <a:xfrm>
            <a:off x="2290450" y="1512000"/>
            <a:ext cx="1764000" cy="4679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5">
            <a:extLst>
              <a:ext uri="{FF2B5EF4-FFF2-40B4-BE49-F238E27FC236}">
                <a16:creationId xmlns:a16="http://schemas.microsoft.com/office/drawing/2014/main" id="{6A983D98-E0AB-429A-9EC2-B50D4216D691}"/>
              </a:ext>
            </a:extLst>
          </p:cNvPr>
          <p:cNvSpPr>
            <a:spLocks noGrp="1"/>
          </p:cNvSpPr>
          <p:nvPr>
            <p:ph type="body" sz="quarter" idx="13" hasCustomPrompt="1"/>
          </p:nvPr>
        </p:nvSpPr>
        <p:spPr>
          <a:xfrm>
            <a:off x="4148900" y="1512000"/>
            <a:ext cx="1764000" cy="4679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6">
            <a:extLst>
              <a:ext uri="{FF2B5EF4-FFF2-40B4-BE49-F238E27FC236}">
                <a16:creationId xmlns:a16="http://schemas.microsoft.com/office/drawing/2014/main" id="{755213BF-EF6D-45DC-A01B-DE6C2F23A6D2}"/>
              </a:ext>
            </a:extLst>
          </p:cNvPr>
          <p:cNvSpPr>
            <a:spLocks noGrp="1"/>
          </p:cNvSpPr>
          <p:nvPr>
            <p:ph type="body" sz="quarter" idx="14" hasCustomPrompt="1"/>
          </p:nvPr>
        </p:nvSpPr>
        <p:spPr>
          <a:xfrm>
            <a:off x="6007350" y="1507535"/>
            <a:ext cx="1764000" cy="4679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id="{77D6BBBA-F4A3-45D4-91BC-A405FFDC7C3D}"/>
              </a:ext>
            </a:extLst>
          </p:cNvPr>
          <p:cNvSpPr>
            <a:spLocks noGrp="1"/>
          </p:cNvSpPr>
          <p:nvPr>
            <p:ph type="body" sz="quarter" idx="15" hasCustomPrompt="1"/>
          </p:nvPr>
        </p:nvSpPr>
        <p:spPr>
          <a:xfrm>
            <a:off x="7865800" y="1507535"/>
            <a:ext cx="1764000" cy="468371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2D09234E-176D-4BBF-9391-7B6F018C51AB}"/>
              </a:ext>
            </a:extLst>
          </p:cNvPr>
          <p:cNvSpPr>
            <a:spLocks noGrp="1"/>
          </p:cNvSpPr>
          <p:nvPr>
            <p:ph type="ftr" sz="quarter" idx="16"/>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B5A8293F-A5B5-4FCC-BF27-A25B1BAFF245}"/>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solidFill>
              </a:defRPr>
            </a:lvl1pPr>
          </a:lstStyle>
          <a:p>
            <a:r>
              <a:rPr lang="en-US" noProof="0"/>
              <a:t>Click to edit page title</a:t>
            </a:r>
          </a:p>
        </p:txBody>
      </p:sp>
      <p:sp>
        <p:nvSpPr>
          <p:cNvPr id="5" name="Subtitle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1" y="1008000"/>
            <a:ext cx="9198116"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id="{8E801980-CBAE-4A50-886D-54D7BB2E1947}"/>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505855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DF756E-F310-4229-ACDD-055D299A95FB}"/>
              </a:ext>
            </a:extLst>
          </p:cNvPr>
          <p:cNvSpPr/>
          <p:nvPr userDrawn="1"/>
        </p:nvSpPr>
        <p:spPr>
          <a:xfrm>
            <a:off x="6297105" y="424206"/>
            <a:ext cx="5505254" cy="57314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2" name="Slide Number Placeholder 1">
            <a:extLst>
              <a:ext uri="{FF2B5EF4-FFF2-40B4-BE49-F238E27FC236}">
                <a16:creationId xmlns:a16="http://schemas.microsoft.com/office/drawing/2014/main" id="{E25951D2-91DB-40E7-95D5-4B372602DEB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
        <p:nvSpPr>
          <p:cNvPr id="9" name="Subtitle 2">
            <a:extLst>
              <a:ext uri="{FF2B5EF4-FFF2-40B4-BE49-F238E27FC236}">
                <a16:creationId xmlns:a16="http://schemas.microsoft.com/office/drawing/2014/main" id="{07666241-4AF6-458A-A571-6C6C291D72F1}"/>
              </a:ext>
            </a:extLst>
          </p:cNvPr>
          <p:cNvSpPr>
            <a:spLocks noGrp="1"/>
          </p:cNvSpPr>
          <p:nvPr>
            <p:ph type="subTitle" idx="1"/>
          </p:nvPr>
        </p:nvSpPr>
        <p:spPr>
          <a:xfrm>
            <a:off x="6532775" y="3639199"/>
            <a:ext cx="5053936" cy="1192038"/>
          </a:xfrm>
          <a:solidFill>
            <a:schemeClr val="bg1"/>
          </a:solidFill>
        </p:spPr>
        <p:txBody>
          <a:bodyPr lIns="252000" tIns="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6" name="Title 5">
            <a:extLst>
              <a:ext uri="{FF2B5EF4-FFF2-40B4-BE49-F238E27FC236}">
                <a16:creationId xmlns:a16="http://schemas.microsoft.com/office/drawing/2014/main" id="{6F4F2BBF-F210-4954-9C73-A0030AACDDFE}"/>
              </a:ext>
            </a:extLst>
          </p:cNvPr>
          <p:cNvSpPr>
            <a:spLocks noGrp="1"/>
          </p:cNvSpPr>
          <p:nvPr>
            <p:ph type="title" hasCustomPrompt="1"/>
          </p:nvPr>
        </p:nvSpPr>
        <p:spPr>
          <a:xfrm>
            <a:off x="6532775" y="993303"/>
            <a:ext cx="5053936" cy="2513468"/>
          </a:xfrm>
        </p:spPr>
        <p:txBody>
          <a:bodyPr/>
          <a:lstStyle>
            <a:lvl1pPr>
              <a:defRPr sz="5400" cap="none">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12277791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0" name="Content Placeholder 2">
            <a:extLst>
              <a:ext uri="{FF2B5EF4-FFF2-40B4-BE49-F238E27FC236}">
                <a16:creationId xmlns:a16="http://schemas.microsoft.com/office/drawing/2014/main" id="{FD1EE834-4B70-4715-8346-1C0298347EE0}"/>
              </a:ext>
            </a:extLst>
          </p:cNvPr>
          <p:cNvSpPr>
            <a:spLocks noGrp="1"/>
          </p:cNvSpPr>
          <p:nvPr>
            <p:ph idx="1" hasCustomPrompt="1"/>
          </p:nvPr>
        </p:nvSpPr>
        <p:spPr>
          <a:xfrm>
            <a:off x="432000" y="1046375"/>
            <a:ext cx="9198000" cy="513058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80088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7" name="Content Placeholder 2">
            <a:extLst>
              <a:ext uri="{FF2B5EF4-FFF2-40B4-BE49-F238E27FC236}">
                <a16:creationId xmlns:a16="http://schemas.microsoft.com/office/drawing/2014/main" id="{EAE43F4C-1A64-4197-A44B-E6EB874E243B}"/>
              </a:ext>
            </a:extLst>
          </p:cNvPr>
          <p:cNvSpPr>
            <a:spLocks noGrp="1"/>
          </p:cNvSpPr>
          <p:nvPr>
            <p:ph sz="half" idx="1" hasCustomPrompt="1"/>
          </p:nvPr>
        </p:nvSpPr>
        <p:spPr>
          <a:xfrm>
            <a:off x="432000" y="1046376"/>
            <a:ext cx="4435831" cy="513058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a:extLst>
              <a:ext uri="{FF2B5EF4-FFF2-40B4-BE49-F238E27FC236}">
                <a16:creationId xmlns:a16="http://schemas.microsoft.com/office/drawing/2014/main" id="{D7B3F5B8-DC28-4878-AC9F-D434D7542D8F}"/>
              </a:ext>
            </a:extLst>
          </p:cNvPr>
          <p:cNvSpPr>
            <a:spLocks noGrp="1"/>
          </p:cNvSpPr>
          <p:nvPr>
            <p:ph sz="half" idx="2" hasCustomPrompt="1"/>
          </p:nvPr>
        </p:nvSpPr>
        <p:spPr>
          <a:xfrm>
            <a:off x="5194169" y="1046376"/>
            <a:ext cx="4435831" cy="513058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74397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7" name="Text Placeholder 2">
            <a:extLst>
              <a:ext uri="{FF2B5EF4-FFF2-40B4-BE49-F238E27FC236}">
                <a16:creationId xmlns:a16="http://schemas.microsoft.com/office/drawing/2014/main" id="{CB97B01E-88B2-448F-BD96-A1AAFA39AC1E}"/>
              </a:ext>
            </a:extLst>
          </p:cNvPr>
          <p:cNvSpPr>
            <a:spLocks noGrp="1"/>
          </p:cNvSpPr>
          <p:nvPr>
            <p:ph type="body" idx="1" hasCustomPrompt="1"/>
          </p:nvPr>
        </p:nvSpPr>
        <p:spPr>
          <a:xfrm>
            <a:off x="432000" y="1068420"/>
            <a:ext cx="4434840" cy="823912"/>
          </a:xfrm>
          <a:solidFill>
            <a:schemeClr val="tx1"/>
          </a:solidFill>
        </p:spPr>
        <p:txBody>
          <a:bodyPr anchor="ctr"/>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8" name="Text Placeholder 4">
            <a:extLst>
              <a:ext uri="{FF2B5EF4-FFF2-40B4-BE49-F238E27FC236}">
                <a16:creationId xmlns:a16="http://schemas.microsoft.com/office/drawing/2014/main" id="{40BADDE2-4EE6-41B4-804C-EBF680128B40}"/>
              </a:ext>
            </a:extLst>
          </p:cNvPr>
          <p:cNvSpPr>
            <a:spLocks noGrp="1"/>
          </p:cNvSpPr>
          <p:nvPr>
            <p:ph type="body" sz="quarter" idx="3" hasCustomPrompt="1"/>
          </p:nvPr>
        </p:nvSpPr>
        <p:spPr>
          <a:xfrm>
            <a:off x="5195160" y="1068420"/>
            <a:ext cx="4434840" cy="823912"/>
          </a:xfrm>
          <a:solidFill>
            <a:schemeClr val="tx1"/>
          </a:solidFill>
        </p:spPr>
        <p:txBody>
          <a:bodyPr anchor="ctr"/>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9" name="Content Placeholder 3">
            <a:extLst>
              <a:ext uri="{FF2B5EF4-FFF2-40B4-BE49-F238E27FC236}">
                <a16:creationId xmlns:a16="http://schemas.microsoft.com/office/drawing/2014/main" id="{BB0A14E0-899D-4594-BC9E-AE89BF0D3AB7}"/>
              </a:ext>
            </a:extLst>
          </p:cNvPr>
          <p:cNvSpPr>
            <a:spLocks noGrp="1"/>
          </p:cNvSpPr>
          <p:nvPr>
            <p:ph sz="half" idx="2" hasCustomPrompt="1"/>
          </p:nvPr>
        </p:nvSpPr>
        <p:spPr>
          <a:xfrm>
            <a:off x="432001" y="2096752"/>
            <a:ext cx="4434840" cy="409291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Content Placeholder 5">
            <a:extLst>
              <a:ext uri="{FF2B5EF4-FFF2-40B4-BE49-F238E27FC236}">
                <a16:creationId xmlns:a16="http://schemas.microsoft.com/office/drawing/2014/main" id="{2C699014-D902-4E9A-80CD-8D2BCFE67097}"/>
              </a:ext>
            </a:extLst>
          </p:cNvPr>
          <p:cNvSpPr>
            <a:spLocks noGrp="1"/>
          </p:cNvSpPr>
          <p:nvPr>
            <p:ph sz="quarter" idx="4" hasCustomPrompt="1"/>
          </p:nvPr>
        </p:nvSpPr>
        <p:spPr>
          <a:xfrm>
            <a:off x="5195160" y="2096752"/>
            <a:ext cx="4434840" cy="409291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63468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a:xfrm>
            <a:off x="432000" y="6356350"/>
            <a:ext cx="4114800" cy="365125"/>
          </a:xfrm>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Title 1">
            <a:extLst>
              <a:ext uri="{FF2B5EF4-FFF2-40B4-BE49-F238E27FC236}">
                <a16:creationId xmlns:a16="http://schemas.microsoft.com/office/drawing/2014/main" id="{AC67C685-BABE-4B77-8C5E-B39B093D3AEA}"/>
              </a:ext>
            </a:extLst>
          </p:cNvPr>
          <p:cNvSpPr>
            <a:spLocks noGrp="1"/>
          </p:cNvSpPr>
          <p:nvPr>
            <p:ph type="title"/>
          </p:nvPr>
        </p:nvSpPr>
        <p:spPr>
          <a:xfrm>
            <a:off x="432001" y="457200"/>
            <a:ext cx="3159612" cy="1600200"/>
          </a:xfrm>
        </p:spPr>
        <p:txBody>
          <a:bodyPr anchor="b"/>
          <a:lstStyle>
            <a:lvl1pPr>
              <a:defRPr sz="2800"/>
            </a:lvl1pPr>
          </a:lstStyle>
          <a:p>
            <a:r>
              <a:rPr lang="en-US" noProof="0"/>
              <a:t>Click to edit Master title style</a:t>
            </a:r>
          </a:p>
        </p:txBody>
      </p:sp>
      <p:sp>
        <p:nvSpPr>
          <p:cNvPr id="9" name="Text Placeholder 3">
            <a:extLst>
              <a:ext uri="{FF2B5EF4-FFF2-40B4-BE49-F238E27FC236}">
                <a16:creationId xmlns:a16="http://schemas.microsoft.com/office/drawing/2014/main" id="{0B6B7795-36CC-459B-AE8B-7FB2F40AF37C}"/>
              </a:ext>
            </a:extLst>
          </p:cNvPr>
          <p:cNvSpPr>
            <a:spLocks noGrp="1"/>
          </p:cNvSpPr>
          <p:nvPr>
            <p:ph type="body" sz="half" idx="2" hasCustomPrompt="1"/>
          </p:nvPr>
        </p:nvSpPr>
        <p:spPr>
          <a:xfrm>
            <a:off x="432001" y="2057400"/>
            <a:ext cx="3159612" cy="4126584"/>
          </a:xfrm>
        </p:spPr>
        <p:txBody>
          <a:bodyPr/>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0" name="Content Placeholder 2">
            <a:extLst>
              <a:ext uri="{FF2B5EF4-FFF2-40B4-BE49-F238E27FC236}">
                <a16:creationId xmlns:a16="http://schemas.microsoft.com/office/drawing/2014/main" id="{79F53EF1-D412-467C-B7CE-30536F140AE1}"/>
              </a:ext>
            </a:extLst>
          </p:cNvPr>
          <p:cNvSpPr>
            <a:spLocks noGrp="1"/>
          </p:cNvSpPr>
          <p:nvPr>
            <p:ph idx="1" hasCustomPrompt="1"/>
          </p:nvPr>
        </p:nvSpPr>
        <p:spPr>
          <a:xfrm>
            <a:off x="3770722" y="457201"/>
            <a:ext cx="6023727" cy="5726784"/>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720005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a:xfrm>
            <a:off x="432000" y="6356350"/>
            <a:ext cx="4114800" cy="365125"/>
          </a:xfrm>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Title 1">
            <a:extLst>
              <a:ext uri="{FF2B5EF4-FFF2-40B4-BE49-F238E27FC236}">
                <a16:creationId xmlns:a16="http://schemas.microsoft.com/office/drawing/2014/main" id="{AC67C685-BABE-4B77-8C5E-B39B093D3AEA}"/>
              </a:ext>
            </a:extLst>
          </p:cNvPr>
          <p:cNvSpPr>
            <a:spLocks noGrp="1"/>
          </p:cNvSpPr>
          <p:nvPr>
            <p:ph type="title"/>
          </p:nvPr>
        </p:nvSpPr>
        <p:spPr>
          <a:xfrm>
            <a:off x="432001" y="457200"/>
            <a:ext cx="3159612" cy="1600200"/>
          </a:xfrm>
        </p:spPr>
        <p:txBody>
          <a:bodyPr anchor="b"/>
          <a:lstStyle>
            <a:lvl1pPr>
              <a:defRPr sz="2800"/>
            </a:lvl1pPr>
          </a:lstStyle>
          <a:p>
            <a:r>
              <a:rPr lang="en-US" noProof="0"/>
              <a:t>Click to edit Master title style</a:t>
            </a:r>
          </a:p>
        </p:txBody>
      </p:sp>
      <p:sp>
        <p:nvSpPr>
          <p:cNvPr id="9" name="Text Placeholder 3">
            <a:extLst>
              <a:ext uri="{FF2B5EF4-FFF2-40B4-BE49-F238E27FC236}">
                <a16:creationId xmlns:a16="http://schemas.microsoft.com/office/drawing/2014/main" id="{0B6B7795-36CC-459B-AE8B-7FB2F40AF37C}"/>
              </a:ext>
            </a:extLst>
          </p:cNvPr>
          <p:cNvSpPr>
            <a:spLocks noGrp="1"/>
          </p:cNvSpPr>
          <p:nvPr>
            <p:ph type="body" sz="half" idx="2" hasCustomPrompt="1"/>
          </p:nvPr>
        </p:nvSpPr>
        <p:spPr>
          <a:xfrm>
            <a:off x="432001" y="2057400"/>
            <a:ext cx="3159612" cy="4126584"/>
          </a:xfrm>
        </p:spPr>
        <p:txBody>
          <a:bodyPr/>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2" name="Picture Placeholder 2">
            <a:extLst>
              <a:ext uri="{FF2B5EF4-FFF2-40B4-BE49-F238E27FC236}">
                <a16:creationId xmlns:a16="http://schemas.microsoft.com/office/drawing/2014/main" id="{10319378-269C-406E-9B84-FCF22DA02EFF}"/>
              </a:ext>
            </a:extLst>
          </p:cNvPr>
          <p:cNvSpPr>
            <a:spLocks noGrp="1"/>
          </p:cNvSpPr>
          <p:nvPr>
            <p:ph type="pic" idx="1"/>
          </p:nvPr>
        </p:nvSpPr>
        <p:spPr>
          <a:xfrm>
            <a:off x="3788021" y="457201"/>
            <a:ext cx="5949868" cy="57267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3021472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537796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2310D190-B83D-438A-91BC-470C41B22A29}"/>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1397670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70510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logo-pill.png"/>
          <p:cNvPicPr>
            <a:picLocks noChangeAspect="1"/>
          </p:cNvPicPr>
          <p:nvPr/>
        </p:nvPicPr>
        <p:blipFill>
          <a:blip r:embed="rId3"/>
          <a:stretch>
            <a:fillRect/>
          </a:stretch>
        </p:blipFill>
        <p:spPr>
          <a:xfrm>
            <a:off x="548640" y="411480"/>
            <a:ext cx="2606040" cy="676656"/>
          </a:xfrm>
          <a:prstGeom prst="rect">
            <a:avLst/>
          </a:prstGeom>
        </p:spPr>
      </p:pic>
      <p:sp>
        <p:nvSpPr>
          <p:cNvPr id="3" name="Text 0"/>
          <p:cNvSpPr>
            <a:spLocks noGrp="1"/>
          </p:cNvSpPr>
          <p:nvPr>
            <p:ph type="title" idx="101" hasCustomPrompt="1"/>
          </p:nvPr>
        </p:nvSpPr>
        <p:spPr>
          <a:xfrm>
            <a:off x="548640" y="1783080"/>
            <a:ext cx="6126480" cy="201168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Tree>
    <p:extLst>
      <p:ext uri="{BB962C8B-B14F-4D97-AF65-F5344CB8AC3E}">
        <p14:creationId xmlns:p14="http://schemas.microsoft.com/office/powerpoint/2010/main" val="18920509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logo-pill.png"/>
          <p:cNvPicPr>
            <a:picLocks noChangeAspect="1"/>
          </p:cNvPicPr>
          <p:nvPr/>
        </p:nvPicPr>
        <p:blipFill>
          <a:blip r:embed="rId3"/>
          <a:stretch>
            <a:fillRect/>
          </a:stretch>
        </p:blipFill>
        <p:spPr>
          <a:xfrm>
            <a:off x="9034272" y="274320"/>
            <a:ext cx="2606040" cy="676656"/>
          </a:xfrm>
          <a:prstGeom prst="rect">
            <a:avLst/>
          </a:prstGeom>
        </p:spPr>
      </p:pic>
      <p:pic>
        <p:nvPicPr>
          <p:cNvPr id="3" name="Image 1" descr="/home/claude/assets/diamond-duo.png"/>
          <p:cNvPicPr>
            <a:picLocks noChangeAspect="1"/>
          </p:cNvPicPr>
          <p:nvPr/>
        </p:nvPicPr>
        <p:blipFill>
          <a:blip r:embed="rId4"/>
          <a:stretch>
            <a:fillRect/>
          </a:stretch>
        </p:blipFill>
        <p:spPr>
          <a:xfrm>
            <a:off x="530352" y="347472"/>
            <a:ext cx="731520" cy="731520"/>
          </a:xfrm>
          <a:prstGeom prst="rect">
            <a:avLst/>
          </a:prstGeom>
        </p:spPr>
      </p:pic>
      <p:sp>
        <p:nvSpPr>
          <p:cNvPr id="4" name="Text 0"/>
          <p:cNvSpPr/>
          <p:nvPr/>
        </p:nvSpPr>
        <p:spPr>
          <a:xfrm>
            <a:off x="548640" y="6419088"/>
            <a:ext cx="5486400" cy="274320"/>
          </a:xfrm>
          <a:prstGeom prst="rect">
            <a:avLst/>
          </a:prstGeom>
          <a:noFill/>
          <a:ln/>
        </p:spPr>
        <p:txBody>
          <a:bodyPr wrap="square" rtlCol="0" anchor="ctr"/>
          <a:lstStyle/>
          <a:p>
            <a:pPr marL="0" indent="0">
              <a:buNone/>
            </a:pPr>
            <a:r>
              <a:rPr lang="en-US" sz="1000" dirty="0">
                <a:solidFill>
                  <a:schemeClr val="bg1">
                    <a:alpha val="65000"/>
                  </a:schemeClr>
                </a:solidFill>
              </a:rPr>
              <a:t>TMA3084 · Software Engineering Laboratory</a:t>
            </a:r>
            <a:endParaRPr lang="en-US" sz="1000" dirty="0"/>
          </a:p>
        </p:txBody>
      </p:sp>
      <p:sp>
        <p:nvSpPr>
          <p:cNvPr id="5" name="Text 1"/>
          <p:cNvSpPr>
            <a:spLocks noGrp="1"/>
          </p:cNvSpPr>
          <p:nvPr>
            <p:ph type="title" idx="103" hasCustomPrompt="1"/>
          </p:nvPr>
        </p:nvSpPr>
        <p:spPr>
          <a:xfrm>
            <a:off x="1371600" y="365760"/>
            <a:ext cx="7498080" cy="68580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064240" y="6400800"/>
            <a:ext cx="576072"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C9CCE0"/>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6705466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bg2"/>
          </a:solidFill>
          <a:ln/>
        </p:spPr>
      </p:sp>
      <p:pic>
        <p:nvPicPr>
          <p:cNvPr id="3" name="Image 0" descr="/home/claude/assets/diamond-duo.png"/>
          <p:cNvPicPr>
            <a:picLocks noChangeAspect="1"/>
          </p:cNvPicPr>
          <p:nvPr/>
        </p:nvPicPr>
        <p:blipFill>
          <a:blip r:embed="rId2"/>
          <a:stretch>
            <a:fillRect/>
          </a:stretch>
        </p:blipFill>
        <p:spPr>
          <a:xfrm>
            <a:off x="530352" y="347472"/>
            <a:ext cx="731520" cy="731520"/>
          </a:xfrm>
          <a:prstGeom prst="rect">
            <a:avLst/>
          </a:prstGeom>
        </p:spPr>
      </p:pic>
      <p:pic>
        <p:nvPicPr>
          <p:cNvPr id="4" name="Image 1" descr="/home/claude/media/s1_16.png"/>
          <p:cNvPicPr>
            <a:picLocks noChangeAspect="1"/>
          </p:cNvPicPr>
          <p:nvPr/>
        </p:nvPicPr>
        <p:blipFill>
          <a:blip r:embed="rId3"/>
          <a:stretch>
            <a:fillRect/>
          </a:stretch>
        </p:blipFill>
        <p:spPr>
          <a:xfrm>
            <a:off x="9281160" y="301752"/>
            <a:ext cx="2377440" cy="521208"/>
          </a:xfrm>
          <a:prstGeom prst="rect">
            <a:avLst/>
          </a:prstGeom>
        </p:spPr>
      </p:pic>
      <p:sp>
        <p:nvSpPr>
          <p:cNvPr id="5" name="Text 1"/>
          <p:cNvSpPr/>
          <p:nvPr/>
        </p:nvSpPr>
        <p:spPr>
          <a:xfrm>
            <a:off x="548640" y="6419088"/>
            <a:ext cx="5486400" cy="274320"/>
          </a:xfrm>
          <a:prstGeom prst="rect">
            <a:avLst/>
          </a:prstGeom>
          <a:noFill/>
          <a:ln/>
        </p:spPr>
        <p:txBody>
          <a:bodyPr wrap="square" rtlCol="0" anchor="ctr"/>
          <a:lstStyle/>
          <a:p>
            <a:pPr marL="0" indent="0">
              <a:buNone/>
            </a:pPr>
            <a:r>
              <a:rPr lang="en-US" sz="1000" dirty="0">
                <a:solidFill>
                  <a:schemeClr val="tx2"/>
                </a:solidFill>
              </a:rPr>
              <a:t>TMA3084 · Software Engineering Laboratory</a:t>
            </a:r>
            <a:endParaRPr lang="en-US" sz="1000" dirty="0"/>
          </a:p>
        </p:txBody>
      </p:sp>
      <p:sp>
        <p:nvSpPr>
          <p:cNvPr id="6" name="Text 2"/>
          <p:cNvSpPr>
            <a:spLocks noGrp="1"/>
          </p:cNvSpPr>
          <p:nvPr>
            <p:ph type="title" idx="104" hasCustomPrompt="1"/>
          </p:nvPr>
        </p:nvSpPr>
        <p:spPr>
          <a:xfrm>
            <a:off x="1371600" y="365760"/>
            <a:ext cx="7680960"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064240" y="6400800"/>
            <a:ext cx="576072"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5A6078"/>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2755545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logo-pill.png"/>
          <p:cNvPicPr>
            <a:picLocks noChangeAspect="1"/>
          </p:cNvPicPr>
          <p:nvPr/>
        </p:nvPicPr>
        <p:blipFill>
          <a:blip r:embed="rId3"/>
          <a:stretch>
            <a:fillRect/>
          </a:stretch>
        </p:blipFill>
        <p:spPr>
          <a:xfrm>
            <a:off x="9034272" y="274320"/>
            <a:ext cx="2606040" cy="676656"/>
          </a:xfrm>
          <a:prstGeom prst="rect">
            <a:avLst/>
          </a:prstGeom>
        </p:spPr>
      </p:pic>
      <p:sp>
        <p:nvSpPr>
          <p:cNvPr id="3" name="Text 0"/>
          <p:cNvSpPr>
            <a:spLocks noGrp="1"/>
          </p:cNvSpPr>
          <p:nvPr>
            <p:ph type="title" idx="101" hasCustomPrompt="1"/>
          </p:nvPr>
        </p:nvSpPr>
        <p:spPr>
          <a:xfrm>
            <a:off x="3630168" y="2834640"/>
            <a:ext cx="4937760" cy="822960"/>
          </a:xfrm>
          <a:prstGeom prst="rect">
            <a:avLst/>
          </a:prstGeom>
          <a:noFill/>
          <a:ln/>
        </p:spPr>
        <p:txBody>
          <a:bodyPr wrap="square" rtlCol="0"/>
          <a:lstStyle>
            <a:lvl1pPr marL="0" indent="0" algn="ctr">
              <a:buNone/>
              <a:defRPr lang="en-US" sz="3200" b="1" dirty="0">
                <a:solidFill>
                  <a:schemeClr val="bg1"/>
                </a:solidFill>
              </a:defRPr>
            </a:lvl1pPr>
          </a:lstStyle>
          <a:p>
            <a:pPr marL="0" indent="0" algn="ctr">
              <a:buNone/>
            </a:pPr>
            <a:endParaRPr lang="en-US" sz="3200" dirty="0"/>
          </a:p>
        </p:txBody>
      </p:sp>
    </p:spTree>
    <p:extLst>
      <p:ext uri="{BB962C8B-B14F-4D97-AF65-F5344CB8AC3E}">
        <p14:creationId xmlns:p14="http://schemas.microsoft.com/office/powerpoint/2010/main" val="3247809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2.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5F9"/>
        </a:solidFill>
        <a:effectLst/>
      </p:bgPr>
    </p:bg>
    <p:spTree>
      <p:nvGrpSpPr>
        <p:cNvPr id="1" name=""/>
        <p:cNvGrpSpPr/>
        <p:nvPr/>
      </p:nvGrpSpPr>
      <p:grpSpPr>
        <a:xfrm>
          <a:off x="0" y="0"/>
          <a:ext cx="0" cy="0"/>
          <a:chOff x="0" y="0"/>
          <a:chExt cx="0" cy="0"/>
        </a:xfrm>
      </p:grpSpPr>
      <p:sp>
        <p:nvSpPr>
          <p:cNvPr id="901" name="Motif Diamond"/>
          <p:cNvSpPr/>
          <p:nvPr userDrawn="1"/>
        </p:nvSpPr>
        <p:spPr>
          <a:xfrm rot="2700000">
            <a:off x="-640000" y="5900000"/>
            <a:ext cx="1000000" cy="1000000"/>
          </a:xfrm>
          <a:prstGeom prst="roundRect">
            <a:avLst>
              <a:gd name="adj" fmla="val 22000"/>
            </a:avLst>
          </a:prstGeom>
          <a:solidFill>
            <a:srgbClr val="1E9E78"/>
          </a:solidFill>
          <a:ln>
            <a:noFill/>
          </a:ln>
        </p:spPr>
        <p:txBody>
          <a:bodyPr rtlCol="0" anchor="ctr"/>
          <a:lstStyle/>
          <a:p>
            <a:endParaRPr lang="en-US"/>
          </a:p>
        </p:txBody>
      </p:sp>
      <p:sp>
        <p:nvSpPr>
          <p:cNvPr id="902" name="Motif Diamond Outline"/>
          <p:cNvSpPr/>
          <p:nvPr userDrawn="1"/>
        </p:nvSpPr>
        <p:spPr>
          <a:xfrm rot="2700000">
            <a:off x="-420000" y="5760000"/>
            <a:ext cx="1000000" cy="1000000"/>
          </a:xfrm>
          <a:prstGeom prst="roundRect">
            <a:avLst>
              <a:gd name="adj" fmla="val 22000"/>
            </a:avLst>
          </a:prstGeom>
          <a:noFill/>
          <a:ln w="19050">
            <a:solidFill>
              <a:srgbClr val="5FD3A8"/>
            </a:solidFill>
          </a:ln>
        </p:spPr>
        <p:txBody>
          <a:bodyPr rtlCol="0" anchor="ctr"/>
          <a:lstStyle/>
          <a:p>
            <a:endParaRPr lang="en-US"/>
          </a:p>
        </p:txBody>
      </p:sp>
      <p:sp>
        <p:nvSpPr>
          <p:cNvPr id="7" name="Rectangle 6">
            <a:extLst>
              <a:ext uri="{FF2B5EF4-FFF2-40B4-BE49-F238E27FC236}">
                <a16:creationId xmlns:a16="http://schemas.microsoft.com/office/drawing/2014/main" id="{62F208ED-79A0-4B2C-A5EE-9D27466BCA3F}"/>
              </a:ext>
            </a:extLst>
          </p:cNvPr>
          <p:cNvSpPr/>
          <p:nvPr userDrawn="1"/>
        </p:nvSpPr>
        <p:spPr>
          <a:xfrm>
            <a:off x="11257775" y="6319777"/>
            <a:ext cx="784225"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9198116" cy="432000"/>
          </a:xfrm>
          <a:prstGeom prst="rect">
            <a:avLst/>
          </a:prstGeom>
        </p:spPr>
        <p:txBody>
          <a:bodyPr vert="horz" lIns="0" tIns="0" rIns="0" bIns="0" rtlCol="0" anchor="ctr">
            <a:noAutofit/>
          </a:bodyPr>
          <a:lstStyle/>
          <a:p>
            <a:r>
              <a:rPr lang="en-US" noProof="0"/>
              <a:t>Click to edit page title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9198116" cy="4679250"/>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56350"/>
            <a:ext cx="4114800" cy="365125"/>
          </a:xfrm>
          <a:prstGeom prst="rect">
            <a:avLst/>
          </a:prstGeom>
        </p:spPr>
        <p:txBody>
          <a:bodyPr vert="horz" lIns="0" tIns="0" rIns="0" bIns="0" rtlCol="0" anchor="ctr"/>
          <a:lstStyle>
            <a:lvl1pPr algn="l">
              <a:defRPr sz="1200" i="1">
                <a:solidFill>
                  <a:schemeClr val="tx1">
                    <a:lumMod val="75000"/>
                    <a:lumOff val="25000"/>
                  </a:schemeClr>
                </a:solidFill>
                <a:latin typeface="Times New Roman" panose="02020603050405020304" pitchFamily="18" charset="0"/>
                <a:cs typeface="Times New Roman" panose="02020603050405020304" pitchFamily="18" charset="0"/>
              </a:defRPr>
            </a:lvl1pPr>
          </a:lstStyle>
          <a:p>
            <a:r>
              <a:rPr lang="en-US" noProof="0" dirty="0"/>
              <a:t>Add a footer</a:t>
            </a:r>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497502" y="6408000"/>
            <a:ext cx="278418" cy="274324"/>
          </a:xfrm>
          <a:prstGeom prst="rect">
            <a:avLst/>
          </a:prstGeom>
        </p:spPr>
        <p:txBody>
          <a:bodyPr vert="horz" lIns="0" tIns="0" rIns="0" bIns="0" rtlCol="0" anchor="ctr"/>
          <a:lstStyle>
            <a:lvl1pPr algn="ctr">
              <a:defRPr sz="1200" i="1">
                <a:solidFill>
                  <a:schemeClr val="bg1"/>
                </a:solidFill>
              </a:defRPr>
            </a:lvl1p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8" r:id="rId4"/>
    <p:sldLayoutId id="2147483665" r:id="rId5"/>
    <p:sldLayoutId id="2147483659" r:id="rId6"/>
    <p:sldLayoutId id="2147483660" r:id="rId7"/>
    <p:sldLayoutId id="2147483664" r:id="rId8"/>
    <p:sldLayoutId id="2147483650" r:id="rId9"/>
    <p:sldLayoutId id="2147483656" r:id="rId10"/>
    <p:sldLayoutId id="2147483657" r:id="rId11"/>
    <p:sldLayoutId id="2147483654" r:id="rId12"/>
    <p:sldLayoutId id="2147483666" r:id="rId13"/>
    <p:sldLayoutId id="2147483667" r:id="rId14"/>
    <p:sldLayoutId id="2147483668" r:id="rId15"/>
    <p:sldLayoutId id="2147483669" r:id="rId16"/>
    <p:sldLayoutId id="2147483670" r:id="rId17"/>
    <p:sldLayoutId id="2147483671" r:id="rId18"/>
    <p:sldLayoutId id="2147483672" r:id="rId19"/>
    <p:sldLayoutId id="2147483655" r:id="rId20"/>
  </p:sldLayoutIdLst>
  <p:hf hdr="0" ftr="0" dt="0"/>
  <p:txStyles>
    <p:title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76072" cy="292608"/>
          </a:xfrm>
          <a:prstGeom prst="rect">
            <a:avLst/>
          </a:prstGeom>
          <a:extLst>
            <a:ext uri="{C572A759-6A51-4108-AA02-DFA0A04FC94B}">
              <ma14:wrappingTextBoxFlag xmlns:ma14="http://schemas.microsoft.com/office/mac/drawingml/2011/main" xmlns="" val="0"/>
            </a:ext>
          </a:extLst>
        </p:spPr>
        <p:txBody>
          <a:bodyPr/>
          <a:lstStyle>
            <a:lvl1pPr>
              <a:defRPr sz="1100">
                <a:solidFill>
                  <a:srgbClr val="C9CCE0"/>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98153836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9.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9.xml"/><Relationship Id="rId4" Type="http://schemas.openxmlformats.org/officeDocument/2006/relationships/image" Target="../media/image20.jp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9.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9.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9.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9.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9.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9.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9.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9.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9.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9.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9.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9.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9.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9.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19.xml"/><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19.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19.xml"/><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19.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19.xml"/><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19.xml"/><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19.xml"/><Relationship Id="rId5" Type="http://schemas.openxmlformats.org/officeDocument/2006/relationships/image" Target="../media/image42.png"/><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1783080"/>
            <a:ext cx="6126480" cy="2011680"/>
          </a:xfrm>
          <a:prstGeom prst="rect">
            <a:avLst/>
          </a:prstGeom>
          <a:noFill/>
          <a:ln/>
        </p:spPr>
        <p:txBody>
          <a:bodyPr wrap="square" lIns="0" tIns="0" rIns="0" bIns="0" rtlCol="0" anchor="t"/>
          <a:lstStyle/>
          <a:p>
            <a:pPr marL="0" indent="0" algn="l">
              <a:buNone/>
            </a:pPr>
            <a:r>
              <a:rPr lang="en-US" sz="4400" b="1" dirty="0">
                <a:solidFill>
                  <a:schemeClr val="accent1"/>
                </a:solidFill>
              </a:rPr>
              <a:t>DART</a:t>
            </a:r>
            <a:r>
              <a:rPr lang="en-US" sz="4400" b="1" dirty="0">
                <a:solidFill>
                  <a:schemeClr val="bg1"/>
                </a:solidFill>
              </a:rPr>
              <a:t> PROGRAMMING SYNTAX</a:t>
            </a:r>
            <a:endParaRPr lang="en-US" sz="4400" dirty="0"/>
          </a:p>
        </p:txBody>
      </p:sp>
      <p:sp>
        <p:nvSpPr>
          <p:cNvPr id="4" name="Course"/>
          <p:cNvSpPr txBox="1"/>
          <p:nvPr/>
        </p:nvSpPr>
        <p:spPr>
          <a:xfrm>
            <a:off x="548640" y="3977640"/>
            <a:ext cx="603504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CCB8C"/>
                </a:solidFill>
                <a:effectLst/>
                <a:uLnTx/>
                <a:uFillTx/>
                <a:latin typeface="Calibri"/>
                <a:ea typeface="+mn-ea"/>
                <a:cs typeface="+mn-cs"/>
              </a:rPr>
              <a:t>TMA3084 - Software Engineering Laboratory</a:t>
            </a:r>
            <a:endParaRPr kumimoji="0" lang="en-US" sz="1800" b="0" i="0" u="none" strike="noStrike" kern="1200" cap="none" spc="0" normalizeH="0" baseline="0" noProof="0" dirty="0">
              <a:ln>
                <a:noFill/>
              </a:ln>
              <a:solidFill>
                <a:srgbClr val="1F2236"/>
              </a:solidFill>
              <a:effectLst/>
              <a:uLnTx/>
              <a:uFillTx/>
              <a:latin typeface="Calibri"/>
              <a:ea typeface="+mn-ea"/>
              <a:cs typeface="+mn-cs"/>
            </a:endParaRPr>
          </a:p>
        </p:txBody>
      </p:sp>
      <p:sp>
        <p:nvSpPr>
          <p:cNvPr id="5" name="Bullet"/>
          <p:cNvSpPr/>
          <p:nvPr/>
        </p:nvSpPr>
        <p:spPr>
          <a:xfrm rot="2700000">
            <a:off x="616245" y="5041941"/>
            <a:ext cx="193974" cy="193974"/>
          </a:xfrm>
          <a:prstGeom prst="roundRect">
            <a:avLst>
              <a:gd name="adj" fmla="val 16000"/>
            </a:avLst>
          </a:prstGeom>
          <a:solidFill>
            <a:schemeClr val="accent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srgbClr val="1F2236"/>
              </a:solidFill>
              <a:effectLst/>
              <a:uLnTx/>
              <a:uFillTx/>
              <a:latin typeface="Calibri"/>
              <a:ea typeface="+mn-ea"/>
              <a:cs typeface="+mn-cs"/>
            </a:endParaRPr>
          </a:p>
        </p:txBody>
      </p:sp>
      <p:sp>
        <p:nvSpPr>
          <p:cNvPr id="6" name="Lab demo"/>
          <p:cNvSpPr txBox="1"/>
          <p:nvPr/>
        </p:nvSpPr>
        <p:spPr>
          <a:xfrm>
            <a:off x="1005840" y="4956048"/>
            <a:ext cx="5486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5CCB8C"/>
                </a:solidFill>
                <a:effectLst/>
                <a:uLnTx/>
                <a:uFillTx/>
                <a:latin typeface="Calibri"/>
                <a:ea typeface="+mn-ea"/>
                <a:cs typeface="+mn-cs"/>
              </a:rPr>
              <a:t>Lab Demo: </a:t>
            </a:r>
            <a:r>
              <a:rPr kumimoji="0" lang="en-US" sz="1700" b="1" i="0" u="none" strike="noStrike" kern="1200" cap="none" spc="0" normalizeH="0" baseline="0" noProof="0" dirty="0">
                <a:ln>
                  <a:noFill/>
                </a:ln>
                <a:solidFill>
                  <a:srgbClr val="FFFFFF"/>
                </a:solidFill>
                <a:effectLst/>
                <a:uLnTx/>
                <a:uFillTx/>
                <a:latin typeface="Calibri"/>
                <a:ea typeface="+mn-ea"/>
                <a:cs typeface="+mn-cs"/>
              </a:rPr>
              <a:t>Mr. Raynold Anak </a:t>
            </a:r>
            <a:r>
              <a:rPr kumimoji="0" lang="en-US" sz="1700" b="1" i="0" u="none" strike="noStrike" kern="1200" cap="none" spc="0" normalizeH="0" baseline="0" noProof="0" dirty="0" err="1">
                <a:ln>
                  <a:noFill/>
                </a:ln>
                <a:solidFill>
                  <a:srgbClr val="FFFFFF"/>
                </a:solidFill>
                <a:effectLst/>
                <a:uLnTx/>
                <a:uFillTx/>
                <a:latin typeface="Calibri"/>
                <a:ea typeface="+mn-ea"/>
                <a:cs typeface="+mn-cs"/>
              </a:rPr>
              <a:t>Kabai</a:t>
            </a:r>
            <a:endParaRPr kumimoji="0" lang="en-US" sz="1700" b="0" i="0" u="none" strike="noStrike" kern="1200" cap="none" spc="0" normalizeH="0" baseline="0" noProof="0" dirty="0">
              <a:ln>
                <a:noFill/>
              </a:ln>
              <a:solidFill>
                <a:srgbClr val="1F2236"/>
              </a:solidFill>
              <a:effectLst/>
              <a:uLnTx/>
              <a:uFillTx/>
              <a:latin typeface="Calibri"/>
              <a:ea typeface="+mn-ea"/>
              <a:cs typeface="+mn-cs"/>
            </a:endParaRPr>
          </a:p>
        </p:txBody>
      </p:sp>
      <p:sp>
        <p:nvSpPr>
          <p:cNvPr id="7" name="Bullet"/>
          <p:cNvSpPr/>
          <p:nvPr/>
        </p:nvSpPr>
        <p:spPr>
          <a:xfrm rot="2700000">
            <a:off x="616245" y="5544861"/>
            <a:ext cx="193974" cy="193974"/>
          </a:xfrm>
          <a:prstGeom prst="roundRect">
            <a:avLst>
              <a:gd name="adj" fmla="val 16000"/>
            </a:avLst>
          </a:prstGeom>
          <a:solidFill>
            <a:schemeClr val="accent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srgbClr val="1F2236"/>
              </a:solidFill>
              <a:effectLst/>
              <a:uLnTx/>
              <a:uFillTx/>
              <a:latin typeface="Calibri"/>
              <a:ea typeface="+mn-ea"/>
              <a:cs typeface="+mn-cs"/>
            </a:endParaRPr>
          </a:p>
        </p:txBody>
      </p:sp>
      <p:sp>
        <p:nvSpPr>
          <p:cNvPr id="8" name="Lecturer"/>
          <p:cNvSpPr txBox="1"/>
          <p:nvPr/>
        </p:nvSpPr>
        <p:spPr>
          <a:xfrm>
            <a:off x="1005840" y="5458968"/>
            <a:ext cx="5486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5CCB8C"/>
                </a:solidFill>
                <a:effectLst/>
                <a:uLnTx/>
                <a:uFillTx/>
                <a:latin typeface="Calibri"/>
                <a:ea typeface="+mn-ea"/>
                <a:cs typeface="+mn-cs"/>
              </a:rPr>
              <a:t>Lecturer: </a:t>
            </a:r>
            <a:r>
              <a:rPr kumimoji="0" lang="en-US" sz="1700" b="0" i="0" u="none" strike="noStrike" kern="1200" cap="none" spc="0" normalizeH="0" baseline="0" noProof="0" dirty="0">
                <a:ln>
                  <a:noFill/>
                </a:ln>
                <a:solidFill>
                  <a:srgbClr val="FFFFFF"/>
                </a:solidFill>
                <a:effectLst/>
                <a:uLnTx/>
                <a:uFillTx/>
                <a:latin typeface="Calibri"/>
                <a:ea typeface="+mn-ea"/>
                <a:cs typeface="+mn-cs"/>
              </a:rPr>
              <a:t>Madam Nurfauza Binti Jali</a:t>
            </a:r>
            <a:endParaRPr kumimoji="0" lang="en-US" sz="1700" b="0" i="0" u="none" strike="noStrike" kern="1200" cap="none" spc="0" normalizeH="0" baseline="0" noProof="0" dirty="0">
              <a:ln>
                <a:noFill/>
              </a:ln>
              <a:solidFill>
                <a:srgbClr val="1F2236"/>
              </a:solidFill>
              <a:effectLst/>
              <a:uLnTx/>
              <a:uFillTx/>
              <a:latin typeface="Calibri"/>
              <a:ea typeface="+mn-ea"/>
              <a:cs typeface="+mn-cs"/>
            </a:endParaRPr>
          </a:p>
        </p:txBody>
      </p:sp>
      <p:sp>
        <p:nvSpPr>
          <p:cNvPr id="9" name="Diamond label"/>
          <p:cNvSpPr txBox="1"/>
          <p:nvPr/>
        </p:nvSpPr>
        <p:spPr>
          <a:xfrm>
            <a:off x="7955280" y="2606040"/>
            <a:ext cx="2743200" cy="3657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600" normalizeH="0" baseline="0" noProof="0" dirty="0">
                <a:ln>
                  <a:noFill/>
                </a:ln>
                <a:solidFill>
                  <a:srgbClr val="FFFFFF"/>
                </a:solidFill>
                <a:effectLst/>
                <a:uLnTx/>
                <a:uFillTx/>
                <a:latin typeface="Calibri"/>
                <a:ea typeface="+mn-ea"/>
                <a:cs typeface="+mn-cs"/>
              </a:rPr>
              <a:t>LESSON</a:t>
            </a:r>
            <a:endParaRPr kumimoji="0" lang="en-US" sz="1600" b="0" i="0" u="none" strike="noStrike" kern="1200" cap="none" spc="0" normalizeH="0" baseline="0" noProof="0" dirty="0">
              <a:ln>
                <a:noFill/>
              </a:ln>
              <a:solidFill>
                <a:srgbClr val="1F2236"/>
              </a:solidFill>
              <a:effectLst/>
              <a:uLnTx/>
              <a:uFillTx/>
              <a:latin typeface="Calibri"/>
              <a:ea typeface="+mn-ea"/>
              <a:cs typeface="+mn-cs"/>
            </a:endParaRPr>
          </a:p>
        </p:txBody>
      </p:sp>
      <p:sp>
        <p:nvSpPr>
          <p:cNvPr id="10" name="Diamond number"/>
          <p:cNvSpPr txBox="1"/>
          <p:nvPr/>
        </p:nvSpPr>
        <p:spPr>
          <a:xfrm>
            <a:off x="7955280" y="2926080"/>
            <a:ext cx="2743200" cy="11887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FFFFFF"/>
                </a:solidFill>
                <a:effectLst/>
                <a:uLnTx/>
                <a:uFillTx/>
                <a:latin typeface="Calibri"/>
                <a:ea typeface="+mn-ea"/>
                <a:cs typeface="+mn-cs"/>
              </a:rPr>
              <a:t>0</a:t>
            </a:r>
            <a:r>
              <a:rPr lang="en-US" sz="8000" b="1" dirty="0">
                <a:solidFill>
                  <a:srgbClr val="FFFFFF"/>
                </a:solidFill>
                <a:latin typeface="Calibri"/>
              </a:rPr>
              <a:t>2</a:t>
            </a:r>
            <a:endParaRPr kumimoji="0" lang="en-US" sz="8000" b="0" i="0" u="none" strike="noStrike" kern="1200" cap="none" spc="0" normalizeH="0" baseline="0" noProof="0" dirty="0">
              <a:ln>
                <a:noFill/>
              </a:ln>
              <a:solidFill>
                <a:srgbClr val="1F2236"/>
              </a:solidFill>
              <a:effectLst/>
              <a:uLnTx/>
              <a:uFillTx/>
              <a:latin typeface="Calibri"/>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a:xfrm>
            <a:off x="11447502" y="6401750"/>
            <a:ext cx="278418" cy="274324"/>
          </a:xfrm>
        </p:spPr>
        <p:txBody>
          <a:bodyPr/>
          <a:lstStyle/>
          <a:p>
            <a:fld id="{19B51A1E-902D-48AF-9020-955120F399B6}" type="slidenum">
              <a:rPr lang="en-US" sz="2000" b="1" i="0" smtClean="0"/>
              <a:pPr/>
              <a:t>2</a:t>
            </a:fld>
            <a:endParaRPr lang="en-US" sz="2000" b="1" i="0" dirty="0"/>
          </a:p>
        </p:txBody>
      </p:sp>
      <p:sp>
        <p:nvSpPr>
          <p:cNvPr id="40" name="Rounded Rectangle 39"/>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41" name="Google Shape;178;p28"/>
          <p:cNvSpPr txBox="1">
            <a:spLocks/>
          </p:cNvSpPr>
          <p:nvPr/>
        </p:nvSpPr>
        <p:spPr>
          <a:xfrm>
            <a:off x="720000" y="445025"/>
            <a:ext cx="7704000" cy="572700"/>
          </a:xfrm>
          <a:prstGeom prst="rect">
            <a:avLst/>
          </a:prstGeom>
        </p:spPr>
        <p:txBody>
          <a:bodyPr spcFirstLastPara="1" vert="horz" wrap="square" lIns="91425" tIns="91425" rIns="91425" bIns="91425" rtlCol="0"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US"/>
              <a:t>Table of contents</a:t>
            </a:r>
            <a:endParaRPr lang="en-US" dirty="0"/>
          </a:p>
        </p:txBody>
      </p:sp>
      <p:sp>
        <p:nvSpPr>
          <p:cNvPr id="42" name="Google Shape;179;p28"/>
          <p:cNvSpPr txBox="1">
            <a:spLocks/>
          </p:cNvSpPr>
          <p:nvPr/>
        </p:nvSpPr>
        <p:spPr>
          <a:xfrm>
            <a:off x="1687094" y="1595377"/>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a:t>01</a:t>
            </a:r>
          </a:p>
        </p:txBody>
      </p:sp>
      <p:sp>
        <p:nvSpPr>
          <p:cNvPr id="48" name="Google Shape;185;p28"/>
          <p:cNvSpPr txBox="1">
            <a:spLocks/>
          </p:cNvSpPr>
          <p:nvPr/>
        </p:nvSpPr>
        <p:spPr>
          <a:xfrm>
            <a:off x="2422689" y="1597458"/>
            <a:ext cx="3525625"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2000" dirty="0"/>
              <a:t>Introduction</a:t>
            </a:r>
          </a:p>
        </p:txBody>
      </p:sp>
      <p:pic>
        <p:nvPicPr>
          <p:cNvPr id="55"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64" name="Google Shape;179;p28"/>
          <p:cNvSpPr txBox="1">
            <a:spLocks/>
          </p:cNvSpPr>
          <p:nvPr/>
        </p:nvSpPr>
        <p:spPr>
          <a:xfrm>
            <a:off x="1688662" y="2106003"/>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a:t>02</a:t>
            </a:r>
          </a:p>
        </p:txBody>
      </p:sp>
      <p:sp>
        <p:nvSpPr>
          <p:cNvPr id="65" name="Google Shape;185;p28"/>
          <p:cNvSpPr txBox="1">
            <a:spLocks/>
          </p:cNvSpPr>
          <p:nvPr/>
        </p:nvSpPr>
        <p:spPr>
          <a:xfrm>
            <a:off x="2424257" y="2108084"/>
            <a:ext cx="3525625"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0"/>
              </a:spcBef>
              <a:buNone/>
            </a:pPr>
            <a:r>
              <a:rPr lang="en-US" sz="2000" dirty="0"/>
              <a:t>main () function</a:t>
            </a:r>
          </a:p>
          <a:p>
            <a:pPr marL="0" indent="0">
              <a:spcBef>
                <a:spcPts val="0"/>
              </a:spcBef>
              <a:buFont typeface="Arial" panose="020B0604020202020204" pitchFamily="34" charset="0"/>
              <a:buNone/>
            </a:pPr>
            <a:endParaRPr lang="en-US" sz="2000" dirty="0"/>
          </a:p>
        </p:txBody>
      </p:sp>
      <p:sp>
        <p:nvSpPr>
          <p:cNvPr id="80" name="Google Shape;179;p28"/>
          <p:cNvSpPr txBox="1">
            <a:spLocks/>
          </p:cNvSpPr>
          <p:nvPr/>
        </p:nvSpPr>
        <p:spPr>
          <a:xfrm>
            <a:off x="1698090" y="2615052"/>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a:t>03</a:t>
            </a:r>
          </a:p>
        </p:txBody>
      </p:sp>
      <p:sp>
        <p:nvSpPr>
          <p:cNvPr id="81" name="Google Shape;185;p28"/>
          <p:cNvSpPr txBox="1">
            <a:spLocks/>
          </p:cNvSpPr>
          <p:nvPr/>
        </p:nvSpPr>
        <p:spPr>
          <a:xfrm>
            <a:off x="2433685" y="2617133"/>
            <a:ext cx="3525625"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0"/>
              </a:spcBef>
              <a:buNone/>
            </a:pPr>
            <a:r>
              <a:rPr lang="en-US" sz="2000" dirty="0"/>
              <a:t>Dart Variables and Data Types</a:t>
            </a:r>
          </a:p>
          <a:p>
            <a:pPr marL="0" indent="0">
              <a:spcBef>
                <a:spcPts val="0"/>
              </a:spcBef>
              <a:buFont typeface="Arial" panose="020B0604020202020204" pitchFamily="34" charset="0"/>
              <a:buNone/>
            </a:pPr>
            <a:endParaRPr lang="en-US" sz="2000" dirty="0"/>
          </a:p>
        </p:txBody>
      </p:sp>
      <p:sp>
        <p:nvSpPr>
          <p:cNvPr id="82" name="Google Shape;179;p28"/>
          <p:cNvSpPr txBox="1">
            <a:spLocks/>
          </p:cNvSpPr>
          <p:nvPr/>
        </p:nvSpPr>
        <p:spPr>
          <a:xfrm>
            <a:off x="1699658" y="3125678"/>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a:t>04</a:t>
            </a:r>
          </a:p>
        </p:txBody>
      </p:sp>
      <p:sp>
        <p:nvSpPr>
          <p:cNvPr id="83" name="Google Shape;185;p28"/>
          <p:cNvSpPr txBox="1">
            <a:spLocks/>
          </p:cNvSpPr>
          <p:nvPr/>
        </p:nvSpPr>
        <p:spPr>
          <a:xfrm>
            <a:off x="2435253" y="3127759"/>
            <a:ext cx="4719693"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0"/>
              </a:spcBef>
              <a:buNone/>
            </a:pPr>
            <a:r>
              <a:rPr lang="en-US" sz="2000" dirty="0"/>
              <a:t>Input of Information to Dart Program</a:t>
            </a:r>
          </a:p>
          <a:p>
            <a:pPr marL="0" indent="0">
              <a:spcBef>
                <a:spcPts val="0"/>
              </a:spcBef>
              <a:buFont typeface="Arial" panose="020B0604020202020204" pitchFamily="34" charset="0"/>
              <a:buNone/>
            </a:pPr>
            <a:endParaRPr lang="en-US" sz="2000" dirty="0"/>
          </a:p>
        </p:txBody>
      </p:sp>
      <p:sp>
        <p:nvSpPr>
          <p:cNvPr id="84" name="Google Shape;179;p28"/>
          <p:cNvSpPr txBox="1">
            <a:spLocks/>
          </p:cNvSpPr>
          <p:nvPr/>
        </p:nvSpPr>
        <p:spPr>
          <a:xfrm>
            <a:off x="1707518" y="3633151"/>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a:t>05</a:t>
            </a:r>
          </a:p>
        </p:txBody>
      </p:sp>
      <p:sp>
        <p:nvSpPr>
          <p:cNvPr id="85" name="Google Shape;185;p28"/>
          <p:cNvSpPr txBox="1">
            <a:spLocks/>
          </p:cNvSpPr>
          <p:nvPr/>
        </p:nvSpPr>
        <p:spPr>
          <a:xfrm>
            <a:off x="2443113" y="3635232"/>
            <a:ext cx="3525625"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0"/>
              </a:spcBef>
              <a:buNone/>
            </a:pPr>
            <a:r>
              <a:rPr lang="en-US" sz="2000" dirty="0"/>
              <a:t>Dart Conditional Operators</a:t>
            </a:r>
          </a:p>
          <a:p>
            <a:pPr marL="0" indent="0">
              <a:spcBef>
                <a:spcPts val="0"/>
              </a:spcBef>
              <a:buFont typeface="Arial" panose="020B0604020202020204" pitchFamily="34" charset="0"/>
              <a:buNone/>
            </a:pPr>
            <a:endParaRPr lang="en-US" sz="2000" dirty="0"/>
          </a:p>
        </p:txBody>
      </p:sp>
      <p:sp>
        <p:nvSpPr>
          <p:cNvPr id="86" name="Google Shape;179;p28"/>
          <p:cNvSpPr txBox="1">
            <a:spLocks/>
          </p:cNvSpPr>
          <p:nvPr/>
        </p:nvSpPr>
        <p:spPr>
          <a:xfrm>
            <a:off x="1709086" y="4143777"/>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a:t>06</a:t>
            </a:r>
          </a:p>
        </p:txBody>
      </p:sp>
      <p:sp>
        <p:nvSpPr>
          <p:cNvPr id="87" name="Google Shape;185;p28"/>
          <p:cNvSpPr txBox="1">
            <a:spLocks/>
          </p:cNvSpPr>
          <p:nvPr/>
        </p:nvSpPr>
        <p:spPr>
          <a:xfrm>
            <a:off x="2444681" y="4145858"/>
            <a:ext cx="3525625"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0"/>
              </a:spcBef>
              <a:buNone/>
            </a:pPr>
            <a:r>
              <a:rPr lang="en-US" sz="2000" dirty="0"/>
              <a:t>If…else statements</a:t>
            </a:r>
          </a:p>
        </p:txBody>
      </p:sp>
      <p:sp>
        <p:nvSpPr>
          <p:cNvPr id="88" name="Google Shape;179;p28"/>
          <p:cNvSpPr txBox="1">
            <a:spLocks/>
          </p:cNvSpPr>
          <p:nvPr/>
        </p:nvSpPr>
        <p:spPr>
          <a:xfrm>
            <a:off x="1718514" y="4643399"/>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a:t>07</a:t>
            </a:r>
          </a:p>
        </p:txBody>
      </p:sp>
      <p:sp>
        <p:nvSpPr>
          <p:cNvPr id="89" name="Google Shape;185;p28"/>
          <p:cNvSpPr txBox="1">
            <a:spLocks/>
          </p:cNvSpPr>
          <p:nvPr/>
        </p:nvSpPr>
        <p:spPr>
          <a:xfrm>
            <a:off x="2454109" y="4645480"/>
            <a:ext cx="3525625"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0"/>
              </a:spcBef>
              <a:buNone/>
            </a:pPr>
            <a:r>
              <a:rPr lang="en-US" sz="2000" dirty="0"/>
              <a:t>For, While, Do…While loops</a:t>
            </a:r>
          </a:p>
        </p:txBody>
      </p:sp>
      <p:sp>
        <p:nvSpPr>
          <p:cNvPr id="90" name="Google Shape;179;p28"/>
          <p:cNvSpPr txBox="1">
            <a:spLocks/>
          </p:cNvSpPr>
          <p:nvPr/>
        </p:nvSpPr>
        <p:spPr>
          <a:xfrm>
            <a:off x="1720082" y="5154025"/>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a:t>08</a:t>
            </a:r>
          </a:p>
        </p:txBody>
      </p:sp>
      <p:sp>
        <p:nvSpPr>
          <p:cNvPr id="91" name="Google Shape;185;p28"/>
          <p:cNvSpPr txBox="1">
            <a:spLocks/>
          </p:cNvSpPr>
          <p:nvPr/>
        </p:nvSpPr>
        <p:spPr>
          <a:xfrm>
            <a:off x="2455677" y="5156106"/>
            <a:ext cx="3525625"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0"/>
              </a:spcBef>
              <a:buNone/>
            </a:pPr>
            <a:r>
              <a:rPr lang="en-US" sz="2000" dirty="0"/>
              <a:t>Break Statements</a:t>
            </a:r>
          </a:p>
        </p:txBody>
      </p:sp>
      <p:sp>
        <p:nvSpPr>
          <p:cNvPr id="92" name="Google Shape;179;p28"/>
          <p:cNvSpPr txBox="1">
            <a:spLocks/>
          </p:cNvSpPr>
          <p:nvPr/>
        </p:nvSpPr>
        <p:spPr>
          <a:xfrm>
            <a:off x="1721650" y="5664651"/>
            <a:ext cx="666000" cy="447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a:lstStyle>
          <a:p>
            <a:pPr algn="ctr">
              <a:spcBef>
                <a:spcPts val="0"/>
              </a:spcBef>
            </a:pPr>
            <a:r>
              <a:rPr lang="en" sz="2800" dirty="0"/>
              <a:t>09</a:t>
            </a:r>
          </a:p>
        </p:txBody>
      </p:sp>
      <p:sp>
        <p:nvSpPr>
          <p:cNvPr id="93" name="Google Shape;185;p28"/>
          <p:cNvSpPr txBox="1">
            <a:spLocks/>
          </p:cNvSpPr>
          <p:nvPr/>
        </p:nvSpPr>
        <p:spPr>
          <a:xfrm>
            <a:off x="2457245" y="5666732"/>
            <a:ext cx="3525625" cy="445519"/>
          </a:xfrm>
          <a:prstGeom prst="rect">
            <a:avLst/>
          </a:prstGeom>
        </p:spPr>
        <p:txBody>
          <a:bodyPr spcFirstLastPara="1" wrap="square" lIns="91425" tIns="91425" rIns="91425" bIns="91425" anchor="t" anchorCtr="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0"/>
              </a:spcBef>
              <a:buNone/>
            </a:pPr>
            <a:r>
              <a:rPr lang="en-US" sz="2000" dirty="0"/>
              <a:t>Switch Case Statements</a:t>
            </a:r>
          </a:p>
        </p:txBody>
      </p:sp>
    </p:spTree>
    <p:extLst>
      <p:ext uri="{BB962C8B-B14F-4D97-AF65-F5344CB8AC3E}">
        <p14:creationId xmlns:p14="http://schemas.microsoft.com/office/powerpoint/2010/main" val="2853844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5588203" cy="572700"/>
          </a:xfrm>
          <a:prstGeom prst="rect">
            <a:avLst/>
          </a:prstGeom>
        </p:spPr>
        <p:txBody>
          <a:bodyPr spcFirstLastPara="1" wrap="square" lIns="91425" tIns="91425" rIns="91425" bIns="91425" anchor="t" anchorCtr="0">
            <a:noAutofit/>
          </a:bodyPr>
          <a:lstStyle/>
          <a:p>
            <a:pPr lvl="0">
              <a:spcBef>
                <a:spcPts val="0"/>
              </a:spcBef>
            </a:pPr>
            <a:r>
              <a:rPr lang="en-US" cap="none" dirty="0"/>
              <a:t>MAIN FUNCTION </a:t>
            </a:r>
            <a:r>
              <a:rPr lang="en-US" cap="none" dirty="0">
                <a:solidFill>
                  <a:srgbClr val="1E9E78"/>
                </a:solidFill>
              </a:rPr>
              <a:t>main()</a:t>
            </a:r>
          </a:p>
        </p:txBody>
      </p:sp>
      <p:sp>
        <p:nvSpPr>
          <p:cNvPr id="3" name="Rectangle 2"/>
          <p:cNvSpPr/>
          <p:nvPr/>
        </p:nvSpPr>
        <p:spPr>
          <a:xfrm>
            <a:off x="837235" y="1602713"/>
            <a:ext cx="8005107" cy="707886"/>
          </a:xfrm>
          <a:prstGeom prst="rect">
            <a:avLst/>
          </a:prstGeom>
        </p:spPr>
        <p:txBody>
          <a:bodyPr wrap="square">
            <a:spAutoFit/>
          </a:bodyPr>
          <a:lstStyle/>
          <a:p>
            <a:r>
              <a:rPr lang="en-US" sz="2000" dirty="0"/>
              <a:t>Every Dart app must have a top-level </a:t>
            </a:r>
            <a:r>
              <a:rPr lang="en-US" sz="2000" b="1" dirty="0"/>
              <a:t>main()</a:t>
            </a:r>
            <a:r>
              <a:rPr lang="en-US" sz="2000" dirty="0"/>
              <a:t> function — it’s the starting point where the program begins to run.</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pic>
        <p:nvPicPr>
          <p:cNvPr id="14" name="Google Shape;213;p30"/>
          <p:cNvPicPr preferRelativeResize="0"/>
          <p:nvPr/>
        </p:nvPicPr>
        <p:blipFill rotWithShape="1">
          <a:blip r:embed="rId4">
            <a:alphaModFix/>
          </a:blip>
          <a:srcRect/>
          <a:stretch/>
        </p:blipFill>
        <p:spPr>
          <a:xfrm>
            <a:off x="2750965" y="2865730"/>
            <a:ext cx="3951403" cy="2122976"/>
          </a:xfrm>
          <a:prstGeom prst="rect">
            <a:avLst/>
          </a:prstGeom>
          <a:noFill/>
          <a:ln>
            <a:noFill/>
          </a:ln>
        </p:spPr>
      </p:pic>
    </p:spTree>
    <p:extLst>
      <p:ext uri="{BB962C8B-B14F-4D97-AF65-F5344CB8AC3E}">
        <p14:creationId xmlns:p14="http://schemas.microsoft.com/office/powerpoint/2010/main" val="492836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4</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5588203" cy="572700"/>
          </a:xfrm>
          <a:prstGeom prst="rect">
            <a:avLst/>
          </a:prstGeom>
        </p:spPr>
        <p:txBody>
          <a:bodyPr spcFirstLastPara="1" wrap="square" lIns="91425" tIns="91425" rIns="91425" bIns="91425" anchor="t" anchorCtr="0">
            <a:noAutofit/>
          </a:bodyPr>
          <a:lstStyle/>
          <a:p>
            <a:pPr lvl="0">
              <a:spcBef>
                <a:spcPts val="0"/>
              </a:spcBef>
            </a:pPr>
            <a:r>
              <a:rPr lang="en-US" cap="none" dirty="0"/>
              <a:t>MAIN FUNCTION </a:t>
            </a:r>
            <a:r>
              <a:rPr lang="en-US" cap="none" dirty="0">
                <a:solidFill>
                  <a:srgbClr val="1E9E78"/>
                </a:solidFill>
              </a:rPr>
              <a:t>main()</a:t>
            </a:r>
          </a:p>
        </p:txBody>
      </p:sp>
      <p:sp>
        <p:nvSpPr>
          <p:cNvPr id="3" name="Rectangle 2"/>
          <p:cNvSpPr/>
          <p:nvPr/>
        </p:nvSpPr>
        <p:spPr>
          <a:xfrm>
            <a:off x="837236" y="1602713"/>
            <a:ext cx="6836184" cy="1410643"/>
          </a:xfrm>
          <a:prstGeom prst="rect">
            <a:avLst/>
          </a:prstGeom>
        </p:spPr>
        <p:txBody>
          <a:bodyPr wrap="square">
            <a:spAutoFit/>
          </a:bodyPr>
          <a:lstStyle/>
          <a:p>
            <a:pPr marR="163195" lvl="0">
              <a:lnSpc>
                <a:spcPct val="115000"/>
              </a:lnSpc>
              <a:spcBef>
                <a:spcPts val="1000"/>
              </a:spcBef>
            </a:pPr>
            <a:r>
              <a:rPr lang="en-US" sz="2000" dirty="0">
                <a:solidFill>
                  <a:srgbClr val="2B3050"/>
                </a:solidFill>
                <a:ea typeface="Arial"/>
                <a:cs typeface="Arial"/>
                <a:sym typeface="Arial"/>
              </a:rPr>
              <a:t>All your Dart code must be in main() function body</a:t>
            </a:r>
          </a:p>
          <a:p>
            <a:pPr marR="163195" lvl="0">
              <a:lnSpc>
                <a:spcPct val="115000"/>
              </a:lnSpc>
              <a:spcBef>
                <a:spcPts val="1000"/>
              </a:spcBef>
            </a:pPr>
            <a:r>
              <a:rPr lang="en-US" sz="2000" dirty="0">
                <a:solidFill>
                  <a:srgbClr val="2B3050"/>
                </a:solidFill>
                <a:ea typeface="Arial"/>
                <a:cs typeface="Arial"/>
                <a:sym typeface="Arial"/>
              </a:rPr>
              <a:t>Run this Dart file.</a:t>
            </a:r>
          </a:p>
          <a:p>
            <a:pPr marR="163195" lvl="0">
              <a:lnSpc>
                <a:spcPct val="115000"/>
              </a:lnSpc>
              <a:spcBef>
                <a:spcPts val="1000"/>
              </a:spcBef>
            </a:pPr>
            <a:r>
              <a:rPr lang="en-US" sz="2000" dirty="0">
                <a:solidFill>
                  <a:srgbClr val="2B3050"/>
                </a:solidFill>
                <a:ea typeface="Arial"/>
                <a:cs typeface="Arial"/>
                <a:sym typeface="Arial"/>
              </a:rPr>
              <a:t>The result follows:</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pic>
        <p:nvPicPr>
          <p:cNvPr id="4" name="Picture 3"/>
          <p:cNvPicPr>
            <a:picLocks noChangeAspect="1"/>
          </p:cNvPicPr>
          <p:nvPr/>
        </p:nvPicPr>
        <p:blipFill>
          <a:blip r:embed="rId4"/>
          <a:stretch>
            <a:fillRect/>
          </a:stretch>
        </p:blipFill>
        <p:spPr>
          <a:xfrm>
            <a:off x="3199641" y="2709518"/>
            <a:ext cx="5302523" cy="3619686"/>
          </a:xfrm>
          <a:prstGeom prst="rect">
            <a:avLst/>
          </a:prstGeom>
        </p:spPr>
      </p:pic>
    </p:spTree>
    <p:extLst>
      <p:ext uri="{BB962C8B-B14F-4D97-AF65-F5344CB8AC3E}">
        <p14:creationId xmlns:p14="http://schemas.microsoft.com/office/powerpoint/2010/main" val="769265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5</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5588203" cy="572700"/>
          </a:xfrm>
          <a:prstGeom prst="rect">
            <a:avLst/>
          </a:prstGeom>
        </p:spPr>
        <p:txBody>
          <a:bodyPr spcFirstLastPara="1" wrap="square" lIns="91425" tIns="91425" rIns="91425" bIns="91425" anchor="t" anchorCtr="0">
            <a:noAutofit/>
          </a:bodyPr>
          <a:lstStyle/>
          <a:p>
            <a:pPr lvl="0">
              <a:spcBef>
                <a:spcPts val="0"/>
              </a:spcBef>
            </a:pPr>
            <a:r>
              <a:rPr lang="en-US" cap="none" dirty="0"/>
              <a:t>MAIN FUNCTION </a:t>
            </a:r>
            <a:r>
              <a:rPr lang="en-US" cap="none" dirty="0">
                <a:solidFill>
                  <a:srgbClr val="1E9E78"/>
                </a:solidFill>
              </a:rPr>
              <a:t>main()</a:t>
            </a:r>
          </a:p>
        </p:txBody>
      </p:sp>
      <p:sp>
        <p:nvSpPr>
          <p:cNvPr id="3" name="Rectangle 2"/>
          <p:cNvSpPr/>
          <p:nvPr/>
        </p:nvSpPr>
        <p:spPr>
          <a:xfrm>
            <a:off x="837235" y="1602713"/>
            <a:ext cx="8985495" cy="1282402"/>
          </a:xfrm>
          <a:prstGeom prst="rect">
            <a:avLst/>
          </a:prstGeom>
        </p:spPr>
        <p:txBody>
          <a:bodyPr wrap="square">
            <a:spAutoFit/>
          </a:bodyPr>
          <a:lstStyle/>
          <a:p>
            <a:pPr marR="163195" lvl="0">
              <a:lnSpc>
                <a:spcPct val="115000"/>
              </a:lnSpc>
              <a:spcBef>
                <a:spcPts val="1000"/>
              </a:spcBef>
            </a:pPr>
            <a:r>
              <a:rPr lang="en-US" sz="2000" b="1" dirty="0">
                <a:solidFill>
                  <a:srgbClr val="2B3050"/>
                </a:solidFill>
                <a:ea typeface="Arial"/>
                <a:cs typeface="Arial"/>
                <a:sym typeface="Arial"/>
              </a:rPr>
              <a:t>Outside Function:</a:t>
            </a:r>
          </a:p>
          <a:p>
            <a:pPr marR="163195" lvl="0">
              <a:lnSpc>
                <a:spcPct val="115000"/>
              </a:lnSpc>
              <a:spcBef>
                <a:spcPts val="1000"/>
              </a:spcBef>
            </a:pPr>
            <a:r>
              <a:rPr lang="en-US" sz="2000" dirty="0">
                <a:solidFill>
                  <a:srgbClr val="2B3050"/>
                </a:solidFill>
                <a:ea typeface="Arial"/>
                <a:cs typeface="Arial"/>
                <a:sym typeface="Arial"/>
              </a:rPr>
              <a:t>If you create a new function and call inside the function it will execute otherwise it is not execute.</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pic>
        <p:nvPicPr>
          <p:cNvPr id="5" name="Picture 4"/>
          <p:cNvPicPr>
            <a:picLocks noChangeAspect="1"/>
          </p:cNvPicPr>
          <p:nvPr/>
        </p:nvPicPr>
        <p:blipFill>
          <a:blip r:embed="rId4"/>
          <a:stretch>
            <a:fillRect/>
          </a:stretch>
        </p:blipFill>
        <p:spPr>
          <a:xfrm>
            <a:off x="5750705" y="3036468"/>
            <a:ext cx="4533940" cy="3148040"/>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p:cNvPicPr>
            <a:picLocks noChangeAspect="1"/>
          </p:cNvPicPr>
          <p:nvPr/>
        </p:nvPicPr>
        <p:blipFill>
          <a:blip r:embed="rId5"/>
          <a:stretch>
            <a:fillRect/>
          </a:stretch>
        </p:blipFill>
        <p:spPr>
          <a:xfrm>
            <a:off x="837235" y="3027041"/>
            <a:ext cx="4488909" cy="3453891"/>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137108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6</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8740398" cy="572700"/>
          </a:xfrm>
          <a:prstGeom prst="rect">
            <a:avLst/>
          </a:prstGeom>
        </p:spPr>
        <p:txBody>
          <a:bodyPr spcFirstLastPara="1" wrap="square" lIns="91425" tIns="91425" rIns="91425" bIns="91425" anchor="t" anchorCtr="0">
            <a:noAutofit/>
          </a:bodyPr>
          <a:lstStyle/>
          <a:p>
            <a:pPr lvl="0">
              <a:spcBef>
                <a:spcPts val="0"/>
              </a:spcBef>
            </a:pPr>
            <a:r>
              <a:rPr lang="en" dirty="0"/>
              <a:t>Add the </a:t>
            </a:r>
            <a:r>
              <a:rPr lang="en" dirty="0">
                <a:solidFill>
                  <a:srgbClr val="1E9E78"/>
                </a:solidFill>
              </a:rPr>
              <a:t>Information</a:t>
            </a:r>
            <a:r>
              <a:rPr lang="en" dirty="0"/>
              <a:t> to Dart Program</a:t>
            </a:r>
            <a:endParaRPr lang="en-US" cap="none" dirty="0">
              <a:solidFill>
                <a:srgbClr val="1E9E78"/>
              </a:solidFill>
            </a:endParaRPr>
          </a:p>
        </p:txBody>
      </p:sp>
      <p:sp>
        <p:nvSpPr>
          <p:cNvPr id="3" name="Rectangle 2"/>
          <p:cNvSpPr/>
          <p:nvPr/>
        </p:nvSpPr>
        <p:spPr>
          <a:xfrm>
            <a:off x="837235" y="1351892"/>
            <a:ext cx="11252908" cy="2118529"/>
          </a:xfrm>
          <a:prstGeom prst="rect">
            <a:avLst/>
          </a:prstGeom>
        </p:spPr>
        <p:txBody>
          <a:bodyPr wrap="square">
            <a:spAutoFit/>
          </a:bodyPr>
          <a:lstStyle/>
          <a:p>
            <a:pPr marR="163195" lvl="0">
              <a:lnSpc>
                <a:spcPct val="115000"/>
              </a:lnSpc>
              <a:spcBef>
                <a:spcPts val="1000"/>
              </a:spcBef>
            </a:pPr>
            <a:r>
              <a:rPr lang="en-US" sz="2000" b="1" dirty="0">
                <a:solidFill>
                  <a:srgbClr val="2B3050"/>
                </a:solidFill>
                <a:ea typeface="Arial"/>
                <a:cs typeface="Arial"/>
                <a:sym typeface="Arial"/>
              </a:rPr>
              <a:t>Writing Comments</a:t>
            </a:r>
          </a:p>
          <a:p>
            <a:pPr marR="163195" lvl="0">
              <a:lnSpc>
                <a:spcPct val="115000"/>
              </a:lnSpc>
              <a:spcBef>
                <a:spcPts val="1000"/>
              </a:spcBef>
            </a:pPr>
            <a:r>
              <a:rPr lang="en-US" sz="2000" dirty="0">
                <a:solidFill>
                  <a:srgbClr val="2B3050"/>
                </a:solidFill>
                <a:ea typeface="Arial"/>
                <a:cs typeface="Arial"/>
                <a:sym typeface="Arial"/>
              </a:rPr>
              <a:t>Any line starting with a double forward slash will be considered a comment by the Dart compiler. This means that this part will not run or appear to the users of this application because it will remain internal. Comments are used to write notes about different parts of the Dart program.</a:t>
            </a:r>
          </a:p>
          <a:p>
            <a:pPr marR="163195" lvl="0">
              <a:lnSpc>
                <a:spcPct val="115000"/>
              </a:lnSpc>
              <a:spcBef>
                <a:spcPts val="1000"/>
              </a:spcBef>
            </a:pPr>
            <a:r>
              <a:rPr lang="en-US" sz="2000" b="1" dirty="0">
                <a:solidFill>
                  <a:srgbClr val="2B3050"/>
                </a:solidFill>
                <a:ea typeface="Arial"/>
                <a:cs typeface="Arial"/>
                <a:sym typeface="Arial"/>
              </a:rPr>
              <a:t>Example:</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pic>
        <p:nvPicPr>
          <p:cNvPr id="4" name="Picture 3"/>
          <p:cNvPicPr>
            <a:picLocks noChangeAspect="1"/>
          </p:cNvPicPr>
          <p:nvPr/>
        </p:nvPicPr>
        <p:blipFill>
          <a:blip r:embed="rId4"/>
          <a:stretch>
            <a:fillRect/>
          </a:stretch>
        </p:blipFill>
        <p:spPr>
          <a:xfrm>
            <a:off x="6088902" y="3470421"/>
            <a:ext cx="6001241" cy="2666428"/>
          </a:xfrm>
          <a:prstGeom prst="rect">
            <a:avLst/>
          </a:prstGeom>
        </p:spPr>
      </p:pic>
      <p:pic>
        <p:nvPicPr>
          <p:cNvPr id="5" name="Picture 4"/>
          <p:cNvPicPr>
            <a:picLocks noChangeAspect="1"/>
          </p:cNvPicPr>
          <p:nvPr/>
        </p:nvPicPr>
        <p:blipFill>
          <a:blip r:embed="rId5"/>
          <a:stretch>
            <a:fillRect/>
          </a:stretch>
        </p:blipFill>
        <p:spPr>
          <a:xfrm>
            <a:off x="837235" y="3470421"/>
            <a:ext cx="5140041" cy="3300769"/>
          </a:xfrm>
          <a:prstGeom prst="rect">
            <a:avLst/>
          </a:prstGeom>
        </p:spPr>
      </p:pic>
    </p:spTree>
    <p:extLst>
      <p:ext uri="{BB962C8B-B14F-4D97-AF65-F5344CB8AC3E}">
        <p14:creationId xmlns:p14="http://schemas.microsoft.com/office/powerpoint/2010/main" val="187354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7</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5588203" cy="572700"/>
          </a:xfrm>
          <a:prstGeom prst="rect">
            <a:avLst/>
          </a:prstGeom>
        </p:spPr>
        <p:txBody>
          <a:bodyPr spcFirstLastPara="1" wrap="square" lIns="91425" tIns="91425" rIns="91425" bIns="91425" anchor="t" anchorCtr="0">
            <a:noAutofit/>
          </a:bodyPr>
          <a:lstStyle/>
          <a:p>
            <a:pPr lvl="0">
              <a:spcBef>
                <a:spcPts val="0"/>
              </a:spcBef>
            </a:pPr>
            <a:r>
              <a:rPr lang="en-US" dirty="0"/>
              <a:t>Dart </a:t>
            </a:r>
            <a:r>
              <a:rPr lang="en-US" dirty="0">
                <a:solidFill>
                  <a:srgbClr val="1E9E78"/>
                </a:solidFill>
              </a:rPr>
              <a:t>Variables</a:t>
            </a:r>
            <a:endParaRPr lang="en-US" cap="none" dirty="0">
              <a:solidFill>
                <a:srgbClr val="1E9E78"/>
              </a:solidFill>
            </a:endParaRPr>
          </a:p>
        </p:txBody>
      </p:sp>
      <p:sp>
        <p:nvSpPr>
          <p:cNvPr id="3" name="Rectangle 2"/>
          <p:cNvSpPr/>
          <p:nvPr/>
        </p:nvSpPr>
        <p:spPr>
          <a:xfrm>
            <a:off x="837235" y="1602713"/>
            <a:ext cx="8985495" cy="1015663"/>
          </a:xfrm>
          <a:prstGeom prst="rect">
            <a:avLst/>
          </a:prstGeom>
        </p:spPr>
        <p:txBody>
          <a:bodyPr wrap="square">
            <a:spAutoFit/>
          </a:bodyPr>
          <a:lstStyle/>
          <a:p>
            <a:r>
              <a:rPr lang="en-US" sz="2000" b="1" dirty="0"/>
              <a:t>Dart Variables:</a:t>
            </a:r>
            <a:endParaRPr lang="en-US" sz="2000" dirty="0"/>
          </a:p>
          <a:p>
            <a:r>
              <a:rPr lang="en-US" sz="2000" dirty="0"/>
              <a:t>Variables are used to </a:t>
            </a:r>
            <a:r>
              <a:rPr lang="en-US" sz="2000" b="1" dirty="0"/>
              <a:t>store data values</a:t>
            </a:r>
            <a:r>
              <a:rPr lang="en-US" sz="2000" dirty="0"/>
              <a:t> in a Dart program.</a:t>
            </a:r>
            <a:br>
              <a:rPr lang="en-US" sz="2000" dirty="0"/>
            </a:br>
            <a:r>
              <a:rPr lang="en-US" sz="2000" dirty="0"/>
              <a:t>You can think of a variable as a </a:t>
            </a:r>
            <a:r>
              <a:rPr lang="en-US" sz="2000" b="1" dirty="0"/>
              <a:t>container</a:t>
            </a:r>
            <a:r>
              <a:rPr lang="en-US" sz="2000" dirty="0"/>
              <a:t> that holds information.</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pic>
        <p:nvPicPr>
          <p:cNvPr id="4" name="Picture 3"/>
          <p:cNvPicPr>
            <a:picLocks noChangeAspect="1"/>
          </p:cNvPicPr>
          <p:nvPr/>
        </p:nvPicPr>
        <p:blipFill>
          <a:blip r:embed="rId4"/>
          <a:stretch>
            <a:fillRect/>
          </a:stretch>
        </p:blipFill>
        <p:spPr>
          <a:xfrm>
            <a:off x="2540106" y="2701349"/>
            <a:ext cx="4775094" cy="3844134"/>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37360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8</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5588203" cy="572700"/>
          </a:xfrm>
          <a:prstGeom prst="rect">
            <a:avLst/>
          </a:prstGeom>
        </p:spPr>
        <p:txBody>
          <a:bodyPr spcFirstLastPara="1" wrap="square" lIns="91425" tIns="91425" rIns="91425" bIns="91425" anchor="t" anchorCtr="0">
            <a:noAutofit/>
          </a:bodyPr>
          <a:lstStyle/>
          <a:p>
            <a:pPr lvl="0">
              <a:spcBef>
                <a:spcPts val="0"/>
              </a:spcBef>
            </a:pPr>
            <a:r>
              <a:rPr lang="en-US" dirty="0"/>
              <a:t>Dart </a:t>
            </a:r>
            <a:r>
              <a:rPr lang="en-US" dirty="0">
                <a:solidFill>
                  <a:srgbClr val="1E9E78"/>
                </a:solidFill>
              </a:rPr>
              <a:t>Variables</a:t>
            </a:r>
            <a:endParaRPr lang="en-US" cap="none" dirty="0">
              <a:solidFill>
                <a:srgbClr val="1E9E78"/>
              </a:solidFill>
            </a:endParaRPr>
          </a:p>
        </p:txBody>
      </p:sp>
      <p:sp>
        <p:nvSpPr>
          <p:cNvPr id="3" name="Rectangle 2"/>
          <p:cNvSpPr/>
          <p:nvPr/>
        </p:nvSpPr>
        <p:spPr>
          <a:xfrm>
            <a:off x="837235" y="1602713"/>
            <a:ext cx="8985495" cy="1015663"/>
          </a:xfrm>
          <a:prstGeom prst="rect">
            <a:avLst/>
          </a:prstGeom>
        </p:spPr>
        <p:txBody>
          <a:bodyPr wrap="square">
            <a:spAutoFit/>
          </a:bodyPr>
          <a:lstStyle/>
          <a:p>
            <a:r>
              <a:rPr lang="en-US" sz="2000" b="1" dirty="0"/>
              <a:t>Global Variable:</a:t>
            </a:r>
            <a:endParaRPr lang="en-US" sz="2000" dirty="0"/>
          </a:p>
          <a:p>
            <a:r>
              <a:rPr lang="en-US" sz="2000" dirty="0"/>
              <a:t>A </a:t>
            </a:r>
            <a:r>
              <a:rPr lang="en-US" sz="2000" b="1" dirty="0"/>
              <a:t>global variable</a:t>
            </a:r>
            <a:r>
              <a:rPr lang="en-US" sz="2000" dirty="0"/>
              <a:t> is a variable that is </a:t>
            </a:r>
            <a:r>
              <a:rPr lang="en-US" sz="2000" b="1" dirty="0"/>
              <a:t>declared outside any function or class</a:t>
            </a:r>
            <a:r>
              <a:rPr lang="en-US" sz="2000" dirty="0"/>
              <a:t> and can be </a:t>
            </a:r>
            <a:r>
              <a:rPr lang="en-US" sz="2000" b="1" dirty="0"/>
              <a:t>accessed from anywhere</a:t>
            </a:r>
            <a:r>
              <a:rPr lang="en-US" sz="2000" dirty="0"/>
              <a:t> in the program.</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pic>
        <p:nvPicPr>
          <p:cNvPr id="5" name="Picture 4"/>
          <p:cNvPicPr>
            <a:picLocks noChangeAspect="1"/>
          </p:cNvPicPr>
          <p:nvPr/>
        </p:nvPicPr>
        <p:blipFill>
          <a:blip r:embed="rId4"/>
          <a:stretch>
            <a:fillRect/>
          </a:stretch>
        </p:blipFill>
        <p:spPr>
          <a:xfrm>
            <a:off x="2395715" y="2811663"/>
            <a:ext cx="5485563" cy="3391174"/>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53321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9</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5588203" cy="572700"/>
          </a:xfrm>
          <a:prstGeom prst="rect">
            <a:avLst/>
          </a:prstGeom>
        </p:spPr>
        <p:txBody>
          <a:bodyPr spcFirstLastPara="1" wrap="square" lIns="91425" tIns="91425" rIns="91425" bIns="91425" anchor="t" anchorCtr="0">
            <a:noAutofit/>
          </a:bodyPr>
          <a:lstStyle/>
          <a:p>
            <a:pPr lvl="0">
              <a:spcBef>
                <a:spcPts val="0"/>
              </a:spcBef>
            </a:pPr>
            <a:r>
              <a:rPr lang="en-US" dirty="0"/>
              <a:t>Dart </a:t>
            </a:r>
            <a:r>
              <a:rPr lang="en" dirty="0">
                <a:solidFill>
                  <a:srgbClr val="1E9E78"/>
                </a:solidFill>
              </a:rPr>
              <a:t>Data Types</a:t>
            </a:r>
            <a:endParaRPr lang="en-US" cap="none" dirty="0">
              <a:solidFill>
                <a:srgbClr val="1E9E78"/>
              </a:solidFill>
            </a:endParaRPr>
          </a:p>
        </p:txBody>
      </p:sp>
      <p:sp>
        <p:nvSpPr>
          <p:cNvPr id="3" name="Rectangle 2"/>
          <p:cNvSpPr/>
          <p:nvPr/>
        </p:nvSpPr>
        <p:spPr>
          <a:xfrm>
            <a:off x="837235" y="1602713"/>
            <a:ext cx="8985495" cy="3170099"/>
          </a:xfrm>
          <a:prstGeom prst="rect">
            <a:avLst/>
          </a:prstGeom>
        </p:spPr>
        <p:txBody>
          <a:bodyPr wrap="square">
            <a:spAutoFit/>
          </a:bodyPr>
          <a:lstStyle/>
          <a:p>
            <a:r>
              <a:rPr lang="en-US" sz="2000" dirty="0"/>
              <a:t>Data types define the </a:t>
            </a:r>
            <a:r>
              <a:rPr lang="en-US" sz="2000" b="1" dirty="0"/>
              <a:t>kind of values</a:t>
            </a:r>
            <a:r>
              <a:rPr lang="en-US" sz="2000" dirty="0"/>
              <a:t> a variable can hold.</a:t>
            </a:r>
            <a:br>
              <a:rPr lang="en-US" sz="2000" dirty="0"/>
            </a:br>
            <a:r>
              <a:rPr lang="en-US" sz="2000" dirty="0"/>
              <a:t>Common Dart data types include:</a:t>
            </a:r>
          </a:p>
          <a:p>
            <a:endParaRPr lang="en-US" sz="2000" dirty="0"/>
          </a:p>
          <a:p>
            <a:pPr marL="342900" indent="-342900">
              <a:buFont typeface="Wingdings" panose="05000000000000000000" pitchFamily="2" charset="2"/>
              <a:buChar char="Ø"/>
            </a:pPr>
            <a:r>
              <a:rPr lang="en-US" sz="2000" b="1" dirty="0" err="1"/>
              <a:t>int</a:t>
            </a:r>
            <a:r>
              <a:rPr lang="en-US" sz="2000" dirty="0"/>
              <a:t> – whole numbers</a:t>
            </a:r>
          </a:p>
          <a:p>
            <a:pPr marL="342900" indent="-342900">
              <a:buFont typeface="Wingdings" panose="05000000000000000000" pitchFamily="2" charset="2"/>
              <a:buChar char="Ø"/>
            </a:pPr>
            <a:r>
              <a:rPr lang="en-US" sz="2000" b="1" dirty="0"/>
              <a:t>double</a:t>
            </a:r>
            <a:r>
              <a:rPr lang="en-US" sz="2000" dirty="0"/>
              <a:t> – decimal numbers</a:t>
            </a:r>
          </a:p>
          <a:p>
            <a:pPr marL="342900" indent="-342900">
              <a:buFont typeface="Wingdings" panose="05000000000000000000" pitchFamily="2" charset="2"/>
              <a:buChar char="Ø"/>
            </a:pPr>
            <a:r>
              <a:rPr lang="en-US" sz="2000" b="1" dirty="0" err="1"/>
              <a:t>num</a:t>
            </a:r>
            <a:r>
              <a:rPr lang="en-US" sz="2000" b="1" dirty="0"/>
              <a:t> – </a:t>
            </a:r>
            <a:r>
              <a:rPr lang="en-US" sz="2000" b="1" dirty="0" err="1"/>
              <a:t>int+double</a:t>
            </a:r>
            <a:r>
              <a:rPr lang="en-US" sz="2000" b="1" dirty="0"/>
              <a:t> </a:t>
            </a:r>
          </a:p>
          <a:p>
            <a:pPr marL="342900" indent="-342900">
              <a:buFont typeface="Wingdings" panose="05000000000000000000" pitchFamily="2" charset="2"/>
              <a:buChar char="Ø"/>
            </a:pPr>
            <a:r>
              <a:rPr lang="en-US" sz="2000" b="1" dirty="0"/>
              <a:t>String</a:t>
            </a:r>
            <a:r>
              <a:rPr lang="en-US" sz="2000" dirty="0"/>
              <a:t> – text values</a:t>
            </a:r>
          </a:p>
          <a:p>
            <a:pPr marL="342900" indent="-342900">
              <a:buFont typeface="Wingdings" panose="05000000000000000000" pitchFamily="2" charset="2"/>
              <a:buChar char="Ø"/>
            </a:pPr>
            <a:r>
              <a:rPr lang="en-US" sz="2000" b="1" dirty="0"/>
              <a:t>bool</a:t>
            </a:r>
            <a:r>
              <a:rPr lang="en-US" sz="2000" dirty="0"/>
              <a:t> – true or false</a:t>
            </a:r>
          </a:p>
          <a:p>
            <a:pPr marL="342900" indent="-342900">
              <a:buFont typeface="Wingdings" panose="05000000000000000000" pitchFamily="2" charset="2"/>
              <a:buChar char="Ø"/>
            </a:pPr>
            <a:r>
              <a:rPr lang="en-US" sz="2000" b="1" dirty="0"/>
              <a:t>List</a:t>
            </a:r>
            <a:r>
              <a:rPr lang="en-US" sz="2000" dirty="0"/>
              <a:t> – collection of items</a:t>
            </a:r>
          </a:p>
          <a:p>
            <a:pPr marL="342900" indent="-342900">
              <a:buFont typeface="Wingdings" panose="05000000000000000000" pitchFamily="2" charset="2"/>
              <a:buChar char="Ø"/>
            </a:pPr>
            <a:r>
              <a:rPr lang="en-US" sz="2000" b="1" dirty="0"/>
              <a:t>Map</a:t>
            </a:r>
            <a:r>
              <a:rPr lang="en-US" sz="2000" dirty="0"/>
              <a:t> – key-value pairs</a:t>
            </a: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Tree>
    <p:extLst>
      <p:ext uri="{BB962C8B-B14F-4D97-AF65-F5344CB8AC3E}">
        <p14:creationId xmlns:p14="http://schemas.microsoft.com/office/powerpoint/2010/main" val="3925071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10</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529495" y="407719"/>
            <a:ext cx="5588203" cy="572700"/>
          </a:xfrm>
          <a:prstGeom prst="rect">
            <a:avLst/>
          </a:prstGeom>
        </p:spPr>
        <p:txBody>
          <a:bodyPr spcFirstLastPara="1" wrap="square" lIns="91425" tIns="91425" rIns="91425" bIns="91425" anchor="t" anchorCtr="0">
            <a:noAutofit/>
          </a:bodyPr>
          <a:lstStyle/>
          <a:p>
            <a:pPr lvl="0">
              <a:spcBef>
                <a:spcPts val="0"/>
              </a:spcBef>
            </a:pPr>
            <a:r>
              <a:rPr lang="en-US" dirty="0"/>
              <a:t>Dart </a:t>
            </a:r>
            <a:r>
              <a:rPr lang="en" dirty="0">
                <a:solidFill>
                  <a:srgbClr val="1E9E78"/>
                </a:solidFill>
              </a:rPr>
              <a:t>Data Types</a:t>
            </a:r>
            <a:endParaRPr lang="en-US" cap="none" dirty="0">
              <a:solidFill>
                <a:srgbClr val="1E9E78"/>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pic>
        <p:nvPicPr>
          <p:cNvPr id="6" name="Picture 5"/>
          <p:cNvPicPr>
            <a:picLocks noChangeAspect="1"/>
          </p:cNvPicPr>
          <p:nvPr/>
        </p:nvPicPr>
        <p:blipFill>
          <a:blip r:embed="rId4"/>
          <a:stretch>
            <a:fillRect/>
          </a:stretch>
        </p:blipFill>
        <p:spPr>
          <a:xfrm>
            <a:off x="6560927" y="2649230"/>
            <a:ext cx="5300482" cy="3145109"/>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sp>
        <p:nvSpPr>
          <p:cNvPr id="7" name="Rectangle 6"/>
          <p:cNvSpPr/>
          <p:nvPr/>
        </p:nvSpPr>
        <p:spPr>
          <a:xfrm>
            <a:off x="578176" y="2863574"/>
            <a:ext cx="5483259" cy="646331"/>
          </a:xfrm>
          <a:prstGeom prst="rect">
            <a:avLst/>
          </a:prstGeom>
        </p:spPr>
        <p:txBody>
          <a:bodyPr wrap="square">
            <a:spAutoFit/>
          </a:bodyPr>
          <a:lstStyle/>
          <a:p>
            <a:br>
              <a:rPr lang="en-US" dirty="0">
                <a:solidFill>
                  <a:srgbClr val="CCCCCC"/>
                </a:solidFill>
                <a:latin typeface="Consolas" panose="020B0609020204030204" pitchFamily="49" charset="0"/>
              </a:rPr>
            </a:br>
            <a:endParaRPr lang="en-US" b="0" dirty="0">
              <a:solidFill>
                <a:srgbClr val="CCCCCC"/>
              </a:solidFill>
              <a:effectLst/>
              <a:latin typeface="Consolas" panose="020B0609020204030204" pitchFamily="49" charset="0"/>
            </a:endParaRPr>
          </a:p>
        </p:txBody>
      </p:sp>
      <p:graphicFrame>
        <p:nvGraphicFramePr>
          <p:cNvPr id="8" name="Table 7"/>
          <p:cNvGraphicFramePr>
            <a:graphicFrameLocks noGrp="1"/>
          </p:cNvGraphicFramePr>
          <p:nvPr>
            <p:extLst>
              <p:ext uri="{D42A27DB-BD31-4B8C-83A1-F6EECF244321}">
                <p14:modId xmlns:p14="http://schemas.microsoft.com/office/powerpoint/2010/main" val="3883088691"/>
              </p:ext>
            </p:extLst>
          </p:nvPr>
        </p:nvGraphicFramePr>
        <p:xfrm>
          <a:off x="529495" y="2979810"/>
          <a:ext cx="5895943" cy="2560320"/>
        </p:xfrm>
        <a:graphic>
          <a:graphicData uri="http://schemas.openxmlformats.org/drawingml/2006/table">
            <a:tbl>
              <a:tblPr firstRow="1" bandRow="1">
                <a:tableStyleId>{073A0DAA-6AF3-43AB-8588-CEC1D06C72B9}</a:tableStyleId>
              </a:tblPr>
              <a:tblGrid>
                <a:gridCol w="5895943">
                  <a:extLst>
                    <a:ext uri="{9D8B030D-6E8A-4147-A177-3AD203B41FA5}">
                      <a16:colId xmlns:a16="http://schemas.microsoft.com/office/drawing/2014/main" val="2196111264"/>
                    </a:ext>
                  </a:extLst>
                </a:gridCol>
              </a:tblGrid>
              <a:tr h="370840">
                <a:tc>
                  <a:txBody>
                    <a:bodyPr/>
                    <a:lstStyle/>
                    <a:p>
                      <a:r>
                        <a:rPr lang="en-US" dirty="0">
                          <a:latin typeface="Consolas" panose="020B0609020204030204" pitchFamily="49" charset="0"/>
                        </a:rPr>
                        <a:t>void main() {</a:t>
                      </a:r>
                    </a:p>
                    <a:p>
                      <a:r>
                        <a:rPr lang="en-US" dirty="0">
                          <a:latin typeface="Consolas" panose="020B0609020204030204" pitchFamily="49" charset="0"/>
                        </a:rPr>
                        <a:t>  </a:t>
                      </a:r>
                      <a:r>
                        <a:rPr lang="en-US" dirty="0" err="1">
                          <a:latin typeface="Consolas" panose="020B0609020204030204" pitchFamily="49" charset="0"/>
                        </a:rPr>
                        <a:t>int</a:t>
                      </a:r>
                      <a:r>
                        <a:rPr lang="en-US" dirty="0">
                          <a:latin typeface="Consolas" panose="020B0609020204030204" pitchFamily="49" charset="0"/>
                        </a:rPr>
                        <a:t> age = 22;</a:t>
                      </a:r>
                    </a:p>
                    <a:p>
                      <a:r>
                        <a:rPr lang="en-US" dirty="0">
                          <a:latin typeface="Consolas" panose="020B0609020204030204" pitchFamily="49" charset="0"/>
                        </a:rPr>
                        <a:t>  </a:t>
                      </a:r>
                      <a:r>
                        <a:rPr lang="en-US" dirty="0" err="1">
                          <a:latin typeface="Consolas" panose="020B0609020204030204" pitchFamily="49" charset="0"/>
                        </a:rPr>
                        <a:t>int</a:t>
                      </a:r>
                      <a:r>
                        <a:rPr lang="en-US" dirty="0">
                          <a:latin typeface="Consolas" panose="020B0609020204030204" pitchFamily="49" charset="0"/>
                        </a:rPr>
                        <a:t> year = 2025;</a:t>
                      </a:r>
                    </a:p>
                    <a:p>
                      <a:r>
                        <a:rPr lang="en-US" dirty="0">
                          <a:latin typeface="Consolas" panose="020B0609020204030204" pitchFamily="49" charset="0"/>
                        </a:rPr>
                        <a:t>  </a:t>
                      </a:r>
                      <a:r>
                        <a:rPr lang="en-US" dirty="0" err="1">
                          <a:latin typeface="Consolas" panose="020B0609020204030204" pitchFamily="49" charset="0"/>
                        </a:rPr>
                        <a:t>int</a:t>
                      </a:r>
                      <a:r>
                        <a:rPr lang="en-US" dirty="0">
                          <a:latin typeface="Consolas" panose="020B0609020204030204" pitchFamily="49" charset="0"/>
                        </a:rPr>
                        <a:t> temperature = -5;</a:t>
                      </a:r>
                    </a:p>
                    <a:p>
                      <a:br>
                        <a:rPr lang="en-US" dirty="0">
                          <a:latin typeface="Consolas" panose="020B0609020204030204" pitchFamily="49" charset="0"/>
                        </a:rPr>
                      </a:br>
                      <a:r>
                        <a:rPr lang="en-US" dirty="0">
                          <a:latin typeface="Consolas" panose="020B0609020204030204" pitchFamily="49" charset="0"/>
                        </a:rPr>
                        <a:t>  print('Age: $age, Temperature: $temperature, Year: $year');</a:t>
                      </a:r>
                    </a:p>
                    <a:p>
                      <a:r>
                        <a:rPr lang="en-US" dirty="0">
                          <a:latin typeface="Consolas" panose="020B0609020204030204" pitchFamily="49" charset="0"/>
                        </a:rPr>
                        <a:t>}</a:t>
                      </a:r>
                    </a:p>
                    <a:p>
                      <a:endParaRPr lang="en-US" dirty="0"/>
                    </a:p>
                  </a:txBody>
                  <a:tcPr/>
                </a:tc>
                <a:extLst>
                  <a:ext uri="{0D108BD9-81ED-4DB2-BD59-A6C34878D82A}">
                    <a16:rowId xmlns:a16="http://schemas.microsoft.com/office/drawing/2014/main" val="3913587371"/>
                  </a:ext>
                </a:extLst>
              </a:tr>
            </a:tbl>
          </a:graphicData>
        </a:graphic>
      </p:graphicFrame>
      <p:sp>
        <p:nvSpPr>
          <p:cNvPr id="13" name="Rectangle 12"/>
          <p:cNvSpPr/>
          <p:nvPr/>
        </p:nvSpPr>
        <p:spPr>
          <a:xfrm>
            <a:off x="529495" y="1096655"/>
            <a:ext cx="9489404" cy="1631216"/>
          </a:xfrm>
          <a:prstGeom prst="rect">
            <a:avLst/>
          </a:prstGeom>
        </p:spPr>
        <p:txBody>
          <a:bodyPr wrap="square">
            <a:spAutoFit/>
          </a:bodyPr>
          <a:lstStyle/>
          <a:p>
            <a:pPr lvl="0" eaLnBrk="0" fontAlgn="base" hangingPunct="0">
              <a:spcBef>
                <a:spcPct val="0"/>
              </a:spcBef>
              <a:spcAft>
                <a:spcPct val="0"/>
              </a:spcAft>
            </a:pPr>
            <a:r>
              <a:rPr lang="en-US" altLang="en-US" sz="2000" b="1" dirty="0" err="1"/>
              <a:t>int</a:t>
            </a:r>
            <a:r>
              <a:rPr lang="en-US" altLang="en-US" sz="2000" b="1" dirty="0"/>
              <a:t>:</a:t>
            </a:r>
          </a:p>
          <a:p>
            <a:pPr lvl="0" eaLnBrk="0" fontAlgn="base" hangingPunct="0">
              <a:spcBef>
                <a:spcPct val="0"/>
              </a:spcBef>
              <a:spcAft>
                <a:spcPct val="0"/>
              </a:spcAft>
            </a:pPr>
            <a:r>
              <a:rPr lang="en-US" altLang="en-US" sz="2000" dirty="0"/>
              <a:t>The </a:t>
            </a:r>
            <a:r>
              <a:rPr lang="en-US" altLang="en-US" sz="2000" b="1" dirty="0" err="1"/>
              <a:t>int</a:t>
            </a:r>
            <a:r>
              <a:rPr lang="en-US" altLang="en-US" sz="2000" dirty="0"/>
              <a:t> type is used to store </a:t>
            </a:r>
            <a:r>
              <a:rPr lang="en-US" altLang="en-US" sz="2000" b="1" dirty="0"/>
              <a:t>whole numbers</a:t>
            </a:r>
            <a:r>
              <a:rPr lang="en-US" altLang="en-US" sz="2000" dirty="0"/>
              <a:t>, both </a:t>
            </a:r>
            <a:r>
              <a:rPr lang="en-US" altLang="en-US" sz="2000" b="1" dirty="0"/>
              <a:t>positive and negative</a:t>
            </a:r>
            <a:r>
              <a:rPr lang="en-US" altLang="en-US" sz="2000" dirty="0"/>
              <a:t>, that do </a:t>
            </a:r>
            <a:r>
              <a:rPr lang="en-US" altLang="en-US" sz="2000" b="1" dirty="0"/>
              <a:t>not contain decimal points</a:t>
            </a:r>
            <a:r>
              <a:rPr lang="en-US" altLang="en-US" sz="2000" dirty="0"/>
              <a:t>.</a:t>
            </a:r>
          </a:p>
          <a:p>
            <a:pPr lvl="0" eaLnBrk="0" fontAlgn="base" hangingPunct="0">
              <a:spcBef>
                <a:spcPct val="0"/>
              </a:spcBef>
              <a:spcAft>
                <a:spcPct val="0"/>
              </a:spcAft>
            </a:pPr>
            <a:br>
              <a:rPr lang="en-US" altLang="en-US" sz="2000" dirty="0"/>
            </a:br>
            <a:r>
              <a:rPr lang="en-US" altLang="en-US" sz="2000" dirty="0"/>
              <a:t>Integers are commonly used for counting, indexing, or working with quantities. </a:t>
            </a:r>
          </a:p>
        </p:txBody>
      </p:sp>
    </p:spTree>
    <p:extLst>
      <p:ext uri="{BB962C8B-B14F-4D97-AF65-F5344CB8AC3E}">
        <p14:creationId xmlns:p14="http://schemas.microsoft.com/office/powerpoint/2010/main" val="3452819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11</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5588203" cy="572700"/>
          </a:xfrm>
          <a:prstGeom prst="rect">
            <a:avLst/>
          </a:prstGeom>
        </p:spPr>
        <p:txBody>
          <a:bodyPr spcFirstLastPara="1" wrap="square" lIns="91425" tIns="91425" rIns="91425" bIns="91425" anchor="t" anchorCtr="0">
            <a:noAutofit/>
          </a:bodyPr>
          <a:lstStyle/>
          <a:p>
            <a:pPr lvl="0">
              <a:spcBef>
                <a:spcPts val="0"/>
              </a:spcBef>
            </a:pPr>
            <a:r>
              <a:rPr lang="en-US" dirty="0"/>
              <a:t>Dart </a:t>
            </a:r>
            <a:r>
              <a:rPr lang="en" dirty="0">
                <a:solidFill>
                  <a:srgbClr val="1E9E78"/>
                </a:solidFill>
              </a:rPr>
              <a:t>Data Types</a:t>
            </a:r>
            <a:endParaRPr lang="en-US" cap="none" dirty="0">
              <a:solidFill>
                <a:srgbClr val="1E9E78"/>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5" name="Rectangle 4"/>
          <p:cNvSpPr/>
          <p:nvPr/>
        </p:nvSpPr>
        <p:spPr>
          <a:xfrm>
            <a:off x="837236" y="1364576"/>
            <a:ext cx="9181664" cy="923330"/>
          </a:xfrm>
          <a:prstGeom prst="rect">
            <a:avLst/>
          </a:prstGeom>
        </p:spPr>
        <p:txBody>
          <a:bodyPr wrap="square">
            <a:spAutoFit/>
          </a:bodyPr>
          <a:lstStyle/>
          <a:p>
            <a:r>
              <a:rPr lang="en-US" b="1" dirty="0"/>
              <a:t>double:</a:t>
            </a:r>
          </a:p>
          <a:p>
            <a:r>
              <a:rPr lang="en-US" dirty="0"/>
              <a:t>The double type stores numbers with decimal points, also called floating-point numbers. It’s useful when you need precise or fractional values like measurements, prices, or percentages.</a:t>
            </a:r>
          </a:p>
        </p:txBody>
      </p:sp>
      <p:pic>
        <p:nvPicPr>
          <p:cNvPr id="3" name="Picture 2"/>
          <p:cNvPicPr>
            <a:picLocks noChangeAspect="1"/>
          </p:cNvPicPr>
          <p:nvPr/>
        </p:nvPicPr>
        <p:blipFill>
          <a:blip r:embed="rId4"/>
          <a:stretch>
            <a:fillRect/>
          </a:stretch>
        </p:blipFill>
        <p:spPr>
          <a:xfrm>
            <a:off x="6680775" y="2404133"/>
            <a:ext cx="4153113" cy="3683189"/>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73244415"/>
              </p:ext>
            </p:extLst>
          </p:nvPr>
        </p:nvGraphicFramePr>
        <p:xfrm>
          <a:off x="1506538" y="2988183"/>
          <a:ext cx="3734765" cy="2286000"/>
        </p:xfrm>
        <a:graphic>
          <a:graphicData uri="http://schemas.openxmlformats.org/drawingml/2006/table">
            <a:tbl>
              <a:tblPr firstRow="1" bandRow="1">
                <a:tableStyleId>{073A0DAA-6AF3-43AB-8588-CEC1D06C72B9}</a:tableStyleId>
              </a:tblPr>
              <a:tblGrid>
                <a:gridCol w="3734765">
                  <a:extLst>
                    <a:ext uri="{9D8B030D-6E8A-4147-A177-3AD203B41FA5}">
                      <a16:colId xmlns:a16="http://schemas.microsoft.com/office/drawing/2014/main" val="2366018037"/>
                    </a:ext>
                  </a:extLst>
                </a:gridCol>
              </a:tblGrid>
              <a:tr h="370840">
                <a:tc>
                  <a:txBody>
                    <a:bodyPr/>
                    <a:lstStyle/>
                    <a:p>
                      <a:r>
                        <a:rPr lang="en-US" sz="1800" b="0" kern="1200" dirty="0">
                          <a:solidFill>
                            <a:schemeClr val="lt1"/>
                          </a:solidFill>
                          <a:effectLst/>
                          <a:latin typeface="Consolas" panose="020B0609020204030204" pitchFamily="49" charset="0"/>
                          <a:ea typeface="+mn-ea"/>
                          <a:cs typeface="+mn-cs"/>
                        </a:rPr>
                        <a:t>void main() {</a:t>
                      </a:r>
                    </a:p>
                    <a:p>
                      <a:r>
                        <a:rPr lang="en-US" sz="1800" b="0" kern="1200" dirty="0">
                          <a:solidFill>
                            <a:schemeClr val="lt1"/>
                          </a:solidFill>
                          <a:effectLst/>
                          <a:latin typeface="Consolas" panose="020B0609020204030204" pitchFamily="49" charset="0"/>
                          <a:ea typeface="+mn-ea"/>
                          <a:cs typeface="+mn-cs"/>
                        </a:rPr>
                        <a:t>  double height = 5.9;</a:t>
                      </a:r>
                    </a:p>
                    <a:p>
                      <a:r>
                        <a:rPr lang="en-US" sz="1800" b="0" kern="1200" dirty="0">
                          <a:solidFill>
                            <a:schemeClr val="lt1"/>
                          </a:solidFill>
                          <a:effectLst/>
                          <a:latin typeface="Consolas" panose="020B0609020204030204" pitchFamily="49" charset="0"/>
                          <a:ea typeface="+mn-ea"/>
                          <a:cs typeface="+mn-cs"/>
                        </a:rPr>
                        <a:t>  double price = 99.99;</a:t>
                      </a:r>
                    </a:p>
                    <a:p>
                      <a:br>
                        <a:rPr lang="en-US" sz="1800" b="0" kern="1200" dirty="0">
                          <a:solidFill>
                            <a:schemeClr val="lt1"/>
                          </a:solidFill>
                          <a:effectLst/>
                          <a:latin typeface="Consolas" panose="020B0609020204030204" pitchFamily="49" charset="0"/>
                          <a:ea typeface="+mn-ea"/>
                          <a:cs typeface="+mn-cs"/>
                        </a:rPr>
                      </a:br>
                      <a:r>
                        <a:rPr lang="en-US" sz="1800" b="0" kern="1200" dirty="0">
                          <a:solidFill>
                            <a:schemeClr val="lt1"/>
                          </a:solidFill>
                          <a:effectLst/>
                          <a:latin typeface="Consolas" panose="020B0609020204030204" pitchFamily="49" charset="0"/>
                          <a:ea typeface="+mn-ea"/>
                          <a:cs typeface="+mn-cs"/>
                        </a:rPr>
                        <a:t>  print(height);</a:t>
                      </a:r>
                    </a:p>
                    <a:p>
                      <a:r>
                        <a:rPr lang="en-US" sz="1800" b="0" kern="1200" dirty="0">
                          <a:solidFill>
                            <a:schemeClr val="lt1"/>
                          </a:solidFill>
                          <a:effectLst/>
                          <a:latin typeface="Consolas" panose="020B0609020204030204" pitchFamily="49" charset="0"/>
                          <a:ea typeface="+mn-ea"/>
                          <a:cs typeface="+mn-cs"/>
                        </a:rPr>
                        <a:t>  print(price);</a:t>
                      </a:r>
                    </a:p>
                    <a:p>
                      <a:r>
                        <a:rPr lang="en-US" sz="1800" b="0" kern="1200" dirty="0">
                          <a:solidFill>
                            <a:schemeClr val="lt1"/>
                          </a:solidFill>
                          <a:effectLst/>
                          <a:latin typeface="Consolas" panose="020B0609020204030204" pitchFamily="49" charset="0"/>
                          <a:ea typeface="+mn-ea"/>
                          <a:cs typeface="+mn-cs"/>
                        </a:rPr>
                        <a:t>}</a:t>
                      </a:r>
                    </a:p>
                    <a:p>
                      <a:endParaRPr lang="en-US" dirty="0">
                        <a:latin typeface="Consolas" panose="020B0609020204030204" pitchFamily="49" charset="0"/>
                      </a:endParaRPr>
                    </a:p>
                  </a:txBody>
                  <a:tcPr/>
                </a:tc>
                <a:extLst>
                  <a:ext uri="{0D108BD9-81ED-4DB2-BD59-A6C34878D82A}">
                    <a16:rowId xmlns:a16="http://schemas.microsoft.com/office/drawing/2014/main" val="2262367089"/>
                  </a:ext>
                </a:extLst>
              </a:tr>
            </a:tbl>
          </a:graphicData>
        </a:graphic>
      </p:graphicFrame>
    </p:spTree>
    <p:extLst>
      <p:ext uri="{BB962C8B-B14F-4D97-AF65-F5344CB8AC3E}">
        <p14:creationId xmlns:p14="http://schemas.microsoft.com/office/powerpoint/2010/main" val="150144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12</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5588203" cy="572700"/>
          </a:xfrm>
          <a:prstGeom prst="rect">
            <a:avLst/>
          </a:prstGeom>
        </p:spPr>
        <p:txBody>
          <a:bodyPr spcFirstLastPara="1" wrap="square" lIns="91425" tIns="91425" rIns="91425" bIns="91425" anchor="t" anchorCtr="0">
            <a:noAutofit/>
          </a:bodyPr>
          <a:lstStyle/>
          <a:p>
            <a:pPr lvl="0">
              <a:spcBef>
                <a:spcPts val="0"/>
              </a:spcBef>
            </a:pPr>
            <a:r>
              <a:rPr lang="en-US" dirty="0"/>
              <a:t>Dart </a:t>
            </a:r>
            <a:r>
              <a:rPr lang="en" dirty="0">
                <a:solidFill>
                  <a:srgbClr val="1E9E78"/>
                </a:solidFill>
              </a:rPr>
              <a:t>Data Types</a:t>
            </a:r>
            <a:endParaRPr lang="en-US" cap="none" dirty="0">
              <a:solidFill>
                <a:srgbClr val="1E9E78"/>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5" name="Rectangle 4"/>
          <p:cNvSpPr/>
          <p:nvPr/>
        </p:nvSpPr>
        <p:spPr>
          <a:xfrm>
            <a:off x="837235" y="1151319"/>
            <a:ext cx="4634846" cy="1813317"/>
          </a:xfrm>
          <a:prstGeom prst="rect">
            <a:avLst/>
          </a:prstGeom>
        </p:spPr>
        <p:txBody>
          <a:bodyPr wrap="square">
            <a:spAutoFit/>
          </a:bodyPr>
          <a:lstStyle/>
          <a:p>
            <a:pPr marR="163195" lvl="0">
              <a:lnSpc>
                <a:spcPct val="115000"/>
              </a:lnSpc>
              <a:spcBef>
                <a:spcPts val="1000"/>
              </a:spcBef>
            </a:pPr>
            <a:r>
              <a:rPr lang="en-US" b="1" dirty="0" err="1">
                <a:solidFill>
                  <a:srgbClr val="2B3050"/>
                </a:solidFill>
                <a:latin typeface="Arial"/>
                <a:ea typeface="Arial"/>
                <a:cs typeface="Arial"/>
                <a:sym typeface="Arial"/>
              </a:rPr>
              <a:t>Num</a:t>
            </a:r>
            <a:endParaRPr lang="en-US" b="1" dirty="0">
              <a:solidFill>
                <a:srgbClr val="2B3050"/>
              </a:solidFill>
              <a:latin typeface="Arial"/>
              <a:ea typeface="Arial"/>
              <a:cs typeface="Arial"/>
              <a:sym typeface="Arial"/>
            </a:endParaRPr>
          </a:p>
          <a:p>
            <a:pPr marR="163195" lvl="0">
              <a:lnSpc>
                <a:spcPct val="115000"/>
              </a:lnSpc>
              <a:spcBef>
                <a:spcPts val="1000"/>
              </a:spcBef>
            </a:pPr>
            <a:r>
              <a:rPr lang="en-US" dirty="0">
                <a:solidFill>
                  <a:srgbClr val="2B3050"/>
                </a:solidFill>
                <a:latin typeface="Arial"/>
                <a:ea typeface="Arial"/>
                <a:cs typeface="Arial"/>
                <a:sym typeface="Arial"/>
              </a:rPr>
              <a:t>The </a:t>
            </a:r>
            <a:r>
              <a:rPr lang="en-US" b="1" dirty="0" err="1">
                <a:solidFill>
                  <a:srgbClr val="2B3050"/>
                </a:solidFill>
                <a:latin typeface="Arial"/>
                <a:ea typeface="Arial"/>
                <a:cs typeface="Arial"/>
                <a:sym typeface="Arial"/>
              </a:rPr>
              <a:t>num</a:t>
            </a:r>
            <a:r>
              <a:rPr lang="en-US" dirty="0">
                <a:solidFill>
                  <a:srgbClr val="2B3050"/>
                </a:solidFill>
                <a:latin typeface="Arial"/>
                <a:ea typeface="Arial"/>
                <a:cs typeface="Arial"/>
                <a:sym typeface="Arial"/>
              </a:rPr>
              <a:t> type can hold both integer </a:t>
            </a:r>
            <a:r>
              <a:rPr lang="en-US" b="1" dirty="0">
                <a:solidFill>
                  <a:srgbClr val="2B3050"/>
                </a:solidFill>
                <a:latin typeface="Arial"/>
                <a:ea typeface="Arial"/>
                <a:cs typeface="Arial"/>
                <a:sym typeface="Arial"/>
              </a:rPr>
              <a:t>(</a:t>
            </a:r>
            <a:r>
              <a:rPr lang="en-US" b="1" dirty="0" err="1">
                <a:solidFill>
                  <a:srgbClr val="2B3050"/>
                </a:solidFill>
                <a:latin typeface="Arial"/>
                <a:ea typeface="Arial"/>
                <a:cs typeface="Arial"/>
                <a:sym typeface="Arial"/>
              </a:rPr>
              <a:t>int</a:t>
            </a:r>
            <a:r>
              <a:rPr lang="en-US" b="1" dirty="0">
                <a:solidFill>
                  <a:srgbClr val="2B3050"/>
                </a:solidFill>
                <a:latin typeface="Arial"/>
                <a:ea typeface="Arial"/>
                <a:cs typeface="Arial"/>
                <a:sym typeface="Arial"/>
              </a:rPr>
              <a:t>) </a:t>
            </a:r>
            <a:r>
              <a:rPr lang="en-US" dirty="0">
                <a:solidFill>
                  <a:srgbClr val="2B3050"/>
                </a:solidFill>
                <a:latin typeface="Arial"/>
                <a:ea typeface="Arial"/>
                <a:cs typeface="Arial"/>
                <a:sym typeface="Arial"/>
              </a:rPr>
              <a:t>and decimal </a:t>
            </a:r>
            <a:r>
              <a:rPr lang="en-US" b="1" dirty="0">
                <a:solidFill>
                  <a:srgbClr val="2B3050"/>
                </a:solidFill>
                <a:latin typeface="Arial"/>
                <a:ea typeface="Arial"/>
                <a:cs typeface="Arial"/>
                <a:sym typeface="Arial"/>
              </a:rPr>
              <a:t>(double) </a:t>
            </a:r>
            <a:r>
              <a:rPr lang="en-US" dirty="0">
                <a:solidFill>
                  <a:srgbClr val="2B3050"/>
                </a:solidFill>
                <a:latin typeface="Arial"/>
                <a:ea typeface="Arial"/>
                <a:cs typeface="Arial"/>
                <a:sym typeface="Arial"/>
              </a:rPr>
              <a:t>values. It’s flexible when you don’t know whether your number will have decimals or not.</a:t>
            </a:r>
          </a:p>
        </p:txBody>
      </p:sp>
      <p:graphicFrame>
        <p:nvGraphicFramePr>
          <p:cNvPr id="9" name="Google Shape;278;p37"/>
          <p:cNvGraphicFramePr/>
          <p:nvPr>
            <p:extLst>
              <p:ext uri="{D42A27DB-BD31-4B8C-83A1-F6EECF244321}">
                <p14:modId xmlns:p14="http://schemas.microsoft.com/office/powerpoint/2010/main" val="3854123483"/>
              </p:ext>
            </p:extLst>
          </p:nvPr>
        </p:nvGraphicFramePr>
        <p:xfrm>
          <a:off x="5728800" y="1151319"/>
          <a:ext cx="4492550" cy="1537950"/>
        </p:xfrm>
        <a:graphic>
          <a:graphicData uri="http://schemas.openxmlformats.org/drawingml/2006/table">
            <a:tbl>
              <a:tblPr>
                <a:noFill/>
              </a:tblPr>
              <a:tblGrid>
                <a:gridCol w="991825">
                  <a:extLst>
                    <a:ext uri="{9D8B030D-6E8A-4147-A177-3AD203B41FA5}">
                      <a16:colId xmlns:a16="http://schemas.microsoft.com/office/drawing/2014/main" val="20000"/>
                    </a:ext>
                  </a:extLst>
                </a:gridCol>
                <a:gridCol w="3500725">
                  <a:extLst>
                    <a:ext uri="{9D8B030D-6E8A-4147-A177-3AD203B41FA5}">
                      <a16:colId xmlns:a16="http://schemas.microsoft.com/office/drawing/2014/main" val="20001"/>
                    </a:ext>
                  </a:extLst>
                </a:gridCol>
              </a:tblGrid>
              <a:tr h="381000">
                <a:tc>
                  <a:txBody>
                    <a:bodyPr/>
                    <a:lstStyle/>
                    <a:p>
                      <a:pPr marL="0" marR="0" lvl="0" indent="0" algn="ctr" rtl="0">
                        <a:lnSpc>
                          <a:spcPct val="100000"/>
                        </a:lnSpc>
                        <a:spcBef>
                          <a:spcPts val="0"/>
                        </a:spcBef>
                        <a:spcAft>
                          <a:spcPts val="0"/>
                        </a:spcAft>
                        <a:buNone/>
                      </a:pPr>
                      <a:r>
                        <a:rPr lang="en" sz="1200" u="none" strike="noStrike" cap="none">
                          <a:latin typeface="Arial"/>
                          <a:ea typeface="Arial"/>
                          <a:cs typeface="Arial"/>
                          <a:sym typeface="Arial"/>
                        </a:rPr>
                        <a:t>Data Type</a:t>
                      </a:r>
                      <a:endParaRPr sz="12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u="none" strike="noStrike" cap="none">
                          <a:latin typeface="Arial"/>
                          <a:ea typeface="Arial"/>
                          <a:cs typeface="Arial"/>
                          <a:sym typeface="Arial"/>
                        </a:rPr>
                        <a:t>Description</a:t>
                      </a:r>
                      <a:endParaRPr sz="12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None/>
                      </a:pPr>
                      <a:endParaRPr sz="12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 sz="1200" u="none" strike="noStrike" cap="none">
                          <a:latin typeface="Arial"/>
                          <a:ea typeface="Arial"/>
                          <a:cs typeface="Arial"/>
                          <a:sym typeface="Arial"/>
                        </a:rPr>
                        <a:t>Int</a:t>
                      </a:r>
                      <a:endParaRPr sz="1200" u="none" strike="noStrike" cap="none">
                        <a:latin typeface="Arial"/>
                        <a:ea typeface="Arial"/>
                        <a:cs typeface="Arial"/>
                        <a:sym typeface="Arial"/>
                      </a:endParaRPr>
                    </a:p>
                  </a:txBody>
                  <a:tcPr marL="0" marR="0" marT="374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50800" marR="0" lvl="0" indent="0" algn="l" rtl="0">
                        <a:lnSpc>
                          <a:spcPct val="100000"/>
                        </a:lnSpc>
                        <a:spcBef>
                          <a:spcPts val="0"/>
                        </a:spcBef>
                        <a:spcAft>
                          <a:spcPts val="0"/>
                        </a:spcAft>
                        <a:buNone/>
                      </a:pPr>
                      <a:r>
                        <a:rPr lang="en" sz="1200" u="none" strike="noStrike" cap="none">
                          <a:latin typeface="Arial"/>
                          <a:ea typeface="Arial"/>
                          <a:cs typeface="Arial"/>
                          <a:sym typeface="Arial"/>
                        </a:rPr>
                        <a:t>The integer data type is a 32-bit signed integer. It has values from</a:t>
                      </a:r>
                      <a:endParaRPr sz="1200" u="none" strike="noStrike" cap="none">
                        <a:latin typeface="Arial"/>
                        <a:ea typeface="Arial"/>
                        <a:cs typeface="Arial"/>
                        <a:sym typeface="Arial"/>
                      </a:endParaRPr>
                    </a:p>
                    <a:p>
                      <a:pPr marL="50800" marR="0" lvl="0" indent="0" algn="l" rtl="0">
                        <a:lnSpc>
                          <a:spcPct val="100000"/>
                        </a:lnSpc>
                        <a:spcBef>
                          <a:spcPts val="1000"/>
                        </a:spcBef>
                        <a:spcAft>
                          <a:spcPts val="0"/>
                        </a:spcAft>
                        <a:buNone/>
                      </a:pPr>
                      <a:r>
                        <a:rPr lang="en" sz="1200" u="none" strike="noStrike" cap="none">
                          <a:latin typeface="Arial"/>
                          <a:ea typeface="Arial"/>
                          <a:cs typeface="Arial"/>
                          <a:sym typeface="Arial"/>
                        </a:rPr>
                        <a:t>-2,147,483,648 to +2,147,483,647</a:t>
                      </a:r>
                      <a:endParaRPr sz="12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ctr" rtl="0">
                        <a:lnSpc>
                          <a:spcPct val="100000"/>
                        </a:lnSpc>
                        <a:spcBef>
                          <a:spcPts val="0"/>
                        </a:spcBef>
                        <a:spcAft>
                          <a:spcPts val="0"/>
                        </a:spcAft>
                        <a:buNone/>
                      </a:pPr>
                      <a:r>
                        <a:rPr lang="en" sz="1200" u="none" strike="noStrike" cap="none">
                          <a:latin typeface="Arial"/>
                          <a:ea typeface="Arial"/>
                          <a:cs typeface="Arial"/>
                          <a:sym typeface="Arial"/>
                        </a:rPr>
                        <a:t>Double</a:t>
                      </a:r>
                      <a:endParaRPr sz="12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50800" marR="0" lvl="0" indent="0" algn="l" rtl="0">
                        <a:lnSpc>
                          <a:spcPct val="100000"/>
                        </a:lnSpc>
                        <a:spcBef>
                          <a:spcPts val="0"/>
                        </a:spcBef>
                        <a:spcAft>
                          <a:spcPts val="0"/>
                        </a:spcAft>
                        <a:buNone/>
                      </a:pPr>
                      <a:r>
                        <a:rPr lang="en" sz="1200" u="none" strike="noStrike" cap="none" dirty="0">
                          <a:latin typeface="Arial"/>
                          <a:ea typeface="Arial"/>
                          <a:cs typeface="Arial"/>
                          <a:sym typeface="Arial"/>
                        </a:rPr>
                        <a:t>The double data type is a double-precision 64-bit floating point.</a:t>
                      </a:r>
                      <a:endParaRPr sz="12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 name="Picture 5"/>
          <p:cNvPicPr>
            <a:picLocks noChangeAspect="1"/>
          </p:cNvPicPr>
          <p:nvPr/>
        </p:nvPicPr>
        <p:blipFill>
          <a:blip r:embed="rId4"/>
          <a:stretch>
            <a:fillRect/>
          </a:stretch>
        </p:blipFill>
        <p:spPr>
          <a:xfrm>
            <a:off x="5728800" y="2793006"/>
            <a:ext cx="4076910" cy="3778444"/>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7" name="Table 6"/>
          <p:cNvGraphicFramePr>
            <a:graphicFrameLocks noGrp="1"/>
          </p:cNvGraphicFramePr>
          <p:nvPr>
            <p:extLst>
              <p:ext uri="{D42A27DB-BD31-4B8C-83A1-F6EECF244321}">
                <p14:modId xmlns:p14="http://schemas.microsoft.com/office/powerpoint/2010/main" val="959786554"/>
              </p:ext>
            </p:extLst>
          </p:nvPr>
        </p:nvGraphicFramePr>
        <p:xfrm>
          <a:off x="759382" y="3151782"/>
          <a:ext cx="4349946" cy="2286000"/>
        </p:xfrm>
        <a:graphic>
          <a:graphicData uri="http://schemas.openxmlformats.org/drawingml/2006/table">
            <a:tbl>
              <a:tblPr firstRow="1" bandRow="1">
                <a:tableStyleId>{073A0DAA-6AF3-43AB-8588-CEC1D06C72B9}</a:tableStyleId>
              </a:tblPr>
              <a:tblGrid>
                <a:gridCol w="4349946">
                  <a:extLst>
                    <a:ext uri="{9D8B030D-6E8A-4147-A177-3AD203B41FA5}">
                      <a16:colId xmlns:a16="http://schemas.microsoft.com/office/drawing/2014/main" val="2921271355"/>
                    </a:ext>
                  </a:extLst>
                </a:gridCol>
              </a:tblGrid>
              <a:tr h="370840">
                <a:tc>
                  <a:txBody>
                    <a:bodyPr/>
                    <a:lstStyle/>
                    <a:p>
                      <a:r>
                        <a:rPr lang="en-US" sz="1800" b="0" kern="1200" dirty="0">
                          <a:solidFill>
                            <a:schemeClr val="lt1"/>
                          </a:solidFill>
                          <a:effectLst/>
                          <a:latin typeface="+mn-lt"/>
                          <a:ea typeface="+mn-ea"/>
                          <a:cs typeface="+mn-cs"/>
                        </a:rPr>
                        <a:t>void main() {</a:t>
                      </a:r>
                    </a:p>
                    <a:p>
                      <a:r>
                        <a:rPr lang="en-US" sz="1800" b="0" kern="1200" dirty="0">
                          <a:solidFill>
                            <a:schemeClr val="lt1"/>
                          </a:solidFill>
                          <a:effectLst/>
                          <a:latin typeface="+mn-lt"/>
                          <a:ea typeface="+mn-ea"/>
                          <a:cs typeface="+mn-cs"/>
                        </a:rPr>
                        <a:t>  </a:t>
                      </a:r>
                      <a:r>
                        <a:rPr lang="en-US" sz="1800" b="0" kern="1200" dirty="0" err="1">
                          <a:solidFill>
                            <a:schemeClr val="lt1"/>
                          </a:solidFill>
                          <a:effectLst/>
                          <a:latin typeface="+mn-lt"/>
                          <a:ea typeface="+mn-ea"/>
                          <a:cs typeface="+mn-cs"/>
                        </a:rPr>
                        <a:t>num</a:t>
                      </a:r>
                      <a:r>
                        <a:rPr lang="en-US" sz="1800" b="0" kern="1200" dirty="0">
                          <a:solidFill>
                            <a:schemeClr val="lt1"/>
                          </a:solidFill>
                          <a:effectLst/>
                          <a:latin typeface="+mn-lt"/>
                          <a:ea typeface="+mn-ea"/>
                          <a:cs typeface="+mn-cs"/>
                        </a:rPr>
                        <a:t> value = 10;  </a:t>
                      </a:r>
                    </a:p>
                    <a:p>
                      <a:r>
                        <a:rPr lang="en-US" sz="1800" b="0" kern="1200" dirty="0">
                          <a:solidFill>
                            <a:schemeClr val="lt1"/>
                          </a:solidFill>
                          <a:effectLst/>
                          <a:latin typeface="+mn-lt"/>
                          <a:ea typeface="+mn-ea"/>
                          <a:cs typeface="+mn-cs"/>
                        </a:rPr>
                        <a:t>  print(value);</a:t>
                      </a:r>
                    </a:p>
                    <a:p>
                      <a:br>
                        <a:rPr lang="en-US" sz="1800" b="0" kern="1200" dirty="0">
                          <a:solidFill>
                            <a:schemeClr val="lt1"/>
                          </a:solidFill>
                          <a:effectLst/>
                          <a:latin typeface="+mn-lt"/>
                          <a:ea typeface="+mn-ea"/>
                          <a:cs typeface="+mn-cs"/>
                        </a:rPr>
                      </a:br>
                      <a:r>
                        <a:rPr lang="en-US" sz="1800" b="0" kern="1200" dirty="0">
                          <a:solidFill>
                            <a:schemeClr val="lt1"/>
                          </a:solidFill>
                          <a:effectLst/>
                          <a:latin typeface="+mn-lt"/>
                          <a:ea typeface="+mn-ea"/>
                          <a:cs typeface="+mn-cs"/>
                        </a:rPr>
                        <a:t>  value = 10.5;</a:t>
                      </a:r>
                    </a:p>
                    <a:p>
                      <a:r>
                        <a:rPr lang="en-US" sz="1800" b="0" kern="1200" dirty="0">
                          <a:solidFill>
                            <a:schemeClr val="lt1"/>
                          </a:solidFill>
                          <a:effectLst/>
                          <a:latin typeface="+mn-lt"/>
                          <a:ea typeface="+mn-ea"/>
                          <a:cs typeface="+mn-cs"/>
                        </a:rPr>
                        <a:t>  print(value);</a:t>
                      </a:r>
                    </a:p>
                    <a:p>
                      <a:r>
                        <a:rPr lang="en-US" sz="1800" b="0" kern="1200" dirty="0">
                          <a:solidFill>
                            <a:schemeClr val="lt1"/>
                          </a:solidFill>
                          <a:effectLst/>
                          <a:latin typeface="+mn-lt"/>
                          <a:ea typeface="+mn-ea"/>
                          <a:cs typeface="+mn-cs"/>
                        </a:rPr>
                        <a:t>}</a:t>
                      </a:r>
                    </a:p>
                    <a:p>
                      <a:endParaRPr lang="en-US" dirty="0"/>
                    </a:p>
                  </a:txBody>
                  <a:tcPr/>
                </a:tc>
                <a:extLst>
                  <a:ext uri="{0D108BD9-81ED-4DB2-BD59-A6C34878D82A}">
                    <a16:rowId xmlns:a16="http://schemas.microsoft.com/office/drawing/2014/main" val="2754173748"/>
                  </a:ext>
                </a:extLst>
              </a:tr>
            </a:tbl>
          </a:graphicData>
        </a:graphic>
      </p:graphicFrame>
    </p:spTree>
    <p:extLst>
      <p:ext uri="{BB962C8B-B14F-4D97-AF65-F5344CB8AC3E}">
        <p14:creationId xmlns:p14="http://schemas.microsoft.com/office/powerpoint/2010/main" val="482380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13</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5588203" cy="572700"/>
          </a:xfrm>
          <a:prstGeom prst="rect">
            <a:avLst/>
          </a:prstGeom>
        </p:spPr>
        <p:txBody>
          <a:bodyPr spcFirstLastPara="1" wrap="square" lIns="91425" tIns="91425" rIns="91425" bIns="91425" anchor="t" anchorCtr="0">
            <a:noAutofit/>
          </a:bodyPr>
          <a:lstStyle/>
          <a:p>
            <a:pPr lvl="0">
              <a:spcBef>
                <a:spcPts val="0"/>
              </a:spcBef>
            </a:pPr>
            <a:r>
              <a:rPr lang="en-US" dirty="0"/>
              <a:t>Dart </a:t>
            </a:r>
            <a:r>
              <a:rPr lang="en" dirty="0">
                <a:solidFill>
                  <a:srgbClr val="1E9E78"/>
                </a:solidFill>
              </a:rPr>
              <a:t>Data Types</a:t>
            </a:r>
            <a:endParaRPr lang="en-US" cap="none" dirty="0">
              <a:solidFill>
                <a:srgbClr val="1E9E78"/>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5" name="Rectangle 4"/>
          <p:cNvSpPr/>
          <p:nvPr/>
        </p:nvSpPr>
        <p:spPr>
          <a:xfrm>
            <a:off x="837234" y="1151319"/>
            <a:ext cx="9074021" cy="1477328"/>
          </a:xfrm>
          <a:prstGeom prst="rect">
            <a:avLst/>
          </a:prstGeom>
        </p:spPr>
        <p:txBody>
          <a:bodyPr wrap="square">
            <a:spAutoFit/>
          </a:bodyPr>
          <a:lstStyle/>
          <a:p>
            <a:r>
              <a:rPr lang="en-US" b="1" dirty="0"/>
              <a:t>String</a:t>
            </a:r>
          </a:p>
          <a:p>
            <a:r>
              <a:rPr lang="en-US" dirty="0"/>
              <a:t>The String type represents a sequence of characters — letters, numbers, or symbols. It is used for storing text such as names, messages, or any readable information. Strings are enclosed in </a:t>
            </a:r>
            <a:r>
              <a:rPr lang="en-US" b="1" dirty="0"/>
              <a:t>single (' ')</a:t>
            </a:r>
            <a:r>
              <a:rPr lang="en-US" dirty="0"/>
              <a:t> or </a:t>
            </a:r>
            <a:r>
              <a:rPr lang="en-US" b="1" dirty="0"/>
              <a:t>double (" ")</a:t>
            </a:r>
            <a:r>
              <a:rPr lang="en-US" dirty="0"/>
              <a:t> quotes.</a:t>
            </a:r>
            <a:br>
              <a:rPr lang="en-US" dirty="0"/>
            </a:br>
            <a:r>
              <a:rPr lang="en-US" b="1" dirty="0"/>
              <a:t>Example:</a:t>
            </a:r>
            <a:endParaRPr lang="en-US" dirty="0"/>
          </a:p>
        </p:txBody>
      </p:sp>
      <p:pic>
        <p:nvPicPr>
          <p:cNvPr id="3" name="Picture 2"/>
          <p:cNvPicPr>
            <a:picLocks noChangeAspect="1"/>
          </p:cNvPicPr>
          <p:nvPr/>
        </p:nvPicPr>
        <p:blipFill>
          <a:blip r:embed="rId4"/>
          <a:stretch>
            <a:fillRect/>
          </a:stretch>
        </p:blipFill>
        <p:spPr>
          <a:xfrm>
            <a:off x="5022569" y="3000774"/>
            <a:ext cx="4762745" cy="3606985"/>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4" name="Table 3"/>
          <p:cNvGraphicFramePr>
            <a:graphicFrameLocks noGrp="1"/>
          </p:cNvGraphicFramePr>
          <p:nvPr>
            <p:extLst>
              <p:ext uri="{D42A27DB-BD31-4B8C-83A1-F6EECF244321}">
                <p14:modId xmlns:p14="http://schemas.microsoft.com/office/powerpoint/2010/main" val="2671570421"/>
              </p:ext>
            </p:extLst>
          </p:nvPr>
        </p:nvGraphicFramePr>
        <p:xfrm>
          <a:off x="437841" y="3524106"/>
          <a:ext cx="3998717" cy="2560320"/>
        </p:xfrm>
        <a:graphic>
          <a:graphicData uri="http://schemas.openxmlformats.org/drawingml/2006/table">
            <a:tbl>
              <a:tblPr firstRow="1" bandRow="1">
                <a:tableStyleId>{073A0DAA-6AF3-43AB-8588-CEC1D06C72B9}</a:tableStyleId>
              </a:tblPr>
              <a:tblGrid>
                <a:gridCol w="3998717">
                  <a:extLst>
                    <a:ext uri="{9D8B030D-6E8A-4147-A177-3AD203B41FA5}">
                      <a16:colId xmlns:a16="http://schemas.microsoft.com/office/drawing/2014/main" val="2648323684"/>
                    </a:ext>
                  </a:extLst>
                </a:gridCol>
              </a:tblGrid>
              <a:tr h="370840">
                <a:tc>
                  <a:txBody>
                    <a:bodyPr/>
                    <a:lstStyle/>
                    <a:p>
                      <a:r>
                        <a:rPr lang="en-US" sz="1800" b="0" kern="1200" dirty="0">
                          <a:solidFill>
                            <a:schemeClr val="lt1"/>
                          </a:solidFill>
                          <a:effectLst/>
                          <a:latin typeface="+mn-lt"/>
                          <a:ea typeface="+mn-ea"/>
                          <a:cs typeface="+mn-cs"/>
                        </a:rPr>
                        <a:t>void main() {</a:t>
                      </a:r>
                    </a:p>
                    <a:p>
                      <a:r>
                        <a:rPr lang="en-US" sz="1800" b="0" kern="1200" dirty="0">
                          <a:solidFill>
                            <a:schemeClr val="lt1"/>
                          </a:solidFill>
                          <a:effectLst/>
                          <a:latin typeface="+mn-lt"/>
                          <a:ea typeface="+mn-ea"/>
                          <a:cs typeface="+mn-cs"/>
                        </a:rPr>
                        <a:t>  String name = '</a:t>
                      </a:r>
                      <a:r>
                        <a:rPr lang="en-US" sz="1800" b="0" kern="1200" dirty="0" err="1">
                          <a:solidFill>
                            <a:schemeClr val="lt1"/>
                          </a:solidFill>
                          <a:effectLst/>
                          <a:latin typeface="+mn-lt"/>
                          <a:ea typeface="+mn-ea"/>
                          <a:cs typeface="+mn-cs"/>
                        </a:rPr>
                        <a:t>Jhon</a:t>
                      </a:r>
                      <a:r>
                        <a:rPr lang="en-US" sz="1800" b="0" kern="1200" dirty="0">
                          <a:solidFill>
                            <a:schemeClr val="lt1"/>
                          </a:solidFill>
                          <a:effectLst/>
                          <a:latin typeface="+mn-lt"/>
                          <a:ea typeface="+mn-ea"/>
                          <a:cs typeface="+mn-cs"/>
                        </a:rPr>
                        <a:t>';</a:t>
                      </a:r>
                    </a:p>
                    <a:p>
                      <a:r>
                        <a:rPr lang="en-US" sz="1800" b="0" kern="1200" dirty="0">
                          <a:solidFill>
                            <a:schemeClr val="lt1"/>
                          </a:solidFill>
                          <a:effectLst/>
                          <a:latin typeface="+mn-lt"/>
                          <a:ea typeface="+mn-ea"/>
                          <a:cs typeface="+mn-cs"/>
                        </a:rPr>
                        <a:t>  String greeting = "Hello, Dart!";</a:t>
                      </a:r>
                    </a:p>
                    <a:p>
                      <a:br>
                        <a:rPr lang="en-US" sz="1800" b="0" kern="1200" dirty="0">
                          <a:solidFill>
                            <a:schemeClr val="lt1"/>
                          </a:solidFill>
                          <a:effectLst/>
                          <a:latin typeface="+mn-lt"/>
                          <a:ea typeface="+mn-ea"/>
                          <a:cs typeface="+mn-cs"/>
                        </a:rPr>
                      </a:br>
                      <a:br>
                        <a:rPr lang="en-US" sz="1800" b="0" kern="1200" dirty="0">
                          <a:solidFill>
                            <a:schemeClr val="lt1"/>
                          </a:solidFill>
                          <a:effectLst/>
                          <a:latin typeface="+mn-lt"/>
                          <a:ea typeface="+mn-ea"/>
                          <a:cs typeface="+mn-cs"/>
                        </a:rPr>
                      </a:br>
                      <a:r>
                        <a:rPr lang="en-US" sz="1800" b="0" kern="1200" dirty="0">
                          <a:solidFill>
                            <a:schemeClr val="lt1"/>
                          </a:solidFill>
                          <a:effectLst/>
                          <a:latin typeface="+mn-lt"/>
                          <a:ea typeface="+mn-ea"/>
                          <a:cs typeface="+mn-cs"/>
                        </a:rPr>
                        <a:t>  print(greeting);</a:t>
                      </a:r>
                    </a:p>
                    <a:p>
                      <a:r>
                        <a:rPr lang="en-US" sz="1800" b="0" kern="1200" dirty="0">
                          <a:solidFill>
                            <a:schemeClr val="lt1"/>
                          </a:solidFill>
                          <a:effectLst/>
                          <a:latin typeface="+mn-lt"/>
                          <a:ea typeface="+mn-ea"/>
                          <a:cs typeface="+mn-cs"/>
                        </a:rPr>
                        <a:t>  print('My name is $name');</a:t>
                      </a:r>
                    </a:p>
                    <a:p>
                      <a:r>
                        <a:rPr lang="en-US" sz="1800" b="0" kern="1200" dirty="0">
                          <a:solidFill>
                            <a:schemeClr val="lt1"/>
                          </a:solidFill>
                          <a:effectLst/>
                          <a:latin typeface="+mn-lt"/>
                          <a:ea typeface="+mn-ea"/>
                          <a:cs typeface="+mn-cs"/>
                        </a:rPr>
                        <a:t>}</a:t>
                      </a:r>
                    </a:p>
                    <a:p>
                      <a:endParaRPr lang="en-US" dirty="0"/>
                    </a:p>
                  </a:txBody>
                  <a:tcPr/>
                </a:tc>
                <a:extLst>
                  <a:ext uri="{0D108BD9-81ED-4DB2-BD59-A6C34878D82A}">
                    <a16:rowId xmlns:a16="http://schemas.microsoft.com/office/drawing/2014/main" val="425366756"/>
                  </a:ext>
                </a:extLst>
              </a:tr>
            </a:tbl>
          </a:graphicData>
        </a:graphic>
      </p:graphicFrame>
    </p:spTree>
    <p:extLst>
      <p:ext uri="{BB962C8B-B14F-4D97-AF65-F5344CB8AC3E}">
        <p14:creationId xmlns:p14="http://schemas.microsoft.com/office/powerpoint/2010/main" val="1557631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14</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5588203" cy="572700"/>
          </a:xfrm>
          <a:prstGeom prst="rect">
            <a:avLst/>
          </a:prstGeom>
        </p:spPr>
        <p:txBody>
          <a:bodyPr spcFirstLastPara="1" wrap="square" lIns="91425" tIns="91425" rIns="91425" bIns="91425" anchor="t" anchorCtr="0">
            <a:noAutofit/>
          </a:bodyPr>
          <a:lstStyle/>
          <a:p>
            <a:pPr lvl="0">
              <a:spcBef>
                <a:spcPts val="0"/>
              </a:spcBef>
            </a:pPr>
            <a:r>
              <a:rPr lang="en-US" dirty="0"/>
              <a:t>Dart </a:t>
            </a:r>
            <a:r>
              <a:rPr lang="en" dirty="0">
                <a:solidFill>
                  <a:srgbClr val="1E9E78"/>
                </a:solidFill>
              </a:rPr>
              <a:t>Data Types</a:t>
            </a:r>
            <a:endParaRPr lang="en-US" cap="none" dirty="0">
              <a:solidFill>
                <a:srgbClr val="1E9E78"/>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5" name="Rectangle 4"/>
          <p:cNvSpPr/>
          <p:nvPr/>
        </p:nvSpPr>
        <p:spPr>
          <a:xfrm>
            <a:off x="837234" y="1151319"/>
            <a:ext cx="9692506" cy="1477328"/>
          </a:xfrm>
          <a:prstGeom prst="rect">
            <a:avLst/>
          </a:prstGeom>
        </p:spPr>
        <p:txBody>
          <a:bodyPr wrap="square">
            <a:spAutoFit/>
          </a:bodyPr>
          <a:lstStyle/>
          <a:p>
            <a:r>
              <a:rPr lang="en-US" b="1" dirty="0"/>
              <a:t>bool (Boolean)</a:t>
            </a:r>
          </a:p>
          <a:p>
            <a:pPr lvl="0"/>
            <a:r>
              <a:rPr lang="en-US" dirty="0"/>
              <a:t>Stores only </a:t>
            </a:r>
            <a:r>
              <a:rPr lang="en-US" b="1" dirty="0"/>
              <a:t>true</a:t>
            </a:r>
            <a:r>
              <a:rPr lang="en-US" dirty="0"/>
              <a:t> or </a:t>
            </a:r>
            <a:r>
              <a:rPr lang="en-US" b="1" dirty="0"/>
              <a:t>false</a:t>
            </a:r>
            <a:r>
              <a:rPr lang="en-US" dirty="0"/>
              <a:t> values. </a:t>
            </a:r>
            <a:r>
              <a:rPr lang="en-US" dirty="0">
                <a:solidFill>
                  <a:srgbClr val="2B3050"/>
                </a:solidFill>
                <a:ea typeface="Arial"/>
                <a:cs typeface="Arial"/>
                <a:sym typeface="Arial"/>
              </a:rPr>
              <a:t>A Boolean data type has two possible values; either true or false. Booleans are used in decision making statements which you can control in the program work flow.</a:t>
            </a:r>
          </a:p>
          <a:p>
            <a:br>
              <a:rPr lang="en-US" dirty="0"/>
            </a:br>
            <a:r>
              <a:rPr lang="en-US" b="1" dirty="0"/>
              <a:t>Example: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651498070"/>
              </p:ext>
            </p:extLst>
          </p:nvPr>
        </p:nvGraphicFramePr>
        <p:xfrm>
          <a:off x="837234" y="2846422"/>
          <a:ext cx="3998717" cy="2011680"/>
        </p:xfrm>
        <a:graphic>
          <a:graphicData uri="http://schemas.openxmlformats.org/drawingml/2006/table">
            <a:tbl>
              <a:tblPr firstRow="1" bandRow="1">
                <a:tableStyleId>{073A0DAA-6AF3-43AB-8588-CEC1D06C72B9}</a:tableStyleId>
              </a:tblPr>
              <a:tblGrid>
                <a:gridCol w="3998717">
                  <a:extLst>
                    <a:ext uri="{9D8B030D-6E8A-4147-A177-3AD203B41FA5}">
                      <a16:colId xmlns:a16="http://schemas.microsoft.com/office/drawing/2014/main" val="2648323684"/>
                    </a:ext>
                  </a:extLst>
                </a:gridCol>
              </a:tblGrid>
              <a:tr h="370840">
                <a:tc>
                  <a:txBody>
                    <a:bodyPr/>
                    <a:lstStyle/>
                    <a:p>
                      <a:r>
                        <a:rPr lang="en-US" sz="1800" b="0" kern="1200" dirty="0">
                          <a:solidFill>
                            <a:schemeClr val="lt1"/>
                          </a:solidFill>
                          <a:effectLst/>
                          <a:latin typeface="+mn-lt"/>
                          <a:ea typeface="+mn-ea"/>
                          <a:cs typeface="+mn-cs"/>
                        </a:rPr>
                        <a:t>void main() {</a:t>
                      </a:r>
                    </a:p>
                    <a:p>
                      <a:r>
                        <a:rPr lang="en-US" sz="1800" b="0" kern="1200" dirty="0">
                          <a:solidFill>
                            <a:schemeClr val="lt1"/>
                          </a:solidFill>
                          <a:effectLst/>
                          <a:latin typeface="+mn-lt"/>
                          <a:ea typeface="+mn-ea"/>
                          <a:cs typeface="+mn-cs"/>
                        </a:rPr>
                        <a:t>  bool </a:t>
                      </a:r>
                      <a:r>
                        <a:rPr lang="en-US" sz="1800" b="0" kern="1200" dirty="0" err="1">
                          <a:solidFill>
                            <a:schemeClr val="lt1"/>
                          </a:solidFill>
                          <a:effectLst/>
                          <a:latin typeface="+mn-lt"/>
                          <a:ea typeface="+mn-ea"/>
                          <a:cs typeface="+mn-cs"/>
                        </a:rPr>
                        <a:t>isStudent</a:t>
                      </a:r>
                      <a:r>
                        <a:rPr lang="en-US" sz="1800" b="0" kern="1200" dirty="0">
                          <a:solidFill>
                            <a:schemeClr val="lt1"/>
                          </a:solidFill>
                          <a:effectLst/>
                          <a:latin typeface="+mn-lt"/>
                          <a:ea typeface="+mn-ea"/>
                          <a:cs typeface="+mn-cs"/>
                        </a:rPr>
                        <a:t> = true;</a:t>
                      </a:r>
                    </a:p>
                    <a:p>
                      <a:r>
                        <a:rPr lang="en-US" sz="1800" b="0" kern="1200" dirty="0">
                          <a:solidFill>
                            <a:schemeClr val="lt1"/>
                          </a:solidFill>
                          <a:effectLst/>
                          <a:latin typeface="+mn-lt"/>
                          <a:ea typeface="+mn-ea"/>
                          <a:cs typeface="+mn-cs"/>
                        </a:rPr>
                        <a:t>  bool </a:t>
                      </a:r>
                      <a:r>
                        <a:rPr lang="en-US" sz="1800" b="0" kern="1200" dirty="0" err="1">
                          <a:solidFill>
                            <a:schemeClr val="lt1"/>
                          </a:solidFill>
                          <a:effectLst/>
                          <a:latin typeface="+mn-lt"/>
                          <a:ea typeface="+mn-ea"/>
                          <a:cs typeface="+mn-cs"/>
                        </a:rPr>
                        <a:t>isOnline</a:t>
                      </a:r>
                      <a:r>
                        <a:rPr lang="en-US" sz="1800" b="0" kern="1200" dirty="0">
                          <a:solidFill>
                            <a:schemeClr val="lt1"/>
                          </a:solidFill>
                          <a:effectLst/>
                          <a:latin typeface="+mn-lt"/>
                          <a:ea typeface="+mn-ea"/>
                          <a:cs typeface="+mn-cs"/>
                        </a:rPr>
                        <a:t> = false;</a:t>
                      </a:r>
                    </a:p>
                    <a:p>
                      <a:br>
                        <a:rPr lang="en-US" sz="1800" b="0" kern="1200" dirty="0">
                          <a:solidFill>
                            <a:schemeClr val="lt1"/>
                          </a:solidFill>
                          <a:effectLst/>
                          <a:latin typeface="+mn-lt"/>
                          <a:ea typeface="+mn-ea"/>
                          <a:cs typeface="+mn-cs"/>
                        </a:rPr>
                      </a:br>
                      <a:r>
                        <a:rPr lang="en-US" sz="1800" b="0" kern="1200" dirty="0">
                          <a:solidFill>
                            <a:schemeClr val="lt1"/>
                          </a:solidFill>
                          <a:effectLst/>
                          <a:latin typeface="+mn-lt"/>
                          <a:ea typeface="+mn-ea"/>
                          <a:cs typeface="+mn-cs"/>
                        </a:rPr>
                        <a:t>  print(</a:t>
                      </a:r>
                      <a:r>
                        <a:rPr lang="en-US" sz="1800" b="0" kern="1200" dirty="0" err="1">
                          <a:solidFill>
                            <a:schemeClr val="lt1"/>
                          </a:solidFill>
                          <a:effectLst/>
                          <a:latin typeface="+mn-lt"/>
                          <a:ea typeface="+mn-ea"/>
                          <a:cs typeface="+mn-cs"/>
                        </a:rPr>
                        <a:t>isStudent</a:t>
                      </a:r>
                      <a:r>
                        <a:rPr lang="en-US" sz="1800" b="0" kern="1200" dirty="0">
                          <a:solidFill>
                            <a:schemeClr val="lt1"/>
                          </a:solidFill>
                          <a:effectLst/>
                          <a:latin typeface="+mn-lt"/>
                          <a:ea typeface="+mn-ea"/>
                          <a:cs typeface="+mn-cs"/>
                        </a:rPr>
                        <a:t>);</a:t>
                      </a:r>
                    </a:p>
                    <a:p>
                      <a:r>
                        <a:rPr lang="en-US" sz="1800" b="0" kern="1200" dirty="0">
                          <a:solidFill>
                            <a:schemeClr val="lt1"/>
                          </a:solidFill>
                          <a:effectLst/>
                          <a:latin typeface="+mn-lt"/>
                          <a:ea typeface="+mn-ea"/>
                          <a:cs typeface="+mn-cs"/>
                        </a:rPr>
                        <a:t>  print(</a:t>
                      </a:r>
                      <a:r>
                        <a:rPr lang="en-US" sz="1800" b="0" kern="1200" dirty="0" err="1">
                          <a:solidFill>
                            <a:schemeClr val="lt1"/>
                          </a:solidFill>
                          <a:effectLst/>
                          <a:latin typeface="+mn-lt"/>
                          <a:ea typeface="+mn-ea"/>
                          <a:cs typeface="+mn-cs"/>
                        </a:rPr>
                        <a:t>isOnline</a:t>
                      </a:r>
                      <a:r>
                        <a:rPr lang="en-US" sz="1800" b="0" kern="1200" dirty="0">
                          <a:solidFill>
                            <a:schemeClr val="lt1"/>
                          </a:solidFill>
                          <a:effectLst/>
                          <a:latin typeface="+mn-lt"/>
                          <a:ea typeface="+mn-ea"/>
                          <a:cs typeface="+mn-cs"/>
                        </a:rPr>
                        <a:t>);</a:t>
                      </a:r>
                    </a:p>
                    <a:p>
                      <a:r>
                        <a:rPr lang="en-US" sz="1800" b="0" kern="1200" dirty="0">
                          <a:solidFill>
                            <a:schemeClr val="lt1"/>
                          </a:solidFill>
                          <a:effectLst/>
                          <a:latin typeface="+mn-lt"/>
                          <a:ea typeface="+mn-ea"/>
                          <a:cs typeface="+mn-cs"/>
                        </a:rPr>
                        <a:t>}</a:t>
                      </a:r>
                    </a:p>
                  </a:txBody>
                  <a:tcPr/>
                </a:tc>
                <a:extLst>
                  <a:ext uri="{0D108BD9-81ED-4DB2-BD59-A6C34878D82A}">
                    <a16:rowId xmlns:a16="http://schemas.microsoft.com/office/drawing/2014/main" val="425366756"/>
                  </a:ext>
                </a:extLst>
              </a:tr>
            </a:tbl>
          </a:graphicData>
        </a:graphic>
      </p:graphicFrame>
      <p:pic>
        <p:nvPicPr>
          <p:cNvPr id="6" name="Picture 5"/>
          <p:cNvPicPr>
            <a:picLocks noChangeAspect="1"/>
          </p:cNvPicPr>
          <p:nvPr/>
        </p:nvPicPr>
        <p:blipFill>
          <a:blip r:embed="rId4"/>
          <a:stretch>
            <a:fillRect/>
          </a:stretch>
        </p:blipFill>
        <p:spPr>
          <a:xfrm>
            <a:off x="5427328" y="2378763"/>
            <a:ext cx="4730993" cy="3778444"/>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4364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15</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5588203" cy="572700"/>
          </a:xfrm>
          <a:prstGeom prst="rect">
            <a:avLst/>
          </a:prstGeom>
        </p:spPr>
        <p:txBody>
          <a:bodyPr spcFirstLastPara="1" wrap="square" lIns="91425" tIns="91425" rIns="91425" bIns="91425" anchor="t" anchorCtr="0">
            <a:noAutofit/>
          </a:bodyPr>
          <a:lstStyle/>
          <a:p>
            <a:pPr lvl="0">
              <a:spcBef>
                <a:spcPts val="0"/>
              </a:spcBef>
            </a:pPr>
            <a:r>
              <a:rPr lang="en-US" dirty="0"/>
              <a:t>Dart </a:t>
            </a:r>
            <a:r>
              <a:rPr lang="en" dirty="0">
                <a:solidFill>
                  <a:srgbClr val="1E9E78"/>
                </a:solidFill>
              </a:rPr>
              <a:t>Data Types</a:t>
            </a:r>
            <a:endParaRPr lang="en-US" cap="none" dirty="0">
              <a:solidFill>
                <a:srgbClr val="1E9E78"/>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5" name="Rectangle 4"/>
          <p:cNvSpPr/>
          <p:nvPr/>
        </p:nvSpPr>
        <p:spPr>
          <a:xfrm>
            <a:off x="837234" y="1151319"/>
            <a:ext cx="9095042" cy="2578655"/>
          </a:xfrm>
          <a:prstGeom prst="rect">
            <a:avLst/>
          </a:prstGeom>
        </p:spPr>
        <p:txBody>
          <a:bodyPr wrap="square">
            <a:spAutoFit/>
          </a:bodyPr>
          <a:lstStyle/>
          <a:p>
            <a:pPr marR="163195" lvl="0">
              <a:lnSpc>
                <a:spcPct val="115000"/>
              </a:lnSpc>
              <a:spcBef>
                <a:spcPts val="1000"/>
              </a:spcBef>
            </a:pPr>
            <a:r>
              <a:rPr lang="en-US" b="1" dirty="0">
                <a:solidFill>
                  <a:srgbClr val="2B3050"/>
                </a:solidFill>
                <a:ea typeface="Arial"/>
                <a:cs typeface="Arial"/>
                <a:sym typeface="Arial"/>
              </a:rPr>
              <a:t>List</a:t>
            </a:r>
          </a:p>
          <a:p>
            <a:pPr marR="163195" lvl="0">
              <a:lnSpc>
                <a:spcPct val="115000"/>
              </a:lnSpc>
              <a:spcBef>
                <a:spcPts val="1000"/>
              </a:spcBef>
            </a:pPr>
            <a:r>
              <a:rPr lang="en-US" dirty="0">
                <a:solidFill>
                  <a:srgbClr val="2B3050"/>
                </a:solidFill>
                <a:ea typeface="Arial"/>
                <a:cs typeface="Arial"/>
                <a:sym typeface="Arial"/>
              </a:rPr>
              <a:t>A very commonly used collection in programming is an array. Dart represents arrays in the form of List objects. If you want to store a large number of data items for the same variable, you need to use the list. A list is used to store a group of values, all of which have the same data type.</a:t>
            </a:r>
          </a:p>
          <a:p>
            <a:pPr marR="163195" lvl="0">
              <a:lnSpc>
                <a:spcPct val="115000"/>
              </a:lnSpc>
              <a:spcBef>
                <a:spcPts val="1000"/>
              </a:spcBef>
            </a:pPr>
            <a:r>
              <a:rPr lang="en-US" dirty="0">
                <a:solidFill>
                  <a:srgbClr val="2B3050"/>
                </a:solidFill>
                <a:ea typeface="Arial"/>
                <a:cs typeface="Arial"/>
                <a:sym typeface="Arial"/>
              </a:rPr>
              <a:t>As you see in the following figure, this list contains 10 values starting from list [0] whose value is 14 until list [9] whose value is 45.</a:t>
            </a:r>
          </a:p>
        </p:txBody>
      </p:sp>
      <p:pic>
        <p:nvPicPr>
          <p:cNvPr id="9" name="Google Shape;298;p39"/>
          <p:cNvPicPr preferRelativeResize="0"/>
          <p:nvPr/>
        </p:nvPicPr>
        <p:blipFill rotWithShape="1">
          <a:blip r:embed="rId4">
            <a:alphaModFix/>
          </a:blip>
          <a:srcRect/>
          <a:stretch/>
        </p:blipFill>
        <p:spPr>
          <a:xfrm>
            <a:off x="2493899" y="4017839"/>
            <a:ext cx="5546514" cy="2301938"/>
          </a:xfrm>
          <a:prstGeom prst="rect">
            <a:avLst/>
          </a:prstGeom>
          <a:noFill/>
          <a:ln>
            <a:noFill/>
          </a:ln>
        </p:spPr>
      </p:pic>
    </p:spTree>
    <p:extLst>
      <p:ext uri="{BB962C8B-B14F-4D97-AF65-F5344CB8AC3E}">
        <p14:creationId xmlns:p14="http://schemas.microsoft.com/office/powerpoint/2010/main" val="316114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16</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5588203" cy="572700"/>
          </a:xfrm>
          <a:prstGeom prst="rect">
            <a:avLst/>
          </a:prstGeom>
        </p:spPr>
        <p:txBody>
          <a:bodyPr spcFirstLastPara="1" wrap="square" lIns="91425" tIns="91425" rIns="91425" bIns="91425" anchor="t" anchorCtr="0">
            <a:noAutofit/>
          </a:bodyPr>
          <a:lstStyle/>
          <a:p>
            <a:pPr lvl="0">
              <a:spcBef>
                <a:spcPts val="0"/>
              </a:spcBef>
            </a:pPr>
            <a:r>
              <a:rPr lang="en-US" dirty="0"/>
              <a:t>Dart </a:t>
            </a:r>
            <a:r>
              <a:rPr lang="en" dirty="0">
                <a:solidFill>
                  <a:srgbClr val="1E9E78"/>
                </a:solidFill>
              </a:rPr>
              <a:t>Data Types</a:t>
            </a:r>
            <a:endParaRPr lang="en-US" cap="none" dirty="0">
              <a:solidFill>
                <a:srgbClr val="1E9E78"/>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5" name="Rectangle 4"/>
          <p:cNvSpPr/>
          <p:nvPr/>
        </p:nvSpPr>
        <p:spPr>
          <a:xfrm>
            <a:off x="837234" y="1151319"/>
            <a:ext cx="9692506" cy="1176219"/>
          </a:xfrm>
          <a:prstGeom prst="rect">
            <a:avLst/>
          </a:prstGeom>
        </p:spPr>
        <p:txBody>
          <a:bodyPr wrap="square">
            <a:spAutoFit/>
          </a:bodyPr>
          <a:lstStyle/>
          <a:p>
            <a:pPr marR="163195" lvl="0">
              <a:lnSpc>
                <a:spcPct val="115000"/>
              </a:lnSpc>
              <a:spcBef>
                <a:spcPts val="1000"/>
              </a:spcBef>
            </a:pPr>
            <a:r>
              <a:rPr lang="en-US" b="1" dirty="0">
                <a:solidFill>
                  <a:srgbClr val="2B3050"/>
                </a:solidFill>
                <a:ea typeface="Arial"/>
                <a:cs typeface="Arial"/>
                <a:sym typeface="Arial"/>
              </a:rPr>
              <a:t>List</a:t>
            </a:r>
          </a:p>
          <a:p>
            <a:pPr marR="163195" lvl="0">
              <a:lnSpc>
                <a:spcPct val="115000"/>
              </a:lnSpc>
              <a:spcBef>
                <a:spcPts val="1000"/>
              </a:spcBef>
            </a:pPr>
            <a:r>
              <a:rPr lang="en-US" dirty="0"/>
              <a:t>Lists are great for storing multiple values of the same type (like names, marks, or products).</a:t>
            </a:r>
            <a:br>
              <a:rPr lang="en-US" dirty="0"/>
            </a:br>
            <a:r>
              <a:rPr lang="en-US" dirty="0"/>
              <a:t>You can access, add, or remove items using their index number.</a:t>
            </a:r>
            <a:endParaRPr lang="en-US" dirty="0">
              <a:solidFill>
                <a:srgbClr val="2B3050"/>
              </a:solidFill>
              <a:ea typeface="Arial"/>
              <a:cs typeface="Arial"/>
              <a:sym typeface="Arial"/>
            </a:endParaRPr>
          </a:p>
        </p:txBody>
      </p:sp>
      <p:graphicFrame>
        <p:nvGraphicFramePr>
          <p:cNvPr id="4" name="Table 3"/>
          <p:cNvGraphicFramePr>
            <a:graphicFrameLocks noGrp="1"/>
          </p:cNvGraphicFramePr>
          <p:nvPr>
            <p:extLst>
              <p:ext uri="{D42A27DB-BD31-4B8C-83A1-F6EECF244321}">
                <p14:modId xmlns:p14="http://schemas.microsoft.com/office/powerpoint/2010/main" val="724064224"/>
              </p:ext>
            </p:extLst>
          </p:nvPr>
        </p:nvGraphicFramePr>
        <p:xfrm>
          <a:off x="837234" y="3378613"/>
          <a:ext cx="4479484" cy="1188720"/>
        </p:xfrm>
        <a:graphic>
          <a:graphicData uri="http://schemas.openxmlformats.org/drawingml/2006/table">
            <a:tbl>
              <a:tblPr firstRow="1" bandRow="1">
                <a:tableStyleId>{073A0DAA-6AF3-43AB-8588-CEC1D06C72B9}</a:tableStyleId>
              </a:tblPr>
              <a:tblGrid>
                <a:gridCol w="4479484">
                  <a:extLst>
                    <a:ext uri="{9D8B030D-6E8A-4147-A177-3AD203B41FA5}">
                      <a16:colId xmlns:a16="http://schemas.microsoft.com/office/drawing/2014/main" val="2648323684"/>
                    </a:ext>
                  </a:extLst>
                </a:gridCol>
              </a:tblGrid>
              <a:tr h="370840">
                <a:tc>
                  <a:txBody>
                    <a:bodyPr/>
                    <a:lstStyle/>
                    <a:p>
                      <a:r>
                        <a:rPr lang="en-US" sz="1800" b="0" kern="1200" dirty="0">
                          <a:solidFill>
                            <a:schemeClr val="lt1"/>
                          </a:solidFill>
                          <a:effectLst/>
                          <a:latin typeface="+mn-lt"/>
                          <a:ea typeface="+mn-ea"/>
                          <a:cs typeface="+mn-cs"/>
                        </a:rPr>
                        <a:t>void main() {</a:t>
                      </a:r>
                    </a:p>
                    <a:p>
                      <a:r>
                        <a:rPr lang="en-US" sz="1800" b="0" kern="1200" dirty="0">
                          <a:solidFill>
                            <a:schemeClr val="lt1"/>
                          </a:solidFill>
                          <a:effectLst/>
                          <a:latin typeface="+mn-lt"/>
                          <a:ea typeface="+mn-ea"/>
                          <a:cs typeface="+mn-cs"/>
                        </a:rPr>
                        <a:t>  List fruits = ['Apple', 'Mango', 'Banana'];</a:t>
                      </a:r>
                    </a:p>
                    <a:p>
                      <a:r>
                        <a:rPr lang="en-US" sz="1800" b="0" kern="1200" dirty="0">
                          <a:solidFill>
                            <a:schemeClr val="lt1"/>
                          </a:solidFill>
                          <a:effectLst/>
                          <a:latin typeface="+mn-lt"/>
                          <a:ea typeface="+mn-ea"/>
                          <a:cs typeface="+mn-cs"/>
                        </a:rPr>
                        <a:t>  print(fruits);</a:t>
                      </a:r>
                    </a:p>
                    <a:p>
                      <a:r>
                        <a:rPr lang="en-US" sz="1800" b="0" kern="1200" dirty="0">
                          <a:solidFill>
                            <a:schemeClr val="lt1"/>
                          </a:solidFill>
                          <a:effectLst/>
                          <a:latin typeface="+mn-lt"/>
                          <a:ea typeface="+mn-ea"/>
                          <a:cs typeface="+mn-cs"/>
                        </a:rPr>
                        <a:t>}</a:t>
                      </a:r>
                    </a:p>
                  </a:txBody>
                  <a:tcPr/>
                </a:tc>
                <a:extLst>
                  <a:ext uri="{0D108BD9-81ED-4DB2-BD59-A6C34878D82A}">
                    <a16:rowId xmlns:a16="http://schemas.microsoft.com/office/drawing/2014/main" val="425366756"/>
                  </a:ext>
                </a:extLst>
              </a:tr>
            </a:tbl>
          </a:graphicData>
        </a:graphic>
      </p:graphicFrame>
      <p:pic>
        <p:nvPicPr>
          <p:cNvPr id="7" name="Picture 6"/>
          <p:cNvPicPr>
            <a:picLocks noChangeAspect="1"/>
          </p:cNvPicPr>
          <p:nvPr/>
        </p:nvPicPr>
        <p:blipFill>
          <a:blip r:embed="rId4"/>
          <a:stretch>
            <a:fillRect/>
          </a:stretch>
        </p:blipFill>
        <p:spPr>
          <a:xfrm>
            <a:off x="6425438" y="2857321"/>
            <a:ext cx="4732463" cy="2919840"/>
          </a:xfrm>
          <a:prstGeom prst="rect">
            <a:avLst/>
          </a:prstGeom>
        </p:spPr>
      </p:pic>
    </p:spTree>
    <p:extLst>
      <p:ext uri="{BB962C8B-B14F-4D97-AF65-F5344CB8AC3E}">
        <p14:creationId xmlns:p14="http://schemas.microsoft.com/office/powerpoint/2010/main" val="1473887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17</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621614" y="492842"/>
            <a:ext cx="5588203" cy="572700"/>
          </a:xfrm>
          <a:prstGeom prst="rect">
            <a:avLst/>
          </a:prstGeom>
        </p:spPr>
        <p:txBody>
          <a:bodyPr spcFirstLastPara="1" wrap="square" lIns="91425" tIns="91425" rIns="91425" bIns="91425" anchor="t" anchorCtr="0">
            <a:noAutofit/>
          </a:bodyPr>
          <a:lstStyle/>
          <a:p>
            <a:pPr lvl="0">
              <a:spcBef>
                <a:spcPts val="0"/>
              </a:spcBef>
            </a:pPr>
            <a:r>
              <a:rPr lang="en-US" dirty="0"/>
              <a:t>Dart </a:t>
            </a:r>
            <a:r>
              <a:rPr lang="en" dirty="0">
                <a:solidFill>
                  <a:srgbClr val="1E9E78"/>
                </a:solidFill>
              </a:rPr>
              <a:t>Data Types</a:t>
            </a:r>
            <a:endParaRPr lang="en-US" cap="none" dirty="0">
              <a:solidFill>
                <a:srgbClr val="1E9E78"/>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5" name="Rectangle 4"/>
          <p:cNvSpPr/>
          <p:nvPr/>
        </p:nvSpPr>
        <p:spPr>
          <a:xfrm>
            <a:off x="532434" y="1234393"/>
            <a:ext cx="11354766" cy="2835135"/>
          </a:xfrm>
          <a:prstGeom prst="rect">
            <a:avLst/>
          </a:prstGeom>
        </p:spPr>
        <p:txBody>
          <a:bodyPr wrap="square">
            <a:spAutoFit/>
          </a:bodyPr>
          <a:lstStyle/>
          <a:p>
            <a:pPr marR="163195" lvl="0">
              <a:lnSpc>
                <a:spcPct val="115000"/>
              </a:lnSpc>
              <a:spcBef>
                <a:spcPts val="1000"/>
              </a:spcBef>
            </a:pPr>
            <a:r>
              <a:rPr lang="en-US" b="1" dirty="0">
                <a:solidFill>
                  <a:srgbClr val="2B3050"/>
                </a:solidFill>
                <a:ea typeface="Arial"/>
                <a:cs typeface="Arial"/>
                <a:sym typeface="Arial"/>
              </a:rPr>
              <a:t>Maps</a:t>
            </a:r>
          </a:p>
          <a:p>
            <a:pPr marR="163195" lvl="0">
              <a:lnSpc>
                <a:spcPct val="115000"/>
              </a:lnSpc>
              <a:spcBef>
                <a:spcPts val="1000"/>
              </a:spcBef>
            </a:pPr>
            <a:r>
              <a:rPr lang="en-US" dirty="0">
                <a:solidFill>
                  <a:srgbClr val="2B3050"/>
                </a:solidFill>
                <a:latin typeface="Arial"/>
                <a:ea typeface="Arial"/>
                <a:cs typeface="Arial"/>
                <a:sym typeface="Arial"/>
              </a:rPr>
              <a:t>DART maps is an object that associates keys to values. In Dart, maps is an interface designed to manipulate a collection of keys which points to values. Maps can be declared in two ways, using maps literals and using a map constructor as follows:</a:t>
            </a:r>
          </a:p>
          <a:p>
            <a:pPr marR="163195" lvl="0">
              <a:lnSpc>
                <a:spcPct val="115000"/>
              </a:lnSpc>
              <a:spcBef>
                <a:spcPts val="1000"/>
              </a:spcBef>
            </a:pPr>
            <a:r>
              <a:rPr lang="en-US" b="1" dirty="0">
                <a:solidFill>
                  <a:srgbClr val="2B3050"/>
                </a:solidFill>
                <a:latin typeface="Arial"/>
                <a:ea typeface="Arial"/>
                <a:cs typeface="Arial"/>
                <a:sym typeface="Arial"/>
              </a:rPr>
              <a:t>Declare Maps Using Map Literals</a:t>
            </a:r>
          </a:p>
          <a:p>
            <a:pPr marL="457200" marR="163195" lvl="0" indent="-285750">
              <a:lnSpc>
                <a:spcPct val="115000"/>
              </a:lnSpc>
              <a:spcBef>
                <a:spcPts val="1000"/>
              </a:spcBef>
              <a:buClr>
                <a:srgbClr val="2B3050"/>
              </a:buClr>
              <a:buSzPts val="900"/>
              <a:buFont typeface="Arial"/>
              <a:buChar char="●"/>
            </a:pPr>
            <a:r>
              <a:rPr lang="en-US" dirty="0">
                <a:solidFill>
                  <a:srgbClr val="2B3050"/>
                </a:solidFill>
                <a:latin typeface="Arial"/>
                <a:ea typeface="Arial"/>
                <a:cs typeface="Arial"/>
                <a:sym typeface="Arial"/>
              </a:rPr>
              <a:t>To declare a map using map literals, you need to enclose the key-value pairs within a pair of braces "{ }".</a:t>
            </a:r>
          </a:p>
          <a:p>
            <a:pPr marR="163195" lvl="0">
              <a:lnSpc>
                <a:spcPct val="115000"/>
              </a:lnSpc>
              <a:spcBef>
                <a:spcPts val="1000"/>
              </a:spcBef>
            </a:pPr>
            <a:r>
              <a:rPr lang="en-US" dirty="0">
                <a:solidFill>
                  <a:srgbClr val="2B3050"/>
                </a:solidFill>
                <a:latin typeface="Arial"/>
                <a:ea typeface="Arial"/>
                <a:cs typeface="Arial"/>
                <a:sym typeface="Arial"/>
              </a:rPr>
              <a:t>Example:</a:t>
            </a:r>
          </a:p>
        </p:txBody>
      </p:sp>
      <p:pic>
        <p:nvPicPr>
          <p:cNvPr id="9" name="Google Shape;347;p44"/>
          <p:cNvPicPr preferRelativeResize="0"/>
          <p:nvPr/>
        </p:nvPicPr>
        <p:blipFill>
          <a:blip r:embed="rId4">
            <a:alphaModFix/>
          </a:blip>
          <a:stretch>
            <a:fillRect/>
          </a:stretch>
        </p:blipFill>
        <p:spPr>
          <a:xfrm>
            <a:off x="3264194" y="4069528"/>
            <a:ext cx="5195938" cy="2606546"/>
          </a:xfrm>
          <a:prstGeom prst="rect">
            <a:avLst/>
          </a:prstGeom>
          <a:noFill/>
          <a:ln>
            <a:noFill/>
          </a:ln>
        </p:spPr>
      </p:pic>
    </p:spTree>
    <p:extLst>
      <p:ext uri="{BB962C8B-B14F-4D97-AF65-F5344CB8AC3E}">
        <p14:creationId xmlns:p14="http://schemas.microsoft.com/office/powerpoint/2010/main" val="1028964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18</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5588203" cy="572700"/>
          </a:xfrm>
          <a:prstGeom prst="rect">
            <a:avLst/>
          </a:prstGeom>
        </p:spPr>
        <p:txBody>
          <a:bodyPr spcFirstLastPara="1" wrap="square" lIns="91425" tIns="91425" rIns="91425" bIns="91425" anchor="t" anchorCtr="0">
            <a:noAutofit/>
          </a:bodyPr>
          <a:lstStyle/>
          <a:p>
            <a:pPr lvl="0">
              <a:spcBef>
                <a:spcPts val="0"/>
              </a:spcBef>
            </a:pPr>
            <a:r>
              <a:rPr lang="en-US" dirty="0"/>
              <a:t>Dart </a:t>
            </a:r>
            <a:r>
              <a:rPr lang="en" dirty="0">
                <a:solidFill>
                  <a:srgbClr val="1E9E78"/>
                </a:solidFill>
              </a:rPr>
              <a:t>Data Types</a:t>
            </a:r>
            <a:endParaRPr lang="en-US" cap="none" dirty="0">
              <a:solidFill>
                <a:srgbClr val="1E9E78"/>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5" name="Rectangle 4"/>
          <p:cNvSpPr/>
          <p:nvPr/>
        </p:nvSpPr>
        <p:spPr>
          <a:xfrm>
            <a:off x="837234" y="1151319"/>
            <a:ext cx="9692506" cy="385362"/>
          </a:xfrm>
          <a:prstGeom prst="rect">
            <a:avLst/>
          </a:prstGeom>
        </p:spPr>
        <p:txBody>
          <a:bodyPr wrap="square">
            <a:spAutoFit/>
          </a:bodyPr>
          <a:lstStyle/>
          <a:p>
            <a:pPr marR="163195" lvl="0">
              <a:lnSpc>
                <a:spcPct val="115000"/>
              </a:lnSpc>
              <a:spcBef>
                <a:spcPts val="1000"/>
              </a:spcBef>
            </a:pPr>
            <a:r>
              <a:rPr lang="en-US" b="1" dirty="0">
                <a:solidFill>
                  <a:srgbClr val="2B3050"/>
                </a:solidFill>
                <a:ea typeface="Arial"/>
                <a:cs typeface="Arial"/>
                <a:sym typeface="Arial"/>
              </a:rPr>
              <a:t>Map</a:t>
            </a:r>
          </a:p>
        </p:txBody>
      </p:sp>
      <p:graphicFrame>
        <p:nvGraphicFramePr>
          <p:cNvPr id="4" name="Table 3"/>
          <p:cNvGraphicFramePr>
            <a:graphicFrameLocks noGrp="1"/>
          </p:cNvGraphicFramePr>
          <p:nvPr>
            <p:extLst>
              <p:ext uri="{D42A27DB-BD31-4B8C-83A1-F6EECF244321}">
                <p14:modId xmlns:p14="http://schemas.microsoft.com/office/powerpoint/2010/main" val="629617397"/>
              </p:ext>
            </p:extLst>
          </p:nvPr>
        </p:nvGraphicFramePr>
        <p:xfrm>
          <a:off x="732131" y="2137093"/>
          <a:ext cx="4470490" cy="3108960"/>
        </p:xfrm>
        <a:graphic>
          <a:graphicData uri="http://schemas.openxmlformats.org/drawingml/2006/table">
            <a:tbl>
              <a:tblPr firstRow="1" bandRow="1">
                <a:tableStyleId>{073A0DAA-6AF3-43AB-8588-CEC1D06C72B9}</a:tableStyleId>
              </a:tblPr>
              <a:tblGrid>
                <a:gridCol w="4470490">
                  <a:extLst>
                    <a:ext uri="{9D8B030D-6E8A-4147-A177-3AD203B41FA5}">
                      <a16:colId xmlns:a16="http://schemas.microsoft.com/office/drawing/2014/main" val="2648323684"/>
                    </a:ext>
                  </a:extLst>
                </a:gridCol>
              </a:tblGrid>
              <a:tr h="370840">
                <a:tc>
                  <a:txBody>
                    <a:bodyPr/>
                    <a:lstStyle/>
                    <a:p>
                      <a:r>
                        <a:rPr lang="en-US" sz="1800" b="0" kern="1200" dirty="0">
                          <a:solidFill>
                            <a:schemeClr val="lt1"/>
                          </a:solidFill>
                          <a:effectLst/>
                          <a:latin typeface="+mn-lt"/>
                          <a:ea typeface="+mn-ea"/>
                          <a:cs typeface="+mn-cs"/>
                        </a:rPr>
                        <a:t>void main() {</a:t>
                      </a:r>
                    </a:p>
                    <a:p>
                      <a:r>
                        <a:rPr lang="en-US" sz="1800" b="0" kern="1200" dirty="0">
                          <a:solidFill>
                            <a:schemeClr val="lt1"/>
                          </a:solidFill>
                          <a:effectLst/>
                          <a:latin typeface="+mn-lt"/>
                          <a:ea typeface="+mn-ea"/>
                          <a:cs typeface="+mn-cs"/>
                        </a:rPr>
                        <a:t>  </a:t>
                      </a:r>
                    </a:p>
                    <a:p>
                      <a:r>
                        <a:rPr lang="en-US" sz="1800" b="0" kern="1200" dirty="0">
                          <a:solidFill>
                            <a:schemeClr val="lt1"/>
                          </a:solidFill>
                          <a:effectLst/>
                          <a:latin typeface="+mn-lt"/>
                          <a:ea typeface="+mn-ea"/>
                          <a:cs typeface="+mn-cs"/>
                        </a:rPr>
                        <a:t>  Map&lt;String, String&gt; student = {</a:t>
                      </a:r>
                    </a:p>
                    <a:p>
                      <a:r>
                        <a:rPr lang="en-US" sz="1800" b="0" kern="1200" dirty="0">
                          <a:solidFill>
                            <a:schemeClr val="lt1"/>
                          </a:solidFill>
                          <a:effectLst/>
                          <a:latin typeface="+mn-lt"/>
                          <a:ea typeface="+mn-ea"/>
                          <a:cs typeface="+mn-cs"/>
                        </a:rPr>
                        <a:t>  'name': '</a:t>
                      </a:r>
                      <a:r>
                        <a:rPr lang="en-US" sz="1800" b="0" kern="1200" dirty="0" err="1">
                          <a:solidFill>
                            <a:schemeClr val="lt1"/>
                          </a:solidFill>
                          <a:effectLst/>
                          <a:latin typeface="+mn-lt"/>
                          <a:ea typeface="+mn-ea"/>
                          <a:cs typeface="+mn-cs"/>
                        </a:rPr>
                        <a:t>Jhon</a:t>
                      </a:r>
                      <a:r>
                        <a:rPr lang="en-US" sz="1800" b="0" kern="1200" dirty="0">
                          <a:solidFill>
                            <a:schemeClr val="lt1"/>
                          </a:solidFill>
                          <a:effectLst/>
                          <a:latin typeface="+mn-lt"/>
                          <a:ea typeface="+mn-ea"/>
                          <a:cs typeface="+mn-cs"/>
                        </a:rPr>
                        <a:t>',</a:t>
                      </a:r>
                    </a:p>
                    <a:p>
                      <a:r>
                        <a:rPr lang="en-US" sz="1800" b="0" kern="1200" dirty="0">
                          <a:solidFill>
                            <a:schemeClr val="lt1"/>
                          </a:solidFill>
                          <a:effectLst/>
                          <a:latin typeface="+mn-lt"/>
                          <a:ea typeface="+mn-ea"/>
                          <a:cs typeface="+mn-cs"/>
                        </a:rPr>
                        <a:t>  'id': '123456',</a:t>
                      </a:r>
                    </a:p>
                    <a:p>
                      <a:r>
                        <a:rPr lang="en-US" sz="1800" b="0" kern="1200" dirty="0">
                          <a:solidFill>
                            <a:schemeClr val="lt1"/>
                          </a:solidFill>
                          <a:effectLst/>
                          <a:latin typeface="+mn-lt"/>
                          <a:ea typeface="+mn-ea"/>
                          <a:cs typeface="+mn-cs"/>
                        </a:rPr>
                        <a:t>  'faculty': 'FCSIT'</a:t>
                      </a:r>
                    </a:p>
                    <a:p>
                      <a:r>
                        <a:rPr lang="en-US" sz="1800" b="0" kern="1200" dirty="0">
                          <a:solidFill>
                            <a:schemeClr val="lt1"/>
                          </a:solidFill>
                          <a:effectLst/>
                          <a:latin typeface="+mn-lt"/>
                          <a:ea typeface="+mn-ea"/>
                          <a:cs typeface="+mn-cs"/>
                        </a:rPr>
                        <a:t>};</a:t>
                      </a:r>
                    </a:p>
                    <a:p>
                      <a:br>
                        <a:rPr lang="en-US" sz="1800" b="0" kern="1200" dirty="0">
                          <a:solidFill>
                            <a:schemeClr val="lt1"/>
                          </a:solidFill>
                          <a:effectLst/>
                          <a:latin typeface="+mn-lt"/>
                          <a:ea typeface="+mn-ea"/>
                          <a:cs typeface="+mn-cs"/>
                        </a:rPr>
                      </a:br>
                      <a:r>
                        <a:rPr lang="en-US" sz="1800" b="0" kern="1200" dirty="0">
                          <a:solidFill>
                            <a:schemeClr val="lt1"/>
                          </a:solidFill>
                          <a:effectLst/>
                          <a:latin typeface="+mn-lt"/>
                          <a:ea typeface="+mn-ea"/>
                          <a:cs typeface="+mn-cs"/>
                        </a:rPr>
                        <a:t>  print(student['name']);</a:t>
                      </a:r>
                    </a:p>
                    <a:p>
                      <a:r>
                        <a:rPr lang="en-US" sz="1800" b="0" kern="1200" dirty="0">
                          <a:solidFill>
                            <a:schemeClr val="lt1"/>
                          </a:solidFill>
                          <a:effectLst/>
                          <a:latin typeface="+mn-lt"/>
                          <a:ea typeface="+mn-ea"/>
                          <a:cs typeface="+mn-cs"/>
                        </a:rPr>
                        <a:t>  print(student);</a:t>
                      </a:r>
                    </a:p>
                    <a:p>
                      <a:r>
                        <a:rPr lang="en-US" sz="1800" b="0" kern="1200" dirty="0">
                          <a:solidFill>
                            <a:schemeClr val="lt1"/>
                          </a:solidFill>
                          <a:effectLst/>
                          <a:latin typeface="+mn-lt"/>
                          <a:ea typeface="+mn-ea"/>
                          <a:cs typeface="+mn-cs"/>
                        </a:rPr>
                        <a:t>}</a:t>
                      </a:r>
                    </a:p>
                  </a:txBody>
                  <a:tcPr/>
                </a:tc>
                <a:extLst>
                  <a:ext uri="{0D108BD9-81ED-4DB2-BD59-A6C34878D82A}">
                    <a16:rowId xmlns:a16="http://schemas.microsoft.com/office/drawing/2014/main" val="425366756"/>
                  </a:ext>
                </a:extLst>
              </a:tr>
            </a:tbl>
          </a:graphicData>
        </a:graphic>
      </p:graphicFrame>
      <p:pic>
        <p:nvPicPr>
          <p:cNvPr id="3" name="Picture 2"/>
          <p:cNvPicPr>
            <a:picLocks noChangeAspect="1"/>
          </p:cNvPicPr>
          <p:nvPr/>
        </p:nvPicPr>
        <p:blipFill>
          <a:blip r:embed="rId4"/>
          <a:stretch>
            <a:fillRect/>
          </a:stretch>
        </p:blipFill>
        <p:spPr>
          <a:xfrm>
            <a:off x="5907996" y="1640418"/>
            <a:ext cx="5105662" cy="4102311"/>
          </a:xfrm>
          <a:prstGeom prst="rect">
            <a:avLst/>
          </a:prstGeom>
        </p:spPr>
      </p:pic>
    </p:spTree>
    <p:extLst>
      <p:ext uri="{BB962C8B-B14F-4D97-AF65-F5344CB8AC3E}">
        <p14:creationId xmlns:p14="http://schemas.microsoft.com/office/powerpoint/2010/main" val="119550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19</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5588203" cy="572700"/>
          </a:xfrm>
          <a:prstGeom prst="rect">
            <a:avLst/>
          </a:prstGeom>
        </p:spPr>
        <p:txBody>
          <a:bodyPr spcFirstLastPara="1" wrap="square" lIns="91425" tIns="91425" rIns="91425" bIns="91425" anchor="t" anchorCtr="0">
            <a:noAutofit/>
          </a:bodyPr>
          <a:lstStyle/>
          <a:p>
            <a:pPr lvl="0">
              <a:spcBef>
                <a:spcPts val="0"/>
              </a:spcBef>
            </a:pPr>
            <a:r>
              <a:rPr lang="en-US" dirty="0"/>
              <a:t>Dart </a:t>
            </a:r>
            <a:r>
              <a:rPr lang="en" dirty="0">
                <a:solidFill>
                  <a:srgbClr val="1E9E78"/>
                </a:solidFill>
              </a:rPr>
              <a:t>Data Types</a:t>
            </a:r>
            <a:endParaRPr lang="en-US" cap="none" dirty="0">
              <a:solidFill>
                <a:srgbClr val="1E9E78"/>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5" name="Rectangle 4"/>
          <p:cNvSpPr/>
          <p:nvPr/>
        </p:nvSpPr>
        <p:spPr>
          <a:xfrm>
            <a:off x="837234" y="1151319"/>
            <a:ext cx="9692506" cy="2069797"/>
          </a:xfrm>
          <a:prstGeom prst="rect">
            <a:avLst/>
          </a:prstGeom>
        </p:spPr>
        <p:txBody>
          <a:bodyPr wrap="square">
            <a:spAutoFit/>
          </a:bodyPr>
          <a:lstStyle/>
          <a:p>
            <a:pPr marR="163195" lvl="0">
              <a:lnSpc>
                <a:spcPct val="115000"/>
              </a:lnSpc>
              <a:spcBef>
                <a:spcPts val="1000"/>
              </a:spcBef>
            </a:pPr>
            <a:r>
              <a:rPr lang="en-US" b="1" dirty="0">
                <a:solidFill>
                  <a:srgbClr val="2B3050"/>
                </a:solidFill>
                <a:latin typeface="Arial"/>
                <a:ea typeface="Arial"/>
                <a:cs typeface="Arial"/>
                <a:sym typeface="Arial"/>
              </a:rPr>
              <a:t>Declare Maps Using a Map Constructor:</a:t>
            </a:r>
          </a:p>
          <a:p>
            <a:pPr marL="457200" marR="163195" lvl="0" indent="-285750">
              <a:lnSpc>
                <a:spcPct val="115000"/>
              </a:lnSpc>
              <a:spcBef>
                <a:spcPts val="1000"/>
              </a:spcBef>
              <a:buClr>
                <a:srgbClr val="2B3050"/>
              </a:buClr>
              <a:buSzPts val="900"/>
              <a:buFont typeface="Arial"/>
              <a:buChar char="●"/>
            </a:pPr>
            <a:r>
              <a:rPr lang="en-US" dirty="0">
                <a:solidFill>
                  <a:srgbClr val="2B3050"/>
                </a:solidFill>
                <a:latin typeface="Arial"/>
                <a:ea typeface="Arial"/>
                <a:cs typeface="Arial"/>
                <a:sym typeface="Arial"/>
              </a:rPr>
              <a:t>To declare a Map using a Map constructor, there are two steps. First, declare the map as follows:</a:t>
            </a:r>
          </a:p>
          <a:p>
            <a:pPr marR="163195" lvl="0">
              <a:lnSpc>
                <a:spcPct val="115000"/>
              </a:lnSpc>
              <a:spcBef>
                <a:spcPts val="1000"/>
              </a:spcBef>
            </a:pPr>
            <a:r>
              <a:rPr lang="en-US" b="1" dirty="0" err="1">
                <a:solidFill>
                  <a:srgbClr val="1E9E78"/>
                </a:solidFill>
                <a:latin typeface="Arial"/>
                <a:ea typeface="Arial"/>
                <a:cs typeface="Arial"/>
                <a:sym typeface="Arial"/>
              </a:rPr>
              <a:t>var</a:t>
            </a:r>
            <a:r>
              <a:rPr lang="en-US" b="1" dirty="0">
                <a:solidFill>
                  <a:srgbClr val="1E9E78"/>
                </a:solidFill>
                <a:latin typeface="Arial"/>
                <a:ea typeface="Arial"/>
                <a:cs typeface="Arial"/>
                <a:sym typeface="Arial"/>
              </a:rPr>
              <a:t> info = new Map();</a:t>
            </a:r>
          </a:p>
          <a:p>
            <a:pPr marR="163195" lvl="0">
              <a:lnSpc>
                <a:spcPct val="115000"/>
              </a:lnSpc>
              <a:spcBef>
                <a:spcPts val="1000"/>
              </a:spcBef>
            </a:pPr>
            <a:r>
              <a:rPr lang="en-US" dirty="0">
                <a:solidFill>
                  <a:srgbClr val="2B3050"/>
                </a:solidFill>
                <a:latin typeface="Arial"/>
                <a:ea typeface="Arial"/>
                <a:cs typeface="Arial"/>
                <a:sym typeface="Arial"/>
              </a:rPr>
              <a:t>The second, initialize the map as follows:</a:t>
            </a:r>
          </a:p>
        </p:txBody>
      </p:sp>
      <p:graphicFrame>
        <p:nvGraphicFramePr>
          <p:cNvPr id="4" name="Table 3"/>
          <p:cNvGraphicFramePr>
            <a:graphicFrameLocks noGrp="1"/>
          </p:cNvGraphicFramePr>
          <p:nvPr>
            <p:extLst>
              <p:ext uri="{D42A27DB-BD31-4B8C-83A1-F6EECF244321}">
                <p14:modId xmlns:p14="http://schemas.microsoft.com/office/powerpoint/2010/main" val="2889841043"/>
              </p:ext>
            </p:extLst>
          </p:nvPr>
        </p:nvGraphicFramePr>
        <p:xfrm>
          <a:off x="837234" y="3490286"/>
          <a:ext cx="4470490" cy="2560320"/>
        </p:xfrm>
        <a:graphic>
          <a:graphicData uri="http://schemas.openxmlformats.org/drawingml/2006/table">
            <a:tbl>
              <a:tblPr firstRow="1" bandRow="1">
                <a:tableStyleId>{073A0DAA-6AF3-43AB-8588-CEC1D06C72B9}</a:tableStyleId>
              </a:tblPr>
              <a:tblGrid>
                <a:gridCol w="4470490">
                  <a:extLst>
                    <a:ext uri="{9D8B030D-6E8A-4147-A177-3AD203B41FA5}">
                      <a16:colId xmlns:a16="http://schemas.microsoft.com/office/drawing/2014/main" val="2648323684"/>
                    </a:ext>
                  </a:extLst>
                </a:gridCol>
              </a:tblGrid>
              <a:tr h="370840">
                <a:tc>
                  <a:txBody>
                    <a:bodyPr/>
                    <a:lstStyle/>
                    <a:p>
                      <a:r>
                        <a:rPr lang="en-US" sz="1800" b="0" kern="1200" dirty="0">
                          <a:solidFill>
                            <a:schemeClr val="lt1"/>
                          </a:solidFill>
                          <a:effectLst/>
                          <a:latin typeface="+mn-lt"/>
                          <a:ea typeface="+mn-ea"/>
                          <a:cs typeface="+mn-cs"/>
                        </a:rPr>
                        <a:t>void main() {</a:t>
                      </a:r>
                    </a:p>
                    <a:p>
                      <a:r>
                        <a:rPr lang="en-US" sz="1800" b="0" kern="1200" dirty="0">
                          <a:solidFill>
                            <a:schemeClr val="lt1"/>
                          </a:solidFill>
                          <a:effectLst/>
                          <a:latin typeface="+mn-lt"/>
                          <a:ea typeface="+mn-ea"/>
                          <a:cs typeface="+mn-cs"/>
                        </a:rPr>
                        <a:t>  </a:t>
                      </a:r>
                    </a:p>
                    <a:p>
                      <a:r>
                        <a:rPr lang="en-US" sz="1800" b="0" kern="1200" dirty="0">
                          <a:solidFill>
                            <a:schemeClr val="lt1"/>
                          </a:solidFill>
                          <a:effectLst/>
                          <a:latin typeface="+mn-lt"/>
                          <a:ea typeface="+mn-ea"/>
                          <a:cs typeface="+mn-cs"/>
                        </a:rPr>
                        <a:t> </a:t>
                      </a:r>
                      <a:r>
                        <a:rPr lang="en-US" sz="1800" b="0" kern="1200" dirty="0" err="1">
                          <a:solidFill>
                            <a:schemeClr val="lt1"/>
                          </a:solidFill>
                          <a:effectLst/>
                          <a:latin typeface="+mn-lt"/>
                          <a:ea typeface="+mn-ea"/>
                          <a:cs typeface="+mn-cs"/>
                        </a:rPr>
                        <a:t>var</a:t>
                      </a:r>
                      <a:r>
                        <a:rPr lang="en-US" sz="1800" b="0" kern="1200" dirty="0">
                          <a:solidFill>
                            <a:schemeClr val="lt1"/>
                          </a:solidFill>
                          <a:effectLst/>
                          <a:latin typeface="+mn-lt"/>
                          <a:ea typeface="+mn-ea"/>
                          <a:cs typeface="+mn-cs"/>
                        </a:rPr>
                        <a:t> info = new Map();</a:t>
                      </a:r>
                    </a:p>
                    <a:p>
                      <a:br>
                        <a:rPr lang="en-US" sz="1800" b="0" kern="1200" dirty="0">
                          <a:solidFill>
                            <a:schemeClr val="lt1"/>
                          </a:solidFill>
                          <a:effectLst/>
                          <a:latin typeface="+mn-lt"/>
                          <a:ea typeface="+mn-ea"/>
                          <a:cs typeface="+mn-cs"/>
                        </a:rPr>
                      </a:br>
                      <a:r>
                        <a:rPr lang="en-US" sz="1800" b="0" kern="1200" dirty="0">
                          <a:solidFill>
                            <a:schemeClr val="lt1"/>
                          </a:solidFill>
                          <a:effectLst/>
                          <a:latin typeface="+mn-lt"/>
                          <a:ea typeface="+mn-ea"/>
                          <a:cs typeface="+mn-cs"/>
                        </a:rPr>
                        <a:t> info['name'] = '</a:t>
                      </a:r>
                      <a:r>
                        <a:rPr lang="en-US" sz="1800" b="0" kern="1200" dirty="0" err="1">
                          <a:solidFill>
                            <a:schemeClr val="lt1"/>
                          </a:solidFill>
                          <a:effectLst/>
                          <a:latin typeface="+mn-lt"/>
                          <a:ea typeface="+mn-ea"/>
                          <a:cs typeface="+mn-cs"/>
                        </a:rPr>
                        <a:t>Jhon</a:t>
                      </a:r>
                      <a:r>
                        <a:rPr lang="en-US" sz="1800" b="0" kern="1200" dirty="0">
                          <a:solidFill>
                            <a:schemeClr val="lt1"/>
                          </a:solidFill>
                          <a:effectLst/>
                          <a:latin typeface="+mn-lt"/>
                          <a:ea typeface="+mn-ea"/>
                          <a:cs typeface="+mn-cs"/>
                        </a:rPr>
                        <a:t>';</a:t>
                      </a:r>
                    </a:p>
                    <a:p>
                      <a:r>
                        <a:rPr lang="en-US" sz="1800" b="0" kern="1200" dirty="0">
                          <a:solidFill>
                            <a:schemeClr val="lt1"/>
                          </a:solidFill>
                          <a:effectLst/>
                          <a:latin typeface="+mn-lt"/>
                          <a:ea typeface="+mn-ea"/>
                          <a:cs typeface="+mn-cs"/>
                        </a:rPr>
                        <a:t> info['id'] = 123;</a:t>
                      </a:r>
                    </a:p>
                    <a:p>
                      <a:br>
                        <a:rPr lang="en-US" sz="1800" b="0" kern="1200" dirty="0">
                          <a:solidFill>
                            <a:schemeClr val="lt1"/>
                          </a:solidFill>
                          <a:effectLst/>
                          <a:latin typeface="+mn-lt"/>
                          <a:ea typeface="+mn-ea"/>
                          <a:cs typeface="+mn-cs"/>
                        </a:rPr>
                      </a:br>
                      <a:r>
                        <a:rPr lang="en-US" sz="1800" b="0" kern="1200" dirty="0">
                          <a:solidFill>
                            <a:schemeClr val="lt1"/>
                          </a:solidFill>
                          <a:effectLst/>
                          <a:latin typeface="+mn-lt"/>
                          <a:ea typeface="+mn-ea"/>
                          <a:cs typeface="+mn-cs"/>
                        </a:rPr>
                        <a:t> print(info);</a:t>
                      </a:r>
                    </a:p>
                    <a:p>
                      <a:r>
                        <a:rPr lang="en-US" sz="1800" b="0" kern="1200" dirty="0">
                          <a:solidFill>
                            <a:schemeClr val="lt1"/>
                          </a:solidFill>
                          <a:effectLst/>
                          <a:latin typeface="+mn-lt"/>
                          <a:ea typeface="+mn-ea"/>
                          <a:cs typeface="+mn-cs"/>
                        </a:rPr>
                        <a:t>}</a:t>
                      </a:r>
                    </a:p>
                  </a:txBody>
                  <a:tcPr/>
                </a:tc>
                <a:extLst>
                  <a:ext uri="{0D108BD9-81ED-4DB2-BD59-A6C34878D82A}">
                    <a16:rowId xmlns:a16="http://schemas.microsoft.com/office/drawing/2014/main" val="425366756"/>
                  </a:ext>
                </a:extLst>
              </a:tr>
            </a:tbl>
          </a:graphicData>
        </a:graphic>
      </p:graphicFrame>
      <p:pic>
        <p:nvPicPr>
          <p:cNvPr id="6" name="Picture 5"/>
          <p:cNvPicPr>
            <a:picLocks noChangeAspect="1"/>
          </p:cNvPicPr>
          <p:nvPr/>
        </p:nvPicPr>
        <p:blipFill>
          <a:blip r:embed="rId4"/>
          <a:stretch>
            <a:fillRect/>
          </a:stretch>
        </p:blipFill>
        <p:spPr>
          <a:xfrm>
            <a:off x="6425438" y="2830991"/>
            <a:ext cx="3835597" cy="3219615"/>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36167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20</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5588203" cy="572700"/>
          </a:xfrm>
          <a:prstGeom prst="rect">
            <a:avLst/>
          </a:prstGeom>
        </p:spPr>
        <p:txBody>
          <a:bodyPr spcFirstLastPara="1" wrap="square" lIns="91425" tIns="91425" rIns="91425" bIns="91425" anchor="t" anchorCtr="0">
            <a:noAutofit/>
          </a:bodyPr>
          <a:lstStyle/>
          <a:p>
            <a:pPr lvl="0">
              <a:spcBef>
                <a:spcPts val="0"/>
              </a:spcBef>
            </a:pPr>
            <a:r>
              <a:rPr lang="en-US" dirty="0"/>
              <a:t>Dart </a:t>
            </a:r>
            <a:r>
              <a:rPr lang="en" dirty="0">
                <a:solidFill>
                  <a:srgbClr val="1E9E78"/>
                </a:solidFill>
              </a:rPr>
              <a:t>Data Types</a:t>
            </a:r>
            <a:endParaRPr lang="en-US" cap="none" dirty="0">
              <a:solidFill>
                <a:srgbClr val="1E9E78"/>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5" name="Rectangle 4"/>
          <p:cNvSpPr/>
          <p:nvPr/>
        </p:nvSpPr>
        <p:spPr>
          <a:xfrm>
            <a:off x="837234" y="1151319"/>
            <a:ext cx="9084532" cy="1941557"/>
          </a:xfrm>
          <a:prstGeom prst="rect">
            <a:avLst/>
          </a:prstGeom>
        </p:spPr>
        <p:txBody>
          <a:bodyPr wrap="square">
            <a:spAutoFit/>
          </a:bodyPr>
          <a:lstStyle/>
          <a:p>
            <a:pPr marR="163195" lvl="0">
              <a:lnSpc>
                <a:spcPct val="115000"/>
              </a:lnSpc>
              <a:spcBef>
                <a:spcPts val="1000"/>
              </a:spcBef>
            </a:pPr>
            <a:r>
              <a:rPr lang="en-US" b="1" dirty="0">
                <a:solidFill>
                  <a:srgbClr val="2B3050"/>
                </a:solidFill>
                <a:latin typeface="Arial"/>
                <a:ea typeface="Arial"/>
                <a:cs typeface="Arial"/>
                <a:sym typeface="Arial"/>
              </a:rPr>
              <a:t>Set</a:t>
            </a:r>
          </a:p>
          <a:p>
            <a:pPr marR="163195" lvl="0">
              <a:lnSpc>
                <a:spcPct val="115000"/>
              </a:lnSpc>
              <a:spcBef>
                <a:spcPts val="1000"/>
              </a:spcBef>
            </a:pPr>
            <a:r>
              <a:rPr lang="en-US" dirty="0">
                <a:solidFill>
                  <a:srgbClr val="2B3050"/>
                </a:solidFill>
                <a:latin typeface="Arial"/>
                <a:ea typeface="Arial"/>
                <a:cs typeface="Arial"/>
                <a:sym typeface="Arial"/>
              </a:rPr>
              <a:t>A </a:t>
            </a:r>
            <a:r>
              <a:rPr lang="en-US" b="1" dirty="0">
                <a:solidFill>
                  <a:srgbClr val="2B3050"/>
                </a:solidFill>
                <a:latin typeface="Arial"/>
                <a:ea typeface="Arial"/>
                <a:cs typeface="Arial"/>
                <a:sym typeface="Arial"/>
              </a:rPr>
              <a:t>Set</a:t>
            </a:r>
            <a:r>
              <a:rPr lang="en-US" dirty="0">
                <a:solidFill>
                  <a:srgbClr val="2B3050"/>
                </a:solidFill>
                <a:latin typeface="Arial"/>
                <a:ea typeface="Arial"/>
                <a:cs typeface="Arial"/>
                <a:sym typeface="Arial"/>
              </a:rPr>
              <a:t> is a collection of unique items — it automatically removes any duplicates. Unlike a List, a Set has no fixed order.</a:t>
            </a:r>
          </a:p>
          <a:p>
            <a:pPr marR="163195" lvl="0">
              <a:lnSpc>
                <a:spcPct val="115000"/>
              </a:lnSpc>
              <a:spcBef>
                <a:spcPts val="1000"/>
              </a:spcBef>
            </a:pPr>
            <a:r>
              <a:rPr lang="en-US" dirty="0">
                <a:solidFill>
                  <a:srgbClr val="2B3050"/>
                </a:solidFill>
                <a:latin typeface="Arial"/>
                <a:ea typeface="Arial"/>
                <a:cs typeface="Arial"/>
                <a:sym typeface="Arial"/>
              </a:rPr>
              <a:t>Use a </a:t>
            </a:r>
            <a:r>
              <a:rPr lang="en-US" b="1" dirty="0">
                <a:solidFill>
                  <a:srgbClr val="2B3050"/>
                </a:solidFill>
                <a:latin typeface="Arial"/>
                <a:ea typeface="Arial"/>
                <a:cs typeface="Arial"/>
                <a:sym typeface="Arial"/>
              </a:rPr>
              <a:t>Set</a:t>
            </a:r>
            <a:r>
              <a:rPr lang="en-US" dirty="0">
                <a:solidFill>
                  <a:srgbClr val="2B3050"/>
                </a:solidFill>
                <a:latin typeface="Arial"/>
                <a:ea typeface="Arial"/>
                <a:cs typeface="Arial"/>
                <a:sym typeface="Arial"/>
              </a:rPr>
              <a:t> when you need to store only unique values, like student IDs or email addresses.</a:t>
            </a:r>
          </a:p>
        </p:txBody>
      </p:sp>
      <p:graphicFrame>
        <p:nvGraphicFramePr>
          <p:cNvPr id="4" name="Table 3"/>
          <p:cNvGraphicFramePr>
            <a:graphicFrameLocks noGrp="1"/>
          </p:cNvGraphicFramePr>
          <p:nvPr>
            <p:extLst>
              <p:ext uri="{D42A27DB-BD31-4B8C-83A1-F6EECF244321}">
                <p14:modId xmlns:p14="http://schemas.microsoft.com/office/powerpoint/2010/main" val="1928396086"/>
              </p:ext>
            </p:extLst>
          </p:nvPr>
        </p:nvGraphicFramePr>
        <p:xfrm>
          <a:off x="837234" y="3490286"/>
          <a:ext cx="4470490" cy="1737360"/>
        </p:xfrm>
        <a:graphic>
          <a:graphicData uri="http://schemas.openxmlformats.org/drawingml/2006/table">
            <a:tbl>
              <a:tblPr firstRow="1" bandRow="1">
                <a:tableStyleId>{073A0DAA-6AF3-43AB-8588-CEC1D06C72B9}</a:tableStyleId>
              </a:tblPr>
              <a:tblGrid>
                <a:gridCol w="4470490">
                  <a:extLst>
                    <a:ext uri="{9D8B030D-6E8A-4147-A177-3AD203B41FA5}">
                      <a16:colId xmlns:a16="http://schemas.microsoft.com/office/drawing/2014/main" val="2648323684"/>
                    </a:ext>
                  </a:extLst>
                </a:gridCol>
              </a:tblGrid>
              <a:tr h="370840">
                <a:tc>
                  <a:txBody>
                    <a:bodyPr/>
                    <a:lstStyle/>
                    <a:p>
                      <a:r>
                        <a:rPr lang="en-US" sz="1800" b="0" kern="1200" dirty="0">
                          <a:solidFill>
                            <a:schemeClr val="lt1"/>
                          </a:solidFill>
                          <a:effectLst/>
                          <a:latin typeface="+mn-lt"/>
                          <a:ea typeface="+mn-ea"/>
                          <a:cs typeface="+mn-cs"/>
                        </a:rPr>
                        <a:t>void main() {</a:t>
                      </a:r>
                    </a:p>
                    <a:p>
                      <a:r>
                        <a:rPr lang="en-US" sz="1800" b="0" kern="1200" dirty="0">
                          <a:solidFill>
                            <a:schemeClr val="lt1"/>
                          </a:solidFill>
                          <a:effectLst/>
                          <a:latin typeface="+mn-lt"/>
                          <a:ea typeface="+mn-ea"/>
                          <a:cs typeface="+mn-cs"/>
                        </a:rPr>
                        <a:t>  </a:t>
                      </a:r>
                    </a:p>
                    <a:p>
                      <a:r>
                        <a:rPr lang="en-US" sz="1800" b="0" kern="1200" dirty="0">
                          <a:solidFill>
                            <a:schemeClr val="lt1"/>
                          </a:solidFill>
                          <a:effectLst/>
                          <a:latin typeface="+mn-lt"/>
                          <a:ea typeface="+mn-ea"/>
                          <a:cs typeface="+mn-cs"/>
                        </a:rPr>
                        <a:t> Set roll = {1,2,3,4,5,1,2,4,5,6};</a:t>
                      </a:r>
                    </a:p>
                    <a:p>
                      <a:br>
                        <a:rPr lang="en-US" sz="1800" b="0" kern="1200" dirty="0">
                          <a:solidFill>
                            <a:schemeClr val="lt1"/>
                          </a:solidFill>
                          <a:effectLst/>
                          <a:latin typeface="+mn-lt"/>
                          <a:ea typeface="+mn-ea"/>
                          <a:cs typeface="+mn-cs"/>
                        </a:rPr>
                      </a:br>
                      <a:r>
                        <a:rPr lang="en-US" sz="1800" b="0" kern="1200" dirty="0">
                          <a:solidFill>
                            <a:schemeClr val="lt1"/>
                          </a:solidFill>
                          <a:effectLst/>
                          <a:latin typeface="+mn-lt"/>
                          <a:ea typeface="+mn-ea"/>
                          <a:cs typeface="+mn-cs"/>
                        </a:rPr>
                        <a:t> print(roll);</a:t>
                      </a:r>
                    </a:p>
                    <a:p>
                      <a:r>
                        <a:rPr lang="en-US" sz="1800" b="0" kern="1200" dirty="0">
                          <a:solidFill>
                            <a:schemeClr val="lt1"/>
                          </a:solidFill>
                          <a:effectLst/>
                          <a:latin typeface="+mn-lt"/>
                          <a:ea typeface="+mn-ea"/>
                          <a:cs typeface="+mn-cs"/>
                        </a:rPr>
                        <a:t>}</a:t>
                      </a:r>
                    </a:p>
                  </a:txBody>
                  <a:tcPr/>
                </a:tc>
                <a:extLst>
                  <a:ext uri="{0D108BD9-81ED-4DB2-BD59-A6C34878D82A}">
                    <a16:rowId xmlns:a16="http://schemas.microsoft.com/office/drawing/2014/main" val="425366756"/>
                  </a:ext>
                </a:extLst>
              </a:tr>
            </a:tbl>
          </a:graphicData>
        </a:graphic>
      </p:graphicFrame>
      <p:pic>
        <p:nvPicPr>
          <p:cNvPr id="8" name="Picture 7"/>
          <p:cNvPicPr>
            <a:picLocks noChangeAspect="1"/>
          </p:cNvPicPr>
          <p:nvPr/>
        </p:nvPicPr>
        <p:blipFill>
          <a:blip r:embed="rId4"/>
          <a:stretch>
            <a:fillRect/>
          </a:stretch>
        </p:blipFill>
        <p:spPr>
          <a:xfrm>
            <a:off x="6425438" y="2914176"/>
            <a:ext cx="4730993" cy="3168813"/>
          </a:xfrm>
          <a:prstGeom prst="rect">
            <a:avLst/>
          </a:prstGeom>
        </p:spPr>
      </p:pic>
    </p:spTree>
    <p:extLst>
      <p:ext uri="{BB962C8B-B14F-4D97-AF65-F5344CB8AC3E}">
        <p14:creationId xmlns:p14="http://schemas.microsoft.com/office/powerpoint/2010/main" val="3951961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21</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5588203" cy="572700"/>
          </a:xfrm>
          <a:prstGeom prst="rect">
            <a:avLst/>
          </a:prstGeom>
        </p:spPr>
        <p:txBody>
          <a:bodyPr spcFirstLastPara="1" wrap="square" lIns="91425" tIns="91425" rIns="91425" bIns="91425" anchor="t" anchorCtr="0">
            <a:noAutofit/>
          </a:bodyPr>
          <a:lstStyle/>
          <a:p>
            <a:pPr lvl="0">
              <a:spcBef>
                <a:spcPts val="0"/>
              </a:spcBef>
            </a:pPr>
            <a:r>
              <a:rPr lang="en-US" dirty="0"/>
              <a:t>Dart </a:t>
            </a:r>
            <a:r>
              <a:rPr lang="en" dirty="0">
                <a:solidFill>
                  <a:srgbClr val="1E9E78"/>
                </a:solidFill>
              </a:rPr>
              <a:t>Data Types</a:t>
            </a:r>
            <a:endParaRPr lang="en-US" cap="none" dirty="0">
              <a:solidFill>
                <a:srgbClr val="1E9E78"/>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5" name="Rectangle 4"/>
          <p:cNvSpPr/>
          <p:nvPr/>
        </p:nvSpPr>
        <p:spPr>
          <a:xfrm>
            <a:off x="837234" y="1151319"/>
            <a:ext cx="9084532" cy="1786258"/>
          </a:xfrm>
          <a:prstGeom prst="rect">
            <a:avLst/>
          </a:prstGeom>
        </p:spPr>
        <p:txBody>
          <a:bodyPr wrap="square">
            <a:spAutoFit/>
          </a:bodyPr>
          <a:lstStyle/>
          <a:p>
            <a:pPr marR="163195" lvl="0">
              <a:lnSpc>
                <a:spcPct val="115000"/>
              </a:lnSpc>
              <a:spcBef>
                <a:spcPts val="1000"/>
              </a:spcBef>
            </a:pPr>
            <a:r>
              <a:rPr lang="en-US" b="1" dirty="0">
                <a:solidFill>
                  <a:srgbClr val="2B3050"/>
                </a:solidFill>
                <a:latin typeface="Arial"/>
                <a:ea typeface="Arial"/>
                <a:cs typeface="Arial"/>
                <a:sym typeface="Arial"/>
              </a:rPr>
              <a:t>Data type Conversions</a:t>
            </a:r>
          </a:p>
          <a:p>
            <a:pPr marR="163195" lvl="0">
              <a:lnSpc>
                <a:spcPct val="115000"/>
              </a:lnSpc>
              <a:spcBef>
                <a:spcPts val="1000"/>
              </a:spcBef>
            </a:pPr>
            <a:r>
              <a:rPr lang="en-US" dirty="0">
                <a:solidFill>
                  <a:srgbClr val="2B3050"/>
                </a:solidFill>
                <a:latin typeface="Arial"/>
                <a:ea typeface="Arial"/>
                <a:cs typeface="Arial"/>
                <a:sym typeface="Arial"/>
              </a:rPr>
              <a:t>In some cases, you may need to convert a data type for a variable to another data type such as changing an Integer to a String. To do that, you need to use </a:t>
            </a:r>
            <a:r>
              <a:rPr lang="en-US" dirty="0" err="1">
                <a:solidFill>
                  <a:srgbClr val="2B3050"/>
                </a:solidFill>
                <a:latin typeface="Arial"/>
                <a:ea typeface="Arial"/>
                <a:cs typeface="Arial"/>
                <a:sym typeface="Arial"/>
              </a:rPr>
              <a:t>toString</a:t>
            </a:r>
            <a:r>
              <a:rPr lang="en-US" dirty="0">
                <a:solidFill>
                  <a:srgbClr val="2B3050"/>
                </a:solidFill>
                <a:latin typeface="Arial"/>
                <a:ea typeface="Arial"/>
                <a:cs typeface="Arial"/>
                <a:sym typeface="Arial"/>
              </a:rPr>
              <a:t>() function explicitly to convert the variable to data type String, as illustrated in the following figure:</a:t>
            </a:r>
          </a:p>
        </p:txBody>
      </p:sp>
      <p:graphicFrame>
        <p:nvGraphicFramePr>
          <p:cNvPr id="4" name="Table 3"/>
          <p:cNvGraphicFramePr>
            <a:graphicFrameLocks noGrp="1"/>
          </p:cNvGraphicFramePr>
          <p:nvPr>
            <p:extLst>
              <p:ext uri="{D42A27DB-BD31-4B8C-83A1-F6EECF244321}">
                <p14:modId xmlns:p14="http://schemas.microsoft.com/office/powerpoint/2010/main" val="3360458913"/>
              </p:ext>
            </p:extLst>
          </p:nvPr>
        </p:nvGraphicFramePr>
        <p:xfrm>
          <a:off x="837234" y="3490286"/>
          <a:ext cx="4470490" cy="1737360"/>
        </p:xfrm>
        <a:graphic>
          <a:graphicData uri="http://schemas.openxmlformats.org/drawingml/2006/table">
            <a:tbl>
              <a:tblPr firstRow="1" bandRow="1">
                <a:tableStyleId>{073A0DAA-6AF3-43AB-8588-CEC1D06C72B9}</a:tableStyleId>
              </a:tblPr>
              <a:tblGrid>
                <a:gridCol w="4470490">
                  <a:extLst>
                    <a:ext uri="{9D8B030D-6E8A-4147-A177-3AD203B41FA5}">
                      <a16:colId xmlns:a16="http://schemas.microsoft.com/office/drawing/2014/main" val="2648323684"/>
                    </a:ext>
                  </a:extLst>
                </a:gridCol>
              </a:tblGrid>
              <a:tr h="370840">
                <a:tc>
                  <a:txBody>
                    <a:bodyPr/>
                    <a:lstStyle/>
                    <a:p>
                      <a:r>
                        <a:rPr lang="en-US" sz="1800" b="0" kern="1200" dirty="0">
                          <a:solidFill>
                            <a:schemeClr val="lt1"/>
                          </a:solidFill>
                          <a:effectLst/>
                          <a:latin typeface="+mn-lt"/>
                          <a:ea typeface="+mn-ea"/>
                          <a:cs typeface="+mn-cs"/>
                        </a:rPr>
                        <a:t>void main() {</a:t>
                      </a:r>
                    </a:p>
                    <a:p>
                      <a:r>
                        <a:rPr lang="en-US" sz="1800" b="0" kern="1200" dirty="0">
                          <a:solidFill>
                            <a:schemeClr val="lt1"/>
                          </a:solidFill>
                          <a:effectLst/>
                          <a:latin typeface="+mn-lt"/>
                          <a:ea typeface="+mn-ea"/>
                          <a:cs typeface="+mn-cs"/>
                        </a:rPr>
                        <a:t>  </a:t>
                      </a:r>
                    </a:p>
                    <a:p>
                      <a:r>
                        <a:rPr lang="en-US" sz="1800" b="0" kern="1200" dirty="0">
                          <a:solidFill>
                            <a:schemeClr val="lt1"/>
                          </a:solidFill>
                          <a:effectLst/>
                          <a:latin typeface="+mn-lt"/>
                          <a:ea typeface="+mn-ea"/>
                          <a:cs typeface="+mn-cs"/>
                        </a:rPr>
                        <a:t> </a:t>
                      </a:r>
                      <a:r>
                        <a:rPr lang="en-US" sz="1800" b="0" kern="1200" dirty="0" err="1">
                          <a:solidFill>
                            <a:schemeClr val="lt1"/>
                          </a:solidFill>
                          <a:effectLst/>
                          <a:latin typeface="+mn-lt"/>
                          <a:ea typeface="+mn-ea"/>
                          <a:cs typeface="+mn-cs"/>
                        </a:rPr>
                        <a:t>int</a:t>
                      </a:r>
                      <a:r>
                        <a:rPr lang="en-US" sz="1800" b="0" kern="1200" dirty="0">
                          <a:solidFill>
                            <a:schemeClr val="lt1"/>
                          </a:solidFill>
                          <a:effectLst/>
                          <a:latin typeface="+mn-lt"/>
                          <a:ea typeface="+mn-ea"/>
                          <a:cs typeface="+mn-cs"/>
                        </a:rPr>
                        <a:t> x = 30;</a:t>
                      </a:r>
                    </a:p>
                    <a:p>
                      <a:br>
                        <a:rPr lang="en-US" sz="1800" b="0" kern="1200" dirty="0">
                          <a:solidFill>
                            <a:schemeClr val="lt1"/>
                          </a:solidFill>
                          <a:effectLst/>
                          <a:latin typeface="+mn-lt"/>
                          <a:ea typeface="+mn-ea"/>
                          <a:cs typeface="+mn-cs"/>
                        </a:rPr>
                      </a:br>
                      <a:r>
                        <a:rPr lang="en-US" sz="1800" b="0" kern="1200" dirty="0">
                          <a:solidFill>
                            <a:schemeClr val="lt1"/>
                          </a:solidFill>
                          <a:effectLst/>
                          <a:latin typeface="+mn-lt"/>
                          <a:ea typeface="+mn-ea"/>
                          <a:cs typeface="+mn-cs"/>
                        </a:rPr>
                        <a:t> print(</a:t>
                      </a:r>
                      <a:r>
                        <a:rPr lang="en-US" sz="1800" b="0" kern="1200" dirty="0" err="1">
                          <a:solidFill>
                            <a:schemeClr val="lt1"/>
                          </a:solidFill>
                          <a:effectLst/>
                          <a:latin typeface="+mn-lt"/>
                          <a:ea typeface="+mn-ea"/>
                          <a:cs typeface="+mn-cs"/>
                        </a:rPr>
                        <a:t>x.toString</a:t>
                      </a:r>
                      <a:r>
                        <a:rPr lang="en-US" sz="1800" b="0" kern="1200" dirty="0">
                          <a:solidFill>
                            <a:schemeClr val="lt1"/>
                          </a:solidFill>
                          <a:effectLst/>
                          <a:latin typeface="+mn-lt"/>
                          <a:ea typeface="+mn-ea"/>
                          <a:cs typeface="+mn-cs"/>
                        </a:rPr>
                        <a:t>());</a:t>
                      </a:r>
                    </a:p>
                    <a:p>
                      <a:r>
                        <a:rPr lang="en-US" sz="1800" b="0" kern="1200" dirty="0">
                          <a:solidFill>
                            <a:schemeClr val="lt1"/>
                          </a:solidFill>
                          <a:effectLst/>
                          <a:latin typeface="+mn-lt"/>
                          <a:ea typeface="+mn-ea"/>
                          <a:cs typeface="+mn-cs"/>
                        </a:rPr>
                        <a:t>}</a:t>
                      </a:r>
                    </a:p>
                  </a:txBody>
                  <a:tcPr/>
                </a:tc>
                <a:extLst>
                  <a:ext uri="{0D108BD9-81ED-4DB2-BD59-A6C34878D82A}">
                    <a16:rowId xmlns:a16="http://schemas.microsoft.com/office/drawing/2014/main" val="425366756"/>
                  </a:ext>
                </a:extLst>
              </a:tr>
            </a:tbl>
          </a:graphicData>
        </a:graphic>
      </p:graphicFrame>
      <p:pic>
        <p:nvPicPr>
          <p:cNvPr id="3" name="Picture 2"/>
          <p:cNvPicPr>
            <a:picLocks noChangeAspect="1"/>
          </p:cNvPicPr>
          <p:nvPr/>
        </p:nvPicPr>
        <p:blipFill>
          <a:blip r:embed="rId4"/>
          <a:stretch>
            <a:fillRect/>
          </a:stretch>
        </p:blipFill>
        <p:spPr>
          <a:xfrm>
            <a:off x="6425438" y="2772781"/>
            <a:ext cx="4616687" cy="3435527"/>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86895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22</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837235" y="474882"/>
            <a:ext cx="9084531" cy="572700"/>
          </a:xfrm>
          <a:prstGeom prst="rect">
            <a:avLst/>
          </a:prstGeom>
        </p:spPr>
        <p:txBody>
          <a:bodyPr spcFirstLastPara="1" wrap="square" lIns="91425" tIns="91425" rIns="91425" bIns="91425" anchor="t" anchorCtr="0">
            <a:noAutofit/>
          </a:bodyPr>
          <a:lstStyle/>
          <a:p>
            <a:pPr lvl="0">
              <a:spcBef>
                <a:spcPts val="0"/>
              </a:spcBef>
            </a:pPr>
            <a:r>
              <a:rPr lang="en" dirty="0">
                <a:solidFill>
                  <a:srgbClr val="1E9E78"/>
                </a:solidFill>
              </a:rPr>
              <a:t>Input of Information </a:t>
            </a:r>
            <a:r>
              <a:rPr lang="en" dirty="0"/>
              <a:t>to Dart Program</a:t>
            </a:r>
            <a:endParaRPr lang="en-US" cap="none" dirty="0">
              <a:solidFill>
                <a:srgbClr val="1E9E78"/>
              </a:solidFill>
            </a:endParaRPr>
          </a:p>
        </p:txBody>
      </p:sp>
      <p:pic>
        <p:nvPicPr>
          <p:cNvPr id="12"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5" name="Rectangle 4"/>
          <p:cNvSpPr/>
          <p:nvPr/>
        </p:nvSpPr>
        <p:spPr>
          <a:xfrm>
            <a:off x="837233" y="1151319"/>
            <a:ext cx="10051483" cy="1941557"/>
          </a:xfrm>
          <a:prstGeom prst="rect">
            <a:avLst/>
          </a:prstGeom>
        </p:spPr>
        <p:txBody>
          <a:bodyPr wrap="square">
            <a:spAutoFit/>
          </a:bodyPr>
          <a:lstStyle/>
          <a:p>
            <a:pPr marR="163195" lvl="0">
              <a:lnSpc>
                <a:spcPct val="115000"/>
              </a:lnSpc>
              <a:spcBef>
                <a:spcPts val="1000"/>
              </a:spcBef>
            </a:pPr>
            <a:r>
              <a:rPr lang="en-US" b="1" dirty="0">
                <a:solidFill>
                  <a:srgbClr val="2B3050"/>
                </a:solidFill>
                <a:latin typeface="Arial"/>
                <a:ea typeface="Arial"/>
                <a:cs typeface="Arial"/>
                <a:sym typeface="Arial"/>
              </a:rPr>
              <a:t>Input of Information to Dart Program</a:t>
            </a:r>
          </a:p>
          <a:p>
            <a:pPr marR="163195" lvl="0">
              <a:lnSpc>
                <a:spcPct val="115000"/>
              </a:lnSpc>
              <a:spcBef>
                <a:spcPts val="1000"/>
              </a:spcBef>
            </a:pPr>
            <a:r>
              <a:rPr lang="en-US" b="1" dirty="0" err="1">
                <a:solidFill>
                  <a:srgbClr val="2B3050"/>
                </a:solidFill>
                <a:latin typeface="Arial"/>
                <a:ea typeface="Arial"/>
                <a:cs typeface="Arial"/>
                <a:sym typeface="Arial"/>
              </a:rPr>
              <a:t>stdin.readLineSync</a:t>
            </a:r>
            <a:r>
              <a:rPr lang="en-US" b="1" dirty="0">
                <a:solidFill>
                  <a:srgbClr val="2B3050"/>
                </a:solidFill>
                <a:latin typeface="Arial"/>
                <a:ea typeface="Arial"/>
                <a:cs typeface="Arial"/>
                <a:sym typeface="Arial"/>
              </a:rPr>
              <a:t>()</a:t>
            </a:r>
            <a:r>
              <a:rPr lang="en-US" dirty="0">
                <a:solidFill>
                  <a:srgbClr val="2B3050"/>
                </a:solidFill>
                <a:latin typeface="Arial"/>
                <a:ea typeface="Arial"/>
                <a:cs typeface="Arial"/>
                <a:sym typeface="Arial"/>
              </a:rPr>
              <a:t> function allows the program user to enter string values or intercept keyboard input from the console as shown in following example:</a:t>
            </a:r>
          </a:p>
          <a:p>
            <a:pPr marR="163195" lvl="0">
              <a:lnSpc>
                <a:spcPct val="115000"/>
              </a:lnSpc>
              <a:spcBef>
                <a:spcPts val="1000"/>
              </a:spcBef>
            </a:pPr>
            <a:r>
              <a:rPr lang="en-US" dirty="0">
                <a:solidFill>
                  <a:srgbClr val="2B3050"/>
                </a:solidFill>
                <a:latin typeface="Arial"/>
                <a:ea typeface="Arial"/>
                <a:cs typeface="Arial"/>
                <a:sym typeface="Arial"/>
              </a:rPr>
              <a:t>Here, at the first line of code, add : import '</a:t>
            </a:r>
            <a:r>
              <a:rPr lang="en-US" dirty="0" err="1">
                <a:solidFill>
                  <a:srgbClr val="2B3050"/>
                </a:solidFill>
                <a:latin typeface="Arial"/>
                <a:ea typeface="Arial"/>
                <a:cs typeface="Arial"/>
                <a:sym typeface="Arial"/>
              </a:rPr>
              <a:t>dart:io</a:t>
            </a:r>
            <a:r>
              <a:rPr lang="en-US" dirty="0">
                <a:solidFill>
                  <a:srgbClr val="2B3050"/>
                </a:solidFill>
                <a:latin typeface="Arial"/>
                <a:ea typeface="Arial"/>
                <a:cs typeface="Arial"/>
                <a:sym typeface="Arial"/>
              </a:rPr>
              <a:t>' to import the </a:t>
            </a:r>
            <a:r>
              <a:rPr lang="en-US" dirty="0" err="1">
                <a:solidFill>
                  <a:srgbClr val="2B3050"/>
                </a:solidFill>
                <a:latin typeface="Arial"/>
                <a:ea typeface="Arial"/>
                <a:cs typeface="Arial"/>
                <a:sym typeface="Arial"/>
              </a:rPr>
              <a:t>dart:io</a:t>
            </a:r>
            <a:r>
              <a:rPr lang="en-US" dirty="0">
                <a:solidFill>
                  <a:srgbClr val="2B3050"/>
                </a:solidFill>
                <a:latin typeface="Arial"/>
                <a:ea typeface="Arial"/>
                <a:cs typeface="Arial"/>
                <a:sym typeface="Arial"/>
              </a:rPr>
              <a:t> library. This library allows IntelliJ to accept the input of information commands.</a:t>
            </a:r>
          </a:p>
        </p:txBody>
      </p:sp>
      <p:pic>
        <p:nvPicPr>
          <p:cNvPr id="6" name="Picture 5"/>
          <p:cNvPicPr>
            <a:picLocks noChangeAspect="1"/>
          </p:cNvPicPr>
          <p:nvPr/>
        </p:nvPicPr>
        <p:blipFill>
          <a:blip r:embed="rId4"/>
          <a:stretch>
            <a:fillRect/>
          </a:stretch>
        </p:blipFill>
        <p:spPr>
          <a:xfrm>
            <a:off x="5862974" y="1324538"/>
            <a:ext cx="5302885" cy="4299501"/>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3750617823"/>
              </p:ext>
            </p:extLst>
          </p:nvPr>
        </p:nvGraphicFramePr>
        <p:xfrm>
          <a:off x="837233" y="3148301"/>
          <a:ext cx="4911060" cy="3017520"/>
        </p:xfrm>
        <a:graphic>
          <a:graphicData uri="http://schemas.openxmlformats.org/drawingml/2006/table">
            <a:tbl>
              <a:tblPr firstRow="1" bandRow="1">
                <a:tableStyleId>{073A0DAA-6AF3-43AB-8588-CEC1D06C72B9}</a:tableStyleId>
              </a:tblPr>
              <a:tblGrid>
                <a:gridCol w="4911060">
                  <a:extLst>
                    <a:ext uri="{9D8B030D-6E8A-4147-A177-3AD203B41FA5}">
                      <a16:colId xmlns:a16="http://schemas.microsoft.com/office/drawing/2014/main" val="2289195765"/>
                    </a:ext>
                  </a:extLst>
                </a:gridCol>
              </a:tblGrid>
              <a:tr h="370840">
                <a:tc>
                  <a:txBody>
                    <a:bodyPr/>
                    <a:lstStyle/>
                    <a:p>
                      <a:r>
                        <a:rPr lang="en-US" sz="1600" b="0" kern="1200" dirty="0">
                          <a:solidFill>
                            <a:schemeClr val="lt1"/>
                          </a:solidFill>
                          <a:effectLst/>
                          <a:latin typeface="+mn-lt"/>
                          <a:ea typeface="+mn-ea"/>
                          <a:cs typeface="+mn-cs"/>
                        </a:rPr>
                        <a:t>import '</a:t>
                      </a:r>
                      <a:r>
                        <a:rPr lang="en-US" sz="1600" b="0" kern="1200" dirty="0" err="1">
                          <a:solidFill>
                            <a:schemeClr val="lt1"/>
                          </a:solidFill>
                          <a:effectLst/>
                          <a:latin typeface="+mn-lt"/>
                          <a:ea typeface="+mn-ea"/>
                          <a:cs typeface="+mn-cs"/>
                        </a:rPr>
                        <a:t>dart:io</a:t>
                      </a:r>
                      <a:r>
                        <a:rPr lang="en-US" sz="1600" b="0" kern="1200" dirty="0">
                          <a:solidFill>
                            <a:schemeClr val="lt1"/>
                          </a:solidFill>
                          <a:effectLst/>
                          <a:latin typeface="+mn-lt"/>
                          <a:ea typeface="+mn-ea"/>
                          <a:cs typeface="+mn-cs"/>
                        </a:rPr>
                        <a:t>';</a:t>
                      </a:r>
                      <a:br>
                        <a:rPr lang="en-US" sz="1600" b="0" kern="1200" dirty="0">
                          <a:solidFill>
                            <a:schemeClr val="lt1"/>
                          </a:solidFill>
                          <a:effectLst/>
                          <a:latin typeface="+mn-lt"/>
                          <a:ea typeface="+mn-ea"/>
                          <a:cs typeface="+mn-cs"/>
                        </a:rPr>
                      </a:br>
                      <a:r>
                        <a:rPr lang="en-US" sz="1600" b="0" kern="1200" dirty="0">
                          <a:solidFill>
                            <a:schemeClr val="lt1"/>
                          </a:solidFill>
                          <a:effectLst/>
                          <a:latin typeface="+mn-lt"/>
                          <a:ea typeface="+mn-ea"/>
                          <a:cs typeface="+mn-cs"/>
                        </a:rPr>
                        <a:t>void main() {</a:t>
                      </a:r>
                    </a:p>
                    <a:p>
                      <a:r>
                        <a:rPr lang="en-US" sz="1600" b="0" kern="1200" dirty="0">
                          <a:solidFill>
                            <a:schemeClr val="lt1"/>
                          </a:solidFill>
                          <a:effectLst/>
                          <a:latin typeface="+mn-lt"/>
                          <a:ea typeface="+mn-ea"/>
                          <a:cs typeface="+mn-cs"/>
                        </a:rPr>
                        <a:t> print("Please </a:t>
                      </a:r>
                      <a:r>
                        <a:rPr lang="en-US" sz="1600" b="0" kern="1200" dirty="0" err="1">
                          <a:solidFill>
                            <a:schemeClr val="lt1"/>
                          </a:solidFill>
                          <a:effectLst/>
                          <a:latin typeface="+mn-lt"/>
                          <a:ea typeface="+mn-ea"/>
                          <a:cs typeface="+mn-cs"/>
                        </a:rPr>
                        <a:t>inout</a:t>
                      </a:r>
                      <a:r>
                        <a:rPr lang="en-US" sz="1600" b="0" kern="1200" dirty="0">
                          <a:solidFill>
                            <a:schemeClr val="lt1"/>
                          </a:solidFill>
                          <a:effectLst/>
                          <a:latin typeface="+mn-lt"/>
                          <a:ea typeface="+mn-ea"/>
                          <a:cs typeface="+mn-cs"/>
                        </a:rPr>
                        <a:t> your name");</a:t>
                      </a:r>
                    </a:p>
                    <a:p>
                      <a:r>
                        <a:rPr lang="en-US" sz="1600" b="0" kern="1200" dirty="0">
                          <a:solidFill>
                            <a:schemeClr val="lt1"/>
                          </a:solidFill>
                          <a:effectLst/>
                          <a:latin typeface="+mn-lt"/>
                          <a:ea typeface="+mn-ea"/>
                          <a:cs typeface="+mn-cs"/>
                        </a:rPr>
                        <a:t> String? name = </a:t>
                      </a:r>
                      <a:r>
                        <a:rPr lang="en-US" sz="1600" b="0" kern="1200" dirty="0" err="1">
                          <a:solidFill>
                            <a:schemeClr val="lt1"/>
                          </a:solidFill>
                          <a:effectLst/>
                          <a:latin typeface="+mn-lt"/>
                          <a:ea typeface="+mn-ea"/>
                          <a:cs typeface="+mn-cs"/>
                        </a:rPr>
                        <a:t>stdin.readLineSync</a:t>
                      </a:r>
                      <a:r>
                        <a:rPr lang="en-US" sz="1600" b="0" kern="1200" dirty="0">
                          <a:solidFill>
                            <a:schemeClr val="lt1"/>
                          </a:solidFill>
                          <a:effectLst/>
                          <a:latin typeface="+mn-lt"/>
                          <a:ea typeface="+mn-ea"/>
                          <a:cs typeface="+mn-cs"/>
                        </a:rPr>
                        <a:t>();</a:t>
                      </a:r>
                    </a:p>
                    <a:p>
                      <a:r>
                        <a:rPr lang="en-US" sz="1600" b="0" kern="1200" dirty="0">
                          <a:solidFill>
                            <a:schemeClr val="lt1"/>
                          </a:solidFill>
                          <a:effectLst/>
                          <a:latin typeface="+mn-lt"/>
                          <a:ea typeface="+mn-ea"/>
                          <a:cs typeface="+mn-cs"/>
                        </a:rPr>
                        <a:t> print("Please enter your age: ");</a:t>
                      </a:r>
                    </a:p>
                    <a:p>
                      <a:r>
                        <a:rPr lang="en-US" sz="1600" b="0" kern="1200" dirty="0">
                          <a:solidFill>
                            <a:schemeClr val="lt1"/>
                          </a:solidFill>
                          <a:effectLst/>
                          <a:latin typeface="+mn-lt"/>
                          <a:ea typeface="+mn-ea"/>
                          <a:cs typeface="+mn-cs"/>
                        </a:rPr>
                        <a:t> </a:t>
                      </a:r>
                      <a:r>
                        <a:rPr lang="en-US" sz="1600" b="0" kern="1200" dirty="0" err="1">
                          <a:solidFill>
                            <a:schemeClr val="lt1"/>
                          </a:solidFill>
                          <a:effectLst/>
                          <a:latin typeface="+mn-lt"/>
                          <a:ea typeface="+mn-ea"/>
                          <a:cs typeface="+mn-cs"/>
                        </a:rPr>
                        <a:t>int</a:t>
                      </a:r>
                      <a:r>
                        <a:rPr lang="en-US" sz="1600" b="0" kern="1200" dirty="0">
                          <a:solidFill>
                            <a:schemeClr val="lt1"/>
                          </a:solidFill>
                          <a:effectLst/>
                          <a:latin typeface="+mn-lt"/>
                          <a:ea typeface="+mn-ea"/>
                          <a:cs typeface="+mn-cs"/>
                        </a:rPr>
                        <a:t> age = </a:t>
                      </a:r>
                      <a:r>
                        <a:rPr lang="en-US" sz="1600" b="0" kern="1200" dirty="0" err="1">
                          <a:solidFill>
                            <a:schemeClr val="lt1"/>
                          </a:solidFill>
                          <a:effectLst/>
                          <a:latin typeface="+mn-lt"/>
                          <a:ea typeface="+mn-ea"/>
                          <a:cs typeface="+mn-cs"/>
                        </a:rPr>
                        <a:t>int.parse</a:t>
                      </a:r>
                      <a:r>
                        <a:rPr lang="en-US" sz="1600" b="0" kern="1200" dirty="0">
                          <a:solidFill>
                            <a:schemeClr val="lt1"/>
                          </a:solidFill>
                          <a:effectLst/>
                          <a:latin typeface="+mn-lt"/>
                          <a:ea typeface="+mn-ea"/>
                          <a:cs typeface="+mn-cs"/>
                        </a:rPr>
                        <a:t>(</a:t>
                      </a:r>
                      <a:r>
                        <a:rPr lang="en-US" sz="1600" b="0" kern="1200" dirty="0" err="1">
                          <a:solidFill>
                            <a:schemeClr val="lt1"/>
                          </a:solidFill>
                          <a:effectLst/>
                          <a:latin typeface="+mn-lt"/>
                          <a:ea typeface="+mn-ea"/>
                          <a:cs typeface="+mn-cs"/>
                        </a:rPr>
                        <a:t>stdin.readLineSync</a:t>
                      </a:r>
                      <a:r>
                        <a:rPr lang="en-US" sz="1600" b="0" kern="1200" dirty="0">
                          <a:solidFill>
                            <a:schemeClr val="lt1"/>
                          </a:solidFill>
                          <a:effectLst/>
                          <a:latin typeface="+mn-lt"/>
                          <a:ea typeface="+mn-ea"/>
                          <a:cs typeface="+mn-cs"/>
                        </a:rPr>
                        <a:t>()!);</a:t>
                      </a:r>
                    </a:p>
                    <a:p>
                      <a:r>
                        <a:rPr lang="en-US" sz="1600" b="0" kern="1200" dirty="0">
                          <a:solidFill>
                            <a:schemeClr val="lt1"/>
                          </a:solidFill>
                          <a:effectLst/>
                          <a:latin typeface="+mn-lt"/>
                          <a:ea typeface="+mn-ea"/>
                          <a:cs typeface="+mn-cs"/>
                        </a:rPr>
                        <a:t>print("Please enter your CGPA: ");</a:t>
                      </a:r>
                    </a:p>
                    <a:p>
                      <a:r>
                        <a:rPr lang="en-US" sz="1600" b="0" kern="1200" dirty="0">
                          <a:solidFill>
                            <a:schemeClr val="lt1"/>
                          </a:solidFill>
                          <a:effectLst/>
                          <a:latin typeface="+mn-lt"/>
                          <a:ea typeface="+mn-ea"/>
                          <a:cs typeface="+mn-cs"/>
                        </a:rPr>
                        <a:t> double </a:t>
                      </a:r>
                      <a:r>
                        <a:rPr lang="en-US" sz="1600" b="0" kern="1200" dirty="0" err="1">
                          <a:solidFill>
                            <a:schemeClr val="lt1"/>
                          </a:solidFill>
                          <a:effectLst/>
                          <a:latin typeface="+mn-lt"/>
                          <a:ea typeface="+mn-ea"/>
                          <a:cs typeface="+mn-cs"/>
                        </a:rPr>
                        <a:t>cgpa</a:t>
                      </a:r>
                      <a:r>
                        <a:rPr lang="en-US" sz="1600" b="0" kern="1200" dirty="0">
                          <a:solidFill>
                            <a:schemeClr val="lt1"/>
                          </a:solidFill>
                          <a:effectLst/>
                          <a:latin typeface="+mn-lt"/>
                          <a:ea typeface="+mn-ea"/>
                          <a:cs typeface="+mn-cs"/>
                        </a:rPr>
                        <a:t> = </a:t>
                      </a:r>
                      <a:r>
                        <a:rPr lang="en-US" sz="1600" b="0" kern="1200" dirty="0" err="1">
                          <a:solidFill>
                            <a:schemeClr val="lt1"/>
                          </a:solidFill>
                          <a:effectLst/>
                          <a:latin typeface="+mn-lt"/>
                          <a:ea typeface="+mn-ea"/>
                          <a:cs typeface="+mn-cs"/>
                        </a:rPr>
                        <a:t>double.parse</a:t>
                      </a:r>
                      <a:r>
                        <a:rPr lang="en-US" sz="1600" b="0" kern="1200" dirty="0">
                          <a:solidFill>
                            <a:schemeClr val="lt1"/>
                          </a:solidFill>
                          <a:effectLst/>
                          <a:latin typeface="+mn-lt"/>
                          <a:ea typeface="+mn-ea"/>
                          <a:cs typeface="+mn-cs"/>
                        </a:rPr>
                        <a:t>(</a:t>
                      </a:r>
                      <a:r>
                        <a:rPr lang="en-US" sz="1600" b="0" kern="1200" dirty="0" err="1">
                          <a:solidFill>
                            <a:schemeClr val="lt1"/>
                          </a:solidFill>
                          <a:effectLst/>
                          <a:latin typeface="+mn-lt"/>
                          <a:ea typeface="+mn-ea"/>
                          <a:cs typeface="+mn-cs"/>
                        </a:rPr>
                        <a:t>stdin.readLineSync</a:t>
                      </a:r>
                      <a:r>
                        <a:rPr lang="en-US" sz="1600" b="0" kern="1200" dirty="0">
                          <a:solidFill>
                            <a:schemeClr val="lt1"/>
                          </a:solidFill>
                          <a:effectLst/>
                          <a:latin typeface="+mn-lt"/>
                          <a:ea typeface="+mn-ea"/>
                          <a:cs typeface="+mn-cs"/>
                        </a:rPr>
                        <a:t>()!);</a:t>
                      </a:r>
                    </a:p>
                    <a:p>
                      <a:r>
                        <a:rPr lang="en-US" sz="1600" b="0" kern="1200" dirty="0">
                          <a:solidFill>
                            <a:schemeClr val="lt1"/>
                          </a:solidFill>
                          <a:effectLst/>
                          <a:latin typeface="+mn-lt"/>
                          <a:ea typeface="+mn-ea"/>
                          <a:cs typeface="+mn-cs"/>
                        </a:rPr>
                        <a:t> print("Your name is $name");</a:t>
                      </a:r>
                    </a:p>
                    <a:p>
                      <a:r>
                        <a:rPr lang="en-US" sz="1600" b="0" kern="1200" dirty="0">
                          <a:solidFill>
                            <a:schemeClr val="lt1"/>
                          </a:solidFill>
                          <a:effectLst/>
                          <a:latin typeface="+mn-lt"/>
                          <a:ea typeface="+mn-ea"/>
                          <a:cs typeface="+mn-cs"/>
                        </a:rPr>
                        <a:t> print("Your age is $age");</a:t>
                      </a:r>
                    </a:p>
                    <a:p>
                      <a:r>
                        <a:rPr lang="en-US" sz="1600" b="0" kern="1200" dirty="0">
                          <a:solidFill>
                            <a:schemeClr val="lt1"/>
                          </a:solidFill>
                          <a:effectLst/>
                          <a:latin typeface="+mn-lt"/>
                          <a:ea typeface="+mn-ea"/>
                          <a:cs typeface="+mn-cs"/>
                        </a:rPr>
                        <a:t> print("Your CGPA is $</a:t>
                      </a:r>
                      <a:r>
                        <a:rPr lang="en-US" sz="1600" b="0" kern="1200" dirty="0" err="1">
                          <a:solidFill>
                            <a:schemeClr val="lt1"/>
                          </a:solidFill>
                          <a:effectLst/>
                          <a:latin typeface="+mn-lt"/>
                          <a:ea typeface="+mn-ea"/>
                          <a:cs typeface="+mn-cs"/>
                        </a:rPr>
                        <a:t>cgpa</a:t>
                      </a:r>
                      <a:r>
                        <a:rPr lang="en-US" sz="1600" b="0" kern="1200" dirty="0">
                          <a:solidFill>
                            <a:schemeClr val="lt1"/>
                          </a:solidFill>
                          <a:effectLst/>
                          <a:latin typeface="+mn-lt"/>
                          <a:ea typeface="+mn-ea"/>
                          <a:cs typeface="+mn-cs"/>
                        </a:rPr>
                        <a:t>");</a:t>
                      </a:r>
                      <a:br>
                        <a:rPr lang="en-US" sz="1600" b="0" kern="1200" dirty="0">
                          <a:solidFill>
                            <a:schemeClr val="lt1"/>
                          </a:solidFill>
                          <a:effectLst/>
                          <a:latin typeface="+mn-lt"/>
                          <a:ea typeface="+mn-ea"/>
                          <a:cs typeface="+mn-cs"/>
                        </a:rPr>
                      </a:br>
                      <a:r>
                        <a:rPr lang="en-US" sz="1600" b="0" kern="1200" dirty="0">
                          <a:solidFill>
                            <a:schemeClr val="lt1"/>
                          </a:solidFill>
                          <a:effectLst/>
                          <a:latin typeface="+mn-lt"/>
                          <a:ea typeface="+mn-ea"/>
                          <a:cs typeface="+mn-cs"/>
                        </a:rPr>
                        <a:t>}</a:t>
                      </a:r>
                    </a:p>
                  </a:txBody>
                  <a:tcPr/>
                </a:tc>
                <a:extLst>
                  <a:ext uri="{0D108BD9-81ED-4DB2-BD59-A6C34878D82A}">
                    <a16:rowId xmlns:a16="http://schemas.microsoft.com/office/drawing/2014/main" val="1618898558"/>
                  </a:ext>
                </a:extLst>
              </a:tr>
            </a:tbl>
          </a:graphicData>
        </a:graphic>
      </p:graphicFrame>
    </p:spTree>
    <p:extLst>
      <p:ext uri="{BB962C8B-B14F-4D97-AF65-F5344CB8AC3E}">
        <p14:creationId xmlns:p14="http://schemas.microsoft.com/office/powerpoint/2010/main" val="7039957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23</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409983" y="482783"/>
            <a:ext cx="6514178" cy="572700"/>
          </a:xfrm>
          <a:prstGeom prst="rect">
            <a:avLst/>
          </a:prstGeom>
        </p:spPr>
        <p:txBody>
          <a:bodyPr spcFirstLastPara="1" wrap="square" lIns="91425" tIns="91425" rIns="91425" bIns="91425" anchor="t" anchorCtr="0">
            <a:noAutofit/>
          </a:bodyPr>
          <a:lstStyle/>
          <a:p>
            <a:pPr lvl="0" algn="ctr">
              <a:spcBef>
                <a:spcPts val="0"/>
              </a:spcBef>
            </a:pPr>
            <a:r>
              <a:rPr lang="en" dirty="0"/>
              <a:t>Dart </a:t>
            </a:r>
            <a:r>
              <a:rPr lang="en" dirty="0">
                <a:solidFill>
                  <a:srgbClr val="1E9E78"/>
                </a:solidFill>
              </a:rPr>
              <a:t>Conditional Operators</a:t>
            </a:r>
            <a:endParaRPr dirty="0">
              <a:solidFill>
                <a:srgbClr val="1E9E78"/>
              </a:solidFill>
            </a:endParaRPr>
          </a:p>
        </p:txBody>
      </p:sp>
      <p:sp>
        <p:nvSpPr>
          <p:cNvPr id="4" name="Rectangle 3"/>
          <p:cNvSpPr/>
          <p:nvPr/>
        </p:nvSpPr>
        <p:spPr>
          <a:xfrm>
            <a:off x="487440" y="1235806"/>
            <a:ext cx="9531459" cy="1282402"/>
          </a:xfrm>
          <a:prstGeom prst="rect">
            <a:avLst/>
          </a:prstGeom>
        </p:spPr>
        <p:txBody>
          <a:bodyPr wrap="square">
            <a:spAutoFit/>
          </a:bodyPr>
          <a:lstStyle/>
          <a:p>
            <a:pPr marR="163195" lvl="0">
              <a:lnSpc>
                <a:spcPct val="115000"/>
              </a:lnSpc>
              <a:spcBef>
                <a:spcPts val="1000"/>
              </a:spcBef>
            </a:pPr>
            <a:r>
              <a:rPr lang="en-US" sz="2000" dirty="0">
                <a:solidFill>
                  <a:srgbClr val="2B3050"/>
                </a:solidFill>
                <a:latin typeface="Arial"/>
                <a:ea typeface="Arial"/>
                <a:cs typeface="Arial"/>
                <a:sym typeface="Arial"/>
              </a:rPr>
              <a:t>The following table includes some conditional operators that help in the control flow of the Dart program:</a:t>
            </a:r>
          </a:p>
          <a:p>
            <a:pPr marR="163195" lvl="0">
              <a:lnSpc>
                <a:spcPct val="115000"/>
              </a:lnSpc>
              <a:spcBef>
                <a:spcPts val="1000"/>
              </a:spcBef>
            </a:pPr>
            <a:endParaRPr lang="en-US" sz="2000" dirty="0">
              <a:solidFill>
                <a:srgbClr val="2B3050"/>
              </a:solidFill>
              <a:latin typeface="Arial"/>
              <a:ea typeface="Arial"/>
              <a:cs typeface="Arial"/>
              <a:sym typeface="Aria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graphicFrame>
        <p:nvGraphicFramePr>
          <p:cNvPr id="9" name="Google Shape;436;p54"/>
          <p:cNvGraphicFramePr/>
          <p:nvPr>
            <p:extLst>
              <p:ext uri="{D42A27DB-BD31-4B8C-83A1-F6EECF244321}">
                <p14:modId xmlns:p14="http://schemas.microsoft.com/office/powerpoint/2010/main" val="488087670"/>
              </p:ext>
            </p:extLst>
          </p:nvPr>
        </p:nvGraphicFramePr>
        <p:xfrm>
          <a:off x="1542727" y="2244562"/>
          <a:ext cx="7133439" cy="4250930"/>
        </p:xfrm>
        <a:graphic>
          <a:graphicData uri="http://schemas.openxmlformats.org/drawingml/2006/table">
            <a:tbl>
              <a:tblPr>
                <a:noFill/>
              </a:tblPr>
              <a:tblGrid>
                <a:gridCol w="3153249">
                  <a:extLst>
                    <a:ext uri="{9D8B030D-6E8A-4147-A177-3AD203B41FA5}">
                      <a16:colId xmlns:a16="http://schemas.microsoft.com/office/drawing/2014/main" val="20000"/>
                    </a:ext>
                  </a:extLst>
                </a:gridCol>
                <a:gridCol w="3980190">
                  <a:extLst>
                    <a:ext uri="{9D8B030D-6E8A-4147-A177-3AD203B41FA5}">
                      <a16:colId xmlns:a16="http://schemas.microsoft.com/office/drawing/2014/main" val="20001"/>
                    </a:ext>
                  </a:extLst>
                </a:gridCol>
              </a:tblGrid>
              <a:tr h="283381">
                <a:tc>
                  <a:txBody>
                    <a:bodyPr/>
                    <a:lstStyle/>
                    <a:p>
                      <a:pPr marL="0" marR="0" lvl="0" indent="0" algn="ctr" rtl="0">
                        <a:lnSpc>
                          <a:spcPct val="100000"/>
                        </a:lnSpc>
                        <a:spcBef>
                          <a:spcPts val="0"/>
                        </a:spcBef>
                        <a:spcAft>
                          <a:spcPts val="0"/>
                        </a:spcAft>
                        <a:buNone/>
                      </a:pPr>
                      <a:r>
                        <a:rPr lang="en" sz="1800" b="1" u="none" strike="noStrike" cap="none" dirty="0">
                          <a:latin typeface="Arial"/>
                          <a:ea typeface="Arial"/>
                          <a:cs typeface="Arial"/>
                          <a:sym typeface="Arial"/>
                        </a:rPr>
                        <a:t>Operator</a:t>
                      </a:r>
                      <a:endParaRPr sz="18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b="1" u="none" strike="noStrike" cap="none">
                          <a:latin typeface="Arial"/>
                          <a:ea typeface="Arial"/>
                          <a:cs typeface="Arial"/>
                          <a:sym typeface="Arial"/>
                        </a:rPr>
                        <a:t>Description</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0"/>
                  </a:ext>
                </a:extLst>
              </a:tr>
              <a:tr h="283381">
                <a:tc>
                  <a:txBody>
                    <a:bodyPr/>
                    <a:lstStyle/>
                    <a:p>
                      <a:pPr marL="0" marR="0" lvl="0" indent="0" algn="ctr" rtl="0">
                        <a:lnSpc>
                          <a:spcPct val="100000"/>
                        </a:lnSpc>
                        <a:spcBef>
                          <a:spcPts val="0"/>
                        </a:spcBef>
                        <a:spcAft>
                          <a:spcPts val="0"/>
                        </a:spcAft>
                        <a:buNone/>
                      </a:pPr>
                      <a:r>
                        <a:rPr lang="en" sz="1800" u="none" strike="noStrike" cap="none" dirty="0">
                          <a:latin typeface="Arial"/>
                          <a:ea typeface="Arial"/>
                          <a:cs typeface="Arial"/>
                          <a:sym typeface="Arial"/>
                        </a:rPr>
                        <a:t>==</a:t>
                      </a:r>
                      <a:endParaRPr sz="18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50800" marR="0" lvl="0" indent="0" algn="l" rtl="0">
                        <a:lnSpc>
                          <a:spcPct val="100000"/>
                        </a:lnSpc>
                        <a:spcBef>
                          <a:spcPts val="0"/>
                        </a:spcBef>
                        <a:spcAft>
                          <a:spcPts val="0"/>
                        </a:spcAft>
                        <a:buNone/>
                      </a:pPr>
                      <a:r>
                        <a:rPr lang="en" sz="1800" u="none" strike="noStrike" cap="none">
                          <a:latin typeface="Arial"/>
                          <a:ea typeface="Arial"/>
                          <a:cs typeface="Arial"/>
                          <a:sym typeface="Arial"/>
                        </a:rPr>
                        <a:t>Equal to</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1"/>
                  </a:ext>
                </a:extLst>
              </a:tr>
              <a:tr h="283381">
                <a:tc>
                  <a:txBody>
                    <a:bodyPr/>
                    <a:lstStyle/>
                    <a:p>
                      <a:pPr marL="0" marR="0" lvl="0" indent="0" algn="ctr" rtl="0">
                        <a:lnSpc>
                          <a:spcPct val="100000"/>
                        </a:lnSpc>
                        <a:spcBef>
                          <a:spcPts val="0"/>
                        </a:spcBef>
                        <a:spcAft>
                          <a:spcPts val="0"/>
                        </a:spcAft>
                        <a:buNone/>
                      </a:pPr>
                      <a:r>
                        <a:rPr lang="en" sz="1800" u="none" strike="noStrike" cap="none" dirty="0">
                          <a:latin typeface="Arial"/>
                          <a:ea typeface="Arial"/>
                          <a:cs typeface="Arial"/>
                          <a:sym typeface="Arial"/>
                        </a:rPr>
                        <a:t>=!</a:t>
                      </a:r>
                      <a:endParaRPr sz="18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50800" marR="0" lvl="0" indent="0" algn="l" rtl="0">
                        <a:lnSpc>
                          <a:spcPct val="100000"/>
                        </a:lnSpc>
                        <a:spcBef>
                          <a:spcPts val="0"/>
                        </a:spcBef>
                        <a:spcAft>
                          <a:spcPts val="0"/>
                        </a:spcAft>
                        <a:buNone/>
                      </a:pPr>
                      <a:r>
                        <a:rPr lang="en" sz="1800" u="none" strike="noStrike" cap="none">
                          <a:latin typeface="Arial"/>
                          <a:ea typeface="Arial"/>
                          <a:cs typeface="Arial"/>
                          <a:sym typeface="Arial"/>
                        </a:rPr>
                        <a:t>Not Equal to</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2"/>
                  </a:ext>
                </a:extLst>
              </a:tr>
              <a:tr h="283381">
                <a:tc>
                  <a:txBody>
                    <a:bodyPr/>
                    <a:lstStyle/>
                    <a:p>
                      <a:pPr marL="0" marR="0" lvl="0" indent="0" algn="ctr" rtl="0">
                        <a:lnSpc>
                          <a:spcPct val="100000"/>
                        </a:lnSpc>
                        <a:spcBef>
                          <a:spcPts val="0"/>
                        </a:spcBef>
                        <a:spcAft>
                          <a:spcPts val="0"/>
                        </a:spcAft>
                        <a:buNone/>
                      </a:pPr>
                      <a:r>
                        <a:rPr lang="en" sz="1800" u="none" strike="noStrike" cap="none" dirty="0">
                          <a:latin typeface="Arial"/>
                          <a:ea typeface="Arial"/>
                          <a:cs typeface="Arial"/>
                          <a:sym typeface="Arial"/>
                        </a:rPr>
                        <a:t>&lt;</a:t>
                      </a:r>
                      <a:endParaRPr sz="18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50800" marR="0" lvl="0" indent="0" algn="l" rtl="0">
                        <a:lnSpc>
                          <a:spcPct val="100000"/>
                        </a:lnSpc>
                        <a:spcBef>
                          <a:spcPts val="0"/>
                        </a:spcBef>
                        <a:spcAft>
                          <a:spcPts val="0"/>
                        </a:spcAft>
                        <a:buNone/>
                      </a:pPr>
                      <a:r>
                        <a:rPr lang="en" sz="1800" u="none" strike="noStrike" cap="none">
                          <a:latin typeface="Arial"/>
                          <a:ea typeface="Arial"/>
                          <a:cs typeface="Arial"/>
                          <a:sym typeface="Arial"/>
                        </a:rPr>
                        <a:t>Less than</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3"/>
                  </a:ext>
                </a:extLst>
              </a:tr>
              <a:tr h="294306">
                <a:tc>
                  <a:txBody>
                    <a:bodyPr/>
                    <a:lstStyle/>
                    <a:p>
                      <a:pPr marL="0" marR="0" lvl="0" indent="0" algn="ctr" rtl="0">
                        <a:lnSpc>
                          <a:spcPct val="100000"/>
                        </a:lnSpc>
                        <a:spcBef>
                          <a:spcPts val="0"/>
                        </a:spcBef>
                        <a:spcAft>
                          <a:spcPts val="0"/>
                        </a:spcAft>
                        <a:buNone/>
                      </a:pPr>
                      <a:r>
                        <a:rPr lang="en" sz="1800" u="none" strike="noStrike" cap="none" dirty="0">
                          <a:latin typeface="Arial"/>
                          <a:ea typeface="Arial"/>
                          <a:cs typeface="Arial"/>
                          <a:sym typeface="Arial"/>
                        </a:rPr>
                        <a:t>=&lt;</a:t>
                      </a:r>
                      <a:endParaRPr sz="18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50800" marR="0" lvl="0" indent="0" algn="l" rtl="0">
                        <a:lnSpc>
                          <a:spcPct val="100000"/>
                        </a:lnSpc>
                        <a:spcBef>
                          <a:spcPts val="0"/>
                        </a:spcBef>
                        <a:spcAft>
                          <a:spcPts val="0"/>
                        </a:spcAft>
                        <a:buNone/>
                      </a:pPr>
                      <a:r>
                        <a:rPr lang="en" sz="1800" u="none" strike="noStrike" cap="none">
                          <a:latin typeface="Arial"/>
                          <a:ea typeface="Arial"/>
                          <a:cs typeface="Arial"/>
                          <a:sym typeface="Arial"/>
                        </a:rPr>
                        <a:t>Less than or equal to</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4"/>
                  </a:ext>
                </a:extLst>
              </a:tr>
              <a:tr h="324797">
                <a:tc>
                  <a:txBody>
                    <a:bodyPr/>
                    <a:lstStyle/>
                    <a:p>
                      <a:pPr marL="0" marR="0" lvl="0" indent="0" algn="ctr" rtl="0">
                        <a:lnSpc>
                          <a:spcPct val="100000"/>
                        </a:lnSpc>
                        <a:spcBef>
                          <a:spcPts val="0"/>
                        </a:spcBef>
                        <a:spcAft>
                          <a:spcPts val="0"/>
                        </a:spcAft>
                        <a:buNone/>
                      </a:pPr>
                      <a:r>
                        <a:rPr lang="en" sz="1800" u="none" strike="noStrike" cap="none" dirty="0">
                          <a:latin typeface="Arial"/>
                          <a:ea typeface="Arial"/>
                          <a:cs typeface="Arial"/>
                          <a:sym typeface="Arial"/>
                        </a:rPr>
                        <a:t>&lt;</a:t>
                      </a:r>
                      <a:endParaRPr sz="18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50800" marR="0" lvl="0" indent="0" algn="l" rtl="0">
                        <a:lnSpc>
                          <a:spcPct val="100000"/>
                        </a:lnSpc>
                        <a:spcBef>
                          <a:spcPts val="0"/>
                        </a:spcBef>
                        <a:spcAft>
                          <a:spcPts val="0"/>
                        </a:spcAft>
                        <a:buNone/>
                      </a:pPr>
                      <a:r>
                        <a:rPr lang="en" sz="1800" u="none" strike="noStrike" cap="none">
                          <a:latin typeface="Arial"/>
                          <a:ea typeface="Arial"/>
                          <a:cs typeface="Arial"/>
                          <a:sym typeface="Arial"/>
                        </a:rPr>
                        <a:t>Greater than</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5"/>
                  </a:ext>
                </a:extLst>
              </a:tr>
              <a:tr h="304445">
                <a:tc>
                  <a:txBody>
                    <a:bodyPr/>
                    <a:lstStyle/>
                    <a:p>
                      <a:pPr marL="0" marR="0" lvl="0" indent="0" algn="ctr" rtl="0">
                        <a:lnSpc>
                          <a:spcPct val="100000"/>
                        </a:lnSpc>
                        <a:spcBef>
                          <a:spcPts val="0"/>
                        </a:spcBef>
                        <a:spcAft>
                          <a:spcPts val="0"/>
                        </a:spcAft>
                        <a:buNone/>
                      </a:pPr>
                      <a:r>
                        <a:rPr lang="en" sz="1800" u="none" strike="noStrike" cap="none" dirty="0">
                          <a:latin typeface="Arial"/>
                          <a:ea typeface="Arial"/>
                          <a:cs typeface="Arial"/>
                          <a:sym typeface="Arial"/>
                        </a:rPr>
                        <a:t>=&lt;</a:t>
                      </a:r>
                      <a:endParaRPr sz="18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50800" marR="0" lvl="0" indent="0" algn="l" rtl="0">
                        <a:lnSpc>
                          <a:spcPct val="100000"/>
                        </a:lnSpc>
                        <a:spcBef>
                          <a:spcPts val="0"/>
                        </a:spcBef>
                        <a:spcAft>
                          <a:spcPts val="0"/>
                        </a:spcAft>
                        <a:buNone/>
                      </a:pPr>
                      <a:r>
                        <a:rPr lang="en" sz="1800" u="none" strike="noStrike" cap="none">
                          <a:latin typeface="Arial"/>
                          <a:ea typeface="Arial"/>
                          <a:cs typeface="Arial"/>
                          <a:sym typeface="Arial"/>
                        </a:rPr>
                        <a:t>Greater than or equal to</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6"/>
                  </a:ext>
                </a:extLst>
              </a:tr>
              <a:tr h="284130">
                <a:tc>
                  <a:txBody>
                    <a:bodyPr/>
                    <a:lstStyle/>
                    <a:p>
                      <a:pPr marL="0" marR="0" lvl="0" indent="0" algn="ctr" rtl="0">
                        <a:lnSpc>
                          <a:spcPct val="100000"/>
                        </a:lnSpc>
                        <a:spcBef>
                          <a:spcPts val="0"/>
                        </a:spcBef>
                        <a:spcAft>
                          <a:spcPts val="0"/>
                        </a:spcAft>
                        <a:buNone/>
                      </a:pPr>
                      <a:r>
                        <a:rPr lang="en" sz="1800" u="none" strike="noStrike" cap="none">
                          <a:latin typeface="Arial"/>
                          <a:ea typeface="Arial"/>
                          <a:cs typeface="Arial"/>
                          <a:sym typeface="Arial"/>
                        </a:rPr>
                        <a:t>?</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50800" marR="0" lvl="0" indent="0" algn="l" rtl="0">
                        <a:lnSpc>
                          <a:spcPct val="100000"/>
                        </a:lnSpc>
                        <a:spcBef>
                          <a:spcPts val="0"/>
                        </a:spcBef>
                        <a:spcAft>
                          <a:spcPts val="0"/>
                        </a:spcAft>
                        <a:buNone/>
                      </a:pPr>
                      <a:r>
                        <a:rPr lang="en" sz="1800" u="none" strike="noStrike" cap="none" dirty="0">
                          <a:latin typeface="Arial"/>
                          <a:ea typeface="Arial"/>
                          <a:cs typeface="Arial"/>
                          <a:sym typeface="Arial"/>
                        </a:rPr>
                        <a:t>Return value of two expressions</a:t>
                      </a:r>
                      <a:endParaRPr sz="18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7"/>
                  </a:ext>
                </a:extLst>
              </a:tr>
              <a:tr h="560144">
                <a:tc>
                  <a:txBody>
                    <a:bodyPr/>
                    <a:lstStyle/>
                    <a:p>
                      <a:pPr marL="0" marR="0" lvl="0" indent="0" algn="ctr" rtl="0">
                        <a:lnSpc>
                          <a:spcPct val="100000"/>
                        </a:lnSpc>
                        <a:spcBef>
                          <a:spcPts val="0"/>
                        </a:spcBef>
                        <a:spcAft>
                          <a:spcPts val="0"/>
                        </a:spcAft>
                        <a:buNone/>
                      </a:pPr>
                      <a:r>
                        <a:rPr lang="en" sz="1800" u="none" strike="noStrike" cap="none">
                          <a:latin typeface="Arial"/>
                          <a:ea typeface="Arial"/>
                          <a:cs typeface="Arial"/>
                          <a:sym typeface="Arial"/>
                        </a:rPr>
                        <a:t>??</a:t>
                      </a:r>
                      <a:endParaRPr sz="1800" u="none" strike="noStrike" cap="none">
                        <a:latin typeface="Arial"/>
                        <a:ea typeface="Arial"/>
                        <a:cs typeface="Arial"/>
                        <a:sym typeface="Arial"/>
                      </a:endParaRPr>
                    </a:p>
                  </a:txBody>
                  <a:tcPr marL="0" marR="0" marT="14542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50800" marR="187325" lvl="0" indent="0" algn="l" rtl="0">
                        <a:lnSpc>
                          <a:spcPct val="115000"/>
                        </a:lnSpc>
                        <a:spcBef>
                          <a:spcPts val="0"/>
                        </a:spcBef>
                        <a:spcAft>
                          <a:spcPts val="0"/>
                        </a:spcAft>
                        <a:buNone/>
                      </a:pPr>
                      <a:r>
                        <a:rPr lang="en" sz="1800" u="none" strike="noStrike" cap="none" dirty="0">
                          <a:latin typeface="Arial"/>
                          <a:ea typeface="Arial"/>
                          <a:cs typeface="Arial"/>
                          <a:sym typeface="Arial"/>
                        </a:rPr>
                        <a:t>Return the which is not equal null value of two expres- sions</a:t>
                      </a:r>
                      <a:endParaRPr sz="1800" u="none" strike="noStrike" cap="none" dirty="0">
                        <a:latin typeface="Arial"/>
                        <a:ea typeface="Arial"/>
                        <a:cs typeface="Arial"/>
                        <a:sym typeface="Arial"/>
                      </a:endParaRPr>
                    </a:p>
                  </a:txBody>
                  <a:tcPr marL="0" marR="0" marT="69850"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8"/>
                  </a:ext>
                </a:extLst>
              </a:tr>
              <a:tr h="446692">
                <a:tc>
                  <a:txBody>
                    <a:bodyPr/>
                    <a:lstStyle/>
                    <a:p>
                      <a:pPr marL="0" marR="0" lvl="0" indent="0" algn="ctr" rtl="0">
                        <a:lnSpc>
                          <a:spcPct val="100000"/>
                        </a:lnSpc>
                        <a:spcBef>
                          <a:spcPts val="0"/>
                        </a:spcBef>
                        <a:spcAft>
                          <a:spcPts val="0"/>
                        </a:spcAft>
                        <a:buNone/>
                      </a:pPr>
                      <a:r>
                        <a:rPr lang="en" sz="1800" u="none" strike="noStrike" cap="none" dirty="0">
                          <a:latin typeface="Arial"/>
                          <a:ea typeface="Arial"/>
                          <a:cs typeface="Arial"/>
                          <a:sym typeface="Arial"/>
                        </a:rPr>
                        <a:t>is</a:t>
                      </a:r>
                      <a:endParaRPr sz="18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50800" marR="0" lvl="0" indent="0" algn="l" rtl="0">
                        <a:lnSpc>
                          <a:spcPct val="100000"/>
                        </a:lnSpc>
                        <a:spcBef>
                          <a:spcPts val="0"/>
                        </a:spcBef>
                        <a:spcAft>
                          <a:spcPts val="0"/>
                        </a:spcAft>
                        <a:buNone/>
                      </a:pPr>
                      <a:r>
                        <a:rPr lang="en" sz="1800" u="none" strike="noStrike" cap="none" dirty="0">
                          <a:latin typeface="Arial"/>
                          <a:ea typeface="Arial"/>
                          <a:cs typeface="Arial"/>
                          <a:sym typeface="Arial"/>
                        </a:rPr>
                        <a:t>Is</a:t>
                      </a:r>
                      <a:endParaRPr sz="18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9"/>
                  </a:ext>
                </a:extLst>
              </a:tr>
              <a:tr h="446692">
                <a:tc>
                  <a:txBody>
                    <a:bodyPr/>
                    <a:lstStyle/>
                    <a:p>
                      <a:pPr marL="0" marR="0" lvl="0" indent="0" algn="ctr" rtl="0">
                        <a:lnSpc>
                          <a:spcPct val="100000"/>
                        </a:lnSpc>
                        <a:spcBef>
                          <a:spcPts val="0"/>
                        </a:spcBef>
                        <a:spcAft>
                          <a:spcPts val="0"/>
                        </a:spcAft>
                        <a:buNone/>
                      </a:pPr>
                      <a:r>
                        <a:rPr lang="en" sz="1800" u="none" strike="noStrike" cap="none">
                          <a:latin typeface="Arial"/>
                          <a:ea typeface="Arial"/>
                          <a:cs typeface="Arial"/>
                          <a:sym typeface="Arial"/>
                        </a:rPr>
                        <a:t>!Is</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50800" marR="0" lvl="0" indent="0" algn="l" rtl="0">
                        <a:lnSpc>
                          <a:spcPct val="100000"/>
                        </a:lnSpc>
                        <a:spcBef>
                          <a:spcPts val="0"/>
                        </a:spcBef>
                        <a:spcAft>
                          <a:spcPts val="0"/>
                        </a:spcAft>
                        <a:buNone/>
                      </a:pPr>
                      <a:r>
                        <a:rPr lang="en" sz="1800" u="none" strike="noStrike" cap="none" dirty="0">
                          <a:latin typeface="Arial"/>
                          <a:ea typeface="Arial"/>
                          <a:cs typeface="Arial"/>
                          <a:sym typeface="Arial"/>
                        </a:rPr>
                        <a:t>Is Not</a:t>
                      </a:r>
                      <a:endParaRPr sz="18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641492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24</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409983" y="482783"/>
            <a:ext cx="6514178" cy="572700"/>
          </a:xfrm>
          <a:prstGeom prst="rect">
            <a:avLst/>
          </a:prstGeom>
        </p:spPr>
        <p:txBody>
          <a:bodyPr spcFirstLastPara="1" wrap="square" lIns="91425" tIns="91425" rIns="91425" bIns="91425" anchor="t" anchorCtr="0">
            <a:noAutofit/>
          </a:bodyPr>
          <a:lstStyle/>
          <a:p>
            <a:pPr lvl="0" algn="ctr">
              <a:spcBef>
                <a:spcPts val="0"/>
              </a:spcBef>
            </a:pPr>
            <a:r>
              <a:rPr lang="en" dirty="0"/>
              <a:t>Dart </a:t>
            </a:r>
            <a:r>
              <a:rPr lang="en" dirty="0">
                <a:solidFill>
                  <a:srgbClr val="1E9E78"/>
                </a:solidFill>
              </a:rPr>
              <a:t>Conditional Operators</a:t>
            </a:r>
            <a:endParaRPr dirty="0">
              <a:solidFill>
                <a:srgbClr val="1E9E78"/>
              </a:solidFill>
            </a:endParaRPr>
          </a:p>
        </p:txBody>
      </p:sp>
      <p:sp>
        <p:nvSpPr>
          <p:cNvPr id="4" name="Rectangle 3"/>
          <p:cNvSpPr/>
          <p:nvPr/>
        </p:nvSpPr>
        <p:spPr>
          <a:xfrm>
            <a:off x="487440" y="1235806"/>
            <a:ext cx="9531459" cy="1124090"/>
          </a:xfrm>
          <a:prstGeom prst="rect">
            <a:avLst/>
          </a:prstGeom>
        </p:spPr>
        <p:txBody>
          <a:bodyPr wrap="square">
            <a:spAutoFit/>
          </a:bodyPr>
          <a:lstStyle/>
          <a:p>
            <a:pPr marR="163195" lvl="0">
              <a:lnSpc>
                <a:spcPct val="115000"/>
              </a:lnSpc>
              <a:spcBef>
                <a:spcPts val="1000"/>
              </a:spcBef>
            </a:pPr>
            <a:r>
              <a:rPr lang="en-US" sz="2000" dirty="0">
                <a:solidFill>
                  <a:srgbClr val="2B3050"/>
                </a:solidFill>
                <a:latin typeface="Arial"/>
                <a:ea typeface="Arial"/>
                <a:cs typeface="Arial"/>
                <a:sym typeface="Arial"/>
              </a:rPr>
              <a:t>In the following code, you will test the role of double equal sign "==" which is used to compare if two values are equal or not. If they are equal, then the run result will be true; otherwise, the run result will be false.</a:t>
            </a: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graphicFrame>
        <p:nvGraphicFramePr>
          <p:cNvPr id="3" name="Table 2"/>
          <p:cNvGraphicFramePr>
            <a:graphicFrameLocks noGrp="1"/>
          </p:cNvGraphicFramePr>
          <p:nvPr>
            <p:extLst>
              <p:ext uri="{D42A27DB-BD31-4B8C-83A1-F6EECF244321}">
                <p14:modId xmlns:p14="http://schemas.microsoft.com/office/powerpoint/2010/main" val="1977586021"/>
              </p:ext>
            </p:extLst>
          </p:nvPr>
        </p:nvGraphicFramePr>
        <p:xfrm>
          <a:off x="3552455" y="2437877"/>
          <a:ext cx="2093433" cy="1615440"/>
        </p:xfrm>
        <a:graphic>
          <a:graphicData uri="http://schemas.openxmlformats.org/drawingml/2006/table">
            <a:tbl>
              <a:tblPr firstRow="1" bandRow="1">
                <a:tableStyleId>{073A0DAA-6AF3-43AB-8588-CEC1D06C72B9}</a:tableStyleId>
              </a:tblPr>
              <a:tblGrid>
                <a:gridCol w="2093433">
                  <a:extLst>
                    <a:ext uri="{9D8B030D-6E8A-4147-A177-3AD203B41FA5}">
                      <a16:colId xmlns:a16="http://schemas.microsoft.com/office/drawing/2014/main" val="209190469"/>
                    </a:ext>
                  </a:extLst>
                </a:gridCol>
              </a:tblGrid>
              <a:tr h="370840">
                <a:tc>
                  <a:txBody>
                    <a:bodyPr/>
                    <a:lstStyle/>
                    <a:p>
                      <a:r>
                        <a:rPr lang="fr-FR" sz="2000" b="0" kern="1200" dirty="0">
                          <a:solidFill>
                            <a:schemeClr val="lt1"/>
                          </a:solidFill>
                          <a:effectLst/>
                          <a:latin typeface="+mn-lt"/>
                          <a:ea typeface="+mn-ea"/>
                          <a:cs typeface="+mn-cs"/>
                        </a:rPr>
                        <a:t>main() {</a:t>
                      </a:r>
                    </a:p>
                    <a:p>
                      <a:r>
                        <a:rPr lang="fr-FR" sz="2000" b="0" kern="1200" dirty="0">
                          <a:solidFill>
                            <a:schemeClr val="lt1"/>
                          </a:solidFill>
                          <a:effectLst/>
                          <a:latin typeface="+mn-lt"/>
                          <a:ea typeface="+mn-ea"/>
                          <a:cs typeface="+mn-cs"/>
                        </a:rPr>
                        <a:t>    </a:t>
                      </a:r>
                      <a:r>
                        <a:rPr lang="fr-FR" sz="2000" b="0" kern="1200" dirty="0" err="1">
                          <a:solidFill>
                            <a:schemeClr val="lt1"/>
                          </a:solidFill>
                          <a:effectLst/>
                          <a:latin typeface="+mn-lt"/>
                          <a:ea typeface="+mn-ea"/>
                          <a:cs typeface="+mn-cs"/>
                        </a:rPr>
                        <a:t>int</a:t>
                      </a:r>
                      <a:r>
                        <a:rPr lang="fr-FR" sz="2000" b="0" kern="1200" dirty="0">
                          <a:solidFill>
                            <a:schemeClr val="lt1"/>
                          </a:solidFill>
                          <a:effectLst/>
                          <a:latin typeface="+mn-lt"/>
                          <a:ea typeface="+mn-ea"/>
                          <a:cs typeface="+mn-cs"/>
                        </a:rPr>
                        <a:t> x=3;</a:t>
                      </a:r>
                    </a:p>
                    <a:p>
                      <a:r>
                        <a:rPr lang="fr-FR" sz="2000" b="0" kern="1200" dirty="0">
                          <a:solidFill>
                            <a:schemeClr val="lt1"/>
                          </a:solidFill>
                          <a:effectLst/>
                          <a:latin typeface="+mn-lt"/>
                          <a:ea typeface="+mn-ea"/>
                          <a:cs typeface="+mn-cs"/>
                        </a:rPr>
                        <a:t>    </a:t>
                      </a:r>
                      <a:r>
                        <a:rPr lang="fr-FR" sz="2000" b="0" kern="1200" dirty="0" err="1">
                          <a:solidFill>
                            <a:schemeClr val="lt1"/>
                          </a:solidFill>
                          <a:effectLst/>
                          <a:latin typeface="+mn-lt"/>
                          <a:ea typeface="+mn-ea"/>
                          <a:cs typeface="+mn-cs"/>
                        </a:rPr>
                        <a:t>int</a:t>
                      </a:r>
                      <a:r>
                        <a:rPr lang="fr-FR" sz="2000" b="0" kern="1200" dirty="0">
                          <a:solidFill>
                            <a:schemeClr val="lt1"/>
                          </a:solidFill>
                          <a:effectLst/>
                          <a:latin typeface="+mn-lt"/>
                          <a:ea typeface="+mn-ea"/>
                          <a:cs typeface="+mn-cs"/>
                        </a:rPr>
                        <a:t> y=5; </a:t>
                      </a:r>
                    </a:p>
                    <a:p>
                      <a:r>
                        <a:rPr lang="fr-FR" sz="2000" b="0" kern="1200" dirty="0">
                          <a:solidFill>
                            <a:schemeClr val="lt1"/>
                          </a:solidFill>
                          <a:effectLst/>
                          <a:latin typeface="+mn-lt"/>
                          <a:ea typeface="+mn-ea"/>
                          <a:cs typeface="+mn-cs"/>
                        </a:rPr>
                        <a:t>    </a:t>
                      </a:r>
                      <a:r>
                        <a:rPr lang="fr-FR" sz="2000" b="0" kern="1200" dirty="0" err="1">
                          <a:solidFill>
                            <a:schemeClr val="lt1"/>
                          </a:solidFill>
                          <a:effectLst/>
                          <a:latin typeface="+mn-lt"/>
                          <a:ea typeface="+mn-ea"/>
                          <a:cs typeface="+mn-cs"/>
                        </a:rPr>
                        <a:t>print</a:t>
                      </a:r>
                      <a:r>
                        <a:rPr lang="fr-FR" sz="2000" b="0" kern="1200" dirty="0">
                          <a:solidFill>
                            <a:schemeClr val="lt1"/>
                          </a:solidFill>
                          <a:effectLst/>
                          <a:latin typeface="+mn-lt"/>
                          <a:ea typeface="+mn-ea"/>
                          <a:cs typeface="+mn-cs"/>
                        </a:rPr>
                        <a:t>(x == y);</a:t>
                      </a:r>
                    </a:p>
                    <a:p>
                      <a:r>
                        <a:rPr lang="fr-FR" sz="2000" b="0" kern="1200" dirty="0">
                          <a:solidFill>
                            <a:schemeClr val="lt1"/>
                          </a:solidFill>
                          <a:effectLst/>
                          <a:latin typeface="+mn-lt"/>
                          <a:ea typeface="+mn-ea"/>
                          <a:cs typeface="+mn-cs"/>
                        </a:rPr>
                        <a:t>}</a:t>
                      </a:r>
                    </a:p>
                  </a:txBody>
                  <a:tcPr/>
                </a:tc>
                <a:extLst>
                  <a:ext uri="{0D108BD9-81ED-4DB2-BD59-A6C34878D82A}">
                    <a16:rowId xmlns:a16="http://schemas.microsoft.com/office/drawing/2014/main" val="2061945932"/>
                  </a:ext>
                </a:extLst>
              </a:tr>
            </a:tbl>
          </a:graphicData>
        </a:graphic>
      </p:graphicFrame>
      <p:sp>
        <p:nvSpPr>
          <p:cNvPr id="5" name="Rectangle 4"/>
          <p:cNvSpPr/>
          <p:nvPr/>
        </p:nvSpPr>
        <p:spPr>
          <a:xfrm>
            <a:off x="239862" y="4499894"/>
            <a:ext cx="5204008" cy="1047979"/>
          </a:xfrm>
          <a:prstGeom prst="rect">
            <a:avLst/>
          </a:prstGeom>
        </p:spPr>
        <p:txBody>
          <a:bodyPr wrap="square">
            <a:spAutoFit/>
          </a:bodyPr>
          <a:lstStyle/>
          <a:p>
            <a:pPr marR="163195" lvl="0">
              <a:lnSpc>
                <a:spcPct val="115000"/>
              </a:lnSpc>
              <a:spcBef>
                <a:spcPts val="1000"/>
              </a:spcBef>
            </a:pPr>
            <a:r>
              <a:rPr lang="en-US" dirty="0">
                <a:solidFill>
                  <a:srgbClr val="2B3050"/>
                </a:solidFill>
                <a:latin typeface="Arial"/>
                <a:ea typeface="Arial"/>
                <a:cs typeface="Arial"/>
                <a:sym typeface="Arial"/>
              </a:rPr>
              <a:t>The following Dart conditional operator "?" will return one expression (exp1 or exp2) as illustrated in the following figure :</a:t>
            </a:r>
          </a:p>
        </p:txBody>
      </p:sp>
      <p:pic>
        <p:nvPicPr>
          <p:cNvPr id="6" name="Picture 5"/>
          <p:cNvPicPr>
            <a:picLocks noChangeAspect="1"/>
          </p:cNvPicPr>
          <p:nvPr/>
        </p:nvPicPr>
        <p:blipFill>
          <a:blip r:embed="rId4"/>
          <a:stretch>
            <a:fillRect/>
          </a:stretch>
        </p:blipFill>
        <p:spPr>
          <a:xfrm>
            <a:off x="6198783" y="3900917"/>
            <a:ext cx="3220977" cy="1837396"/>
          </a:xfrm>
          <a:prstGeom prst="rect">
            <a:avLst/>
          </a:prstGeom>
        </p:spPr>
      </p:pic>
    </p:spTree>
    <p:extLst>
      <p:ext uri="{BB962C8B-B14F-4D97-AF65-F5344CB8AC3E}">
        <p14:creationId xmlns:p14="http://schemas.microsoft.com/office/powerpoint/2010/main" val="3261008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25</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409983" y="482783"/>
            <a:ext cx="6514178" cy="572700"/>
          </a:xfrm>
          <a:prstGeom prst="rect">
            <a:avLst/>
          </a:prstGeom>
        </p:spPr>
        <p:txBody>
          <a:bodyPr spcFirstLastPara="1" wrap="square" lIns="91425" tIns="91425" rIns="91425" bIns="91425" anchor="t" anchorCtr="0">
            <a:noAutofit/>
          </a:bodyPr>
          <a:lstStyle/>
          <a:p>
            <a:pPr lvl="0" algn="ctr">
              <a:spcBef>
                <a:spcPts val="0"/>
              </a:spcBef>
            </a:pPr>
            <a:r>
              <a:rPr lang="en" dirty="0"/>
              <a:t>Dart </a:t>
            </a:r>
            <a:r>
              <a:rPr lang="en" dirty="0">
                <a:solidFill>
                  <a:srgbClr val="1E9E78"/>
                </a:solidFill>
              </a:rPr>
              <a:t>Conditional Operators</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graphicFrame>
        <p:nvGraphicFramePr>
          <p:cNvPr id="3" name="Table 2"/>
          <p:cNvGraphicFramePr>
            <a:graphicFrameLocks noGrp="1"/>
          </p:cNvGraphicFramePr>
          <p:nvPr>
            <p:extLst>
              <p:ext uri="{D42A27DB-BD31-4B8C-83A1-F6EECF244321}">
                <p14:modId xmlns:p14="http://schemas.microsoft.com/office/powerpoint/2010/main" val="2499197538"/>
              </p:ext>
            </p:extLst>
          </p:nvPr>
        </p:nvGraphicFramePr>
        <p:xfrm>
          <a:off x="585971" y="3006894"/>
          <a:ext cx="4687778" cy="2043571"/>
        </p:xfrm>
        <a:graphic>
          <a:graphicData uri="http://schemas.openxmlformats.org/drawingml/2006/table">
            <a:tbl>
              <a:tblPr firstRow="1" bandRow="1">
                <a:tableStyleId>{073A0DAA-6AF3-43AB-8588-CEC1D06C72B9}</a:tableStyleId>
              </a:tblPr>
              <a:tblGrid>
                <a:gridCol w="4687778">
                  <a:extLst>
                    <a:ext uri="{9D8B030D-6E8A-4147-A177-3AD203B41FA5}">
                      <a16:colId xmlns:a16="http://schemas.microsoft.com/office/drawing/2014/main" val="209190469"/>
                    </a:ext>
                  </a:extLst>
                </a:gridCol>
              </a:tblGrid>
              <a:tr h="2043571">
                <a:tc>
                  <a:txBody>
                    <a:bodyPr/>
                    <a:lstStyle/>
                    <a:p>
                      <a:r>
                        <a:rPr lang="en-US" sz="1800" b="0" kern="1200" dirty="0">
                          <a:solidFill>
                            <a:schemeClr val="lt1"/>
                          </a:solidFill>
                          <a:effectLst/>
                          <a:latin typeface="+mn-lt"/>
                          <a:ea typeface="+mn-ea"/>
                          <a:cs typeface="+mn-cs"/>
                        </a:rPr>
                        <a:t>main(){</a:t>
                      </a:r>
                    </a:p>
                    <a:p>
                      <a:r>
                        <a:rPr lang="en-US" sz="1800" b="0" kern="1200" dirty="0">
                          <a:solidFill>
                            <a:schemeClr val="lt1"/>
                          </a:solidFill>
                          <a:effectLst/>
                          <a:latin typeface="+mn-lt"/>
                          <a:ea typeface="+mn-ea"/>
                          <a:cs typeface="+mn-cs"/>
                        </a:rPr>
                        <a:t>  </a:t>
                      </a:r>
                      <a:r>
                        <a:rPr lang="en-US" sz="1800" b="0" kern="1200" dirty="0" err="1">
                          <a:solidFill>
                            <a:schemeClr val="lt1"/>
                          </a:solidFill>
                          <a:effectLst/>
                          <a:latin typeface="+mn-lt"/>
                          <a:ea typeface="+mn-ea"/>
                          <a:cs typeface="+mn-cs"/>
                        </a:rPr>
                        <a:t>var</a:t>
                      </a:r>
                      <a:r>
                        <a:rPr lang="en-US" sz="1800" b="0" kern="1200" dirty="0">
                          <a:solidFill>
                            <a:schemeClr val="lt1"/>
                          </a:solidFill>
                          <a:effectLst/>
                          <a:latin typeface="+mn-lt"/>
                          <a:ea typeface="+mn-ea"/>
                          <a:cs typeface="+mn-cs"/>
                        </a:rPr>
                        <a:t> </a:t>
                      </a:r>
                      <a:r>
                        <a:rPr lang="en-US" sz="1800" b="0" kern="1200" dirty="0" err="1">
                          <a:solidFill>
                            <a:schemeClr val="lt1"/>
                          </a:solidFill>
                          <a:effectLst/>
                          <a:latin typeface="+mn-lt"/>
                          <a:ea typeface="+mn-ea"/>
                          <a:cs typeface="+mn-cs"/>
                        </a:rPr>
                        <a:t>cgpa</a:t>
                      </a:r>
                      <a:r>
                        <a:rPr lang="en-US" sz="1800" b="0" kern="1200" dirty="0">
                          <a:solidFill>
                            <a:schemeClr val="lt1"/>
                          </a:solidFill>
                          <a:effectLst/>
                          <a:latin typeface="+mn-lt"/>
                          <a:ea typeface="+mn-ea"/>
                          <a:cs typeface="+mn-cs"/>
                        </a:rPr>
                        <a:t> = 3.55;</a:t>
                      </a:r>
                    </a:p>
                    <a:p>
                      <a:r>
                        <a:rPr lang="en-US" sz="1800" b="0" kern="1200" dirty="0">
                          <a:solidFill>
                            <a:schemeClr val="lt1"/>
                          </a:solidFill>
                          <a:effectLst/>
                          <a:latin typeface="+mn-lt"/>
                          <a:ea typeface="+mn-ea"/>
                          <a:cs typeface="+mn-cs"/>
                        </a:rPr>
                        <a:t>  </a:t>
                      </a:r>
                      <a:r>
                        <a:rPr lang="en-US" sz="1800" b="0" kern="1200" dirty="0" err="1">
                          <a:solidFill>
                            <a:schemeClr val="lt1"/>
                          </a:solidFill>
                          <a:effectLst/>
                          <a:latin typeface="+mn-lt"/>
                          <a:ea typeface="+mn-ea"/>
                          <a:cs typeface="+mn-cs"/>
                        </a:rPr>
                        <a:t>var</a:t>
                      </a:r>
                      <a:r>
                        <a:rPr lang="en-US" sz="1800" b="0" kern="1200" dirty="0">
                          <a:solidFill>
                            <a:schemeClr val="lt1"/>
                          </a:solidFill>
                          <a:effectLst/>
                          <a:latin typeface="+mn-lt"/>
                          <a:ea typeface="+mn-ea"/>
                          <a:cs typeface="+mn-cs"/>
                        </a:rPr>
                        <a:t> </a:t>
                      </a:r>
                      <a:r>
                        <a:rPr lang="en-US" sz="1800" b="0" kern="1200" dirty="0" err="1">
                          <a:solidFill>
                            <a:schemeClr val="lt1"/>
                          </a:solidFill>
                          <a:effectLst/>
                          <a:latin typeface="+mn-lt"/>
                          <a:ea typeface="+mn-ea"/>
                          <a:cs typeface="+mn-cs"/>
                        </a:rPr>
                        <a:t>dinList</a:t>
                      </a:r>
                      <a:r>
                        <a:rPr lang="en-US" sz="1800" b="0" kern="1200" dirty="0">
                          <a:solidFill>
                            <a:schemeClr val="lt1"/>
                          </a:solidFill>
                          <a:effectLst/>
                          <a:latin typeface="+mn-lt"/>
                          <a:ea typeface="+mn-ea"/>
                          <a:cs typeface="+mn-cs"/>
                        </a:rPr>
                        <a:t> = </a:t>
                      </a:r>
                      <a:r>
                        <a:rPr lang="en-US" sz="1800" b="0" kern="1200" dirty="0" err="1">
                          <a:solidFill>
                            <a:schemeClr val="lt1"/>
                          </a:solidFill>
                          <a:effectLst/>
                          <a:latin typeface="+mn-lt"/>
                          <a:ea typeface="+mn-ea"/>
                          <a:cs typeface="+mn-cs"/>
                        </a:rPr>
                        <a:t>cgpa</a:t>
                      </a:r>
                      <a:r>
                        <a:rPr lang="en-US" sz="1800" b="0" kern="1200" dirty="0">
                          <a:solidFill>
                            <a:schemeClr val="lt1"/>
                          </a:solidFill>
                          <a:effectLst/>
                          <a:latin typeface="+mn-lt"/>
                          <a:ea typeface="+mn-ea"/>
                          <a:cs typeface="+mn-cs"/>
                        </a:rPr>
                        <a:t> &gt; 3.50 ? "Congratulations!" : "Sorry Dear"; </a:t>
                      </a:r>
                    </a:p>
                    <a:p>
                      <a:r>
                        <a:rPr lang="en-US" sz="1800" b="0" kern="1200" dirty="0">
                          <a:solidFill>
                            <a:schemeClr val="lt1"/>
                          </a:solidFill>
                          <a:effectLst/>
                          <a:latin typeface="+mn-lt"/>
                          <a:ea typeface="+mn-ea"/>
                          <a:cs typeface="+mn-cs"/>
                        </a:rPr>
                        <a:t>  print(</a:t>
                      </a:r>
                      <a:r>
                        <a:rPr lang="en-US" sz="1800" b="0" kern="1200" dirty="0" err="1">
                          <a:solidFill>
                            <a:schemeClr val="lt1"/>
                          </a:solidFill>
                          <a:effectLst/>
                          <a:latin typeface="+mn-lt"/>
                          <a:ea typeface="+mn-ea"/>
                          <a:cs typeface="+mn-cs"/>
                        </a:rPr>
                        <a:t>dinList</a:t>
                      </a:r>
                      <a:r>
                        <a:rPr lang="en-US" sz="1800" b="0" kern="1200" dirty="0">
                          <a:solidFill>
                            <a:schemeClr val="lt1"/>
                          </a:solidFill>
                          <a:effectLst/>
                          <a:latin typeface="+mn-lt"/>
                          <a:ea typeface="+mn-ea"/>
                          <a:cs typeface="+mn-cs"/>
                        </a:rPr>
                        <a:t>);</a:t>
                      </a:r>
                    </a:p>
                    <a:p>
                      <a:r>
                        <a:rPr lang="en-US" sz="1800" b="0" kern="1200" dirty="0">
                          <a:solidFill>
                            <a:schemeClr val="lt1"/>
                          </a:solidFill>
                          <a:effectLst/>
                          <a:latin typeface="+mn-lt"/>
                          <a:ea typeface="+mn-ea"/>
                          <a:cs typeface="+mn-cs"/>
                        </a:rPr>
                        <a:t>}</a:t>
                      </a:r>
                    </a:p>
                    <a:p>
                      <a:endParaRPr lang="en-US" sz="1800" b="0" kern="1200" dirty="0">
                        <a:solidFill>
                          <a:schemeClr val="lt1"/>
                        </a:solidFill>
                        <a:effectLst/>
                        <a:latin typeface="+mn-lt"/>
                        <a:ea typeface="+mn-ea"/>
                        <a:cs typeface="+mn-cs"/>
                      </a:endParaRPr>
                    </a:p>
                  </a:txBody>
                  <a:tcPr/>
                </a:tc>
                <a:extLst>
                  <a:ext uri="{0D108BD9-81ED-4DB2-BD59-A6C34878D82A}">
                    <a16:rowId xmlns:a16="http://schemas.microsoft.com/office/drawing/2014/main" val="2061945932"/>
                  </a:ext>
                </a:extLst>
              </a:tr>
            </a:tbl>
          </a:graphicData>
        </a:graphic>
      </p:graphicFrame>
      <p:pic>
        <p:nvPicPr>
          <p:cNvPr id="7" name="Picture 6"/>
          <p:cNvPicPr>
            <a:picLocks noChangeAspect="1"/>
          </p:cNvPicPr>
          <p:nvPr/>
        </p:nvPicPr>
        <p:blipFill>
          <a:blip r:embed="rId4"/>
          <a:stretch>
            <a:fillRect/>
          </a:stretch>
        </p:blipFill>
        <p:spPr>
          <a:xfrm>
            <a:off x="5874581" y="2962244"/>
            <a:ext cx="5712130" cy="2356082"/>
          </a:xfrm>
          <a:prstGeom prst="rect">
            <a:avLst/>
          </a:prstGeom>
        </p:spPr>
      </p:pic>
      <p:sp>
        <p:nvSpPr>
          <p:cNvPr id="9" name="TextBox 8"/>
          <p:cNvSpPr txBox="1"/>
          <p:nvPr/>
        </p:nvSpPr>
        <p:spPr>
          <a:xfrm>
            <a:off x="585971" y="1214502"/>
            <a:ext cx="8430513" cy="1292662"/>
          </a:xfrm>
          <a:prstGeom prst="rect">
            <a:avLst/>
          </a:prstGeom>
          <a:noFill/>
        </p:spPr>
        <p:txBody>
          <a:bodyPr wrap="none" rtlCol="0">
            <a:spAutoFit/>
          </a:bodyPr>
          <a:lstStyle/>
          <a:p>
            <a:r>
              <a:rPr lang="en-US" dirty="0"/>
              <a:t>The </a:t>
            </a:r>
            <a:r>
              <a:rPr lang="en-US" b="1" dirty="0"/>
              <a:t>ternary operator</a:t>
            </a:r>
            <a:r>
              <a:rPr lang="en-US" dirty="0"/>
              <a:t> in Dart is a short way to write an </a:t>
            </a:r>
            <a:r>
              <a:rPr lang="en-US" b="1" dirty="0"/>
              <a:t>if–else</a:t>
            </a:r>
            <a:r>
              <a:rPr lang="en-US" dirty="0"/>
              <a:t> statement in a single line.</a:t>
            </a:r>
          </a:p>
          <a:p>
            <a:endParaRPr lang="en-US" dirty="0"/>
          </a:p>
          <a:p>
            <a:r>
              <a:rPr lang="en-US" sz="2400" b="1" dirty="0"/>
              <a:t>condition ? </a:t>
            </a:r>
            <a:r>
              <a:rPr lang="en-US" sz="2400" b="1" dirty="0" err="1"/>
              <a:t>expressionIfTrue</a:t>
            </a:r>
            <a:r>
              <a:rPr lang="en-US" sz="2400" b="1" dirty="0"/>
              <a:t> : </a:t>
            </a:r>
            <a:r>
              <a:rPr lang="en-US" sz="2400" b="1" dirty="0" err="1"/>
              <a:t>expressionIfFalse</a:t>
            </a:r>
            <a:r>
              <a:rPr lang="en-US" sz="2400" b="1" dirty="0"/>
              <a:t>;</a:t>
            </a:r>
          </a:p>
          <a:p>
            <a:endParaRPr lang="en-US" dirty="0"/>
          </a:p>
        </p:txBody>
      </p:sp>
    </p:spTree>
    <p:extLst>
      <p:ext uri="{BB962C8B-B14F-4D97-AF65-F5344CB8AC3E}">
        <p14:creationId xmlns:p14="http://schemas.microsoft.com/office/powerpoint/2010/main" val="8981979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26</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409983" y="482783"/>
            <a:ext cx="6514178" cy="572700"/>
          </a:xfrm>
          <a:prstGeom prst="rect">
            <a:avLst/>
          </a:prstGeom>
        </p:spPr>
        <p:txBody>
          <a:bodyPr spcFirstLastPara="1" wrap="square" lIns="91425" tIns="91425" rIns="91425" bIns="91425" anchor="t" anchorCtr="0">
            <a:noAutofit/>
          </a:bodyPr>
          <a:lstStyle/>
          <a:p>
            <a:pPr lvl="0" algn="ctr">
              <a:spcBef>
                <a:spcPts val="0"/>
              </a:spcBef>
            </a:pPr>
            <a:r>
              <a:rPr lang="en" dirty="0"/>
              <a:t>Dart </a:t>
            </a:r>
            <a:r>
              <a:rPr lang="en" dirty="0">
                <a:solidFill>
                  <a:srgbClr val="1E9E78"/>
                </a:solidFill>
              </a:rPr>
              <a:t>Conditional Operators</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graphicFrame>
        <p:nvGraphicFramePr>
          <p:cNvPr id="3" name="Table 2"/>
          <p:cNvGraphicFramePr>
            <a:graphicFrameLocks noGrp="1"/>
          </p:cNvGraphicFramePr>
          <p:nvPr>
            <p:extLst>
              <p:ext uri="{D42A27DB-BD31-4B8C-83A1-F6EECF244321}">
                <p14:modId xmlns:p14="http://schemas.microsoft.com/office/powerpoint/2010/main" val="1558326832"/>
              </p:ext>
            </p:extLst>
          </p:nvPr>
        </p:nvGraphicFramePr>
        <p:xfrm>
          <a:off x="585971" y="2815507"/>
          <a:ext cx="4687778" cy="1554473"/>
        </p:xfrm>
        <a:graphic>
          <a:graphicData uri="http://schemas.openxmlformats.org/drawingml/2006/table">
            <a:tbl>
              <a:tblPr firstRow="1" bandRow="1">
                <a:tableStyleId>{073A0DAA-6AF3-43AB-8588-CEC1D06C72B9}</a:tableStyleId>
              </a:tblPr>
              <a:tblGrid>
                <a:gridCol w="4687778">
                  <a:extLst>
                    <a:ext uri="{9D8B030D-6E8A-4147-A177-3AD203B41FA5}">
                      <a16:colId xmlns:a16="http://schemas.microsoft.com/office/drawing/2014/main" val="209190469"/>
                    </a:ext>
                  </a:extLst>
                </a:gridCol>
              </a:tblGrid>
              <a:tr h="1554473">
                <a:tc>
                  <a:txBody>
                    <a:bodyPr/>
                    <a:lstStyle/>
                    <a:p>
                      <a:r>
                        <a:rPr lang="en-US" sz="1800" b="0" kern="1200" dirty="0">
                          <a:solidFill>
                            <a:schemeClr val="lt1"/>
                          </a:solidFill>
                          <a:effectLst/>
                          <a:latin typeface="+mn-lt"/>
                          <a:ea typeface="+mn-ea"/>
                          <a:cs typeface="+mn-cs"/>
                        </a:rPr>
                        <a:t>main(){</a:t>
                      </a:r>
                    </a:p>
                    <a:p>
                      <a:r>
                        <a:rPr lang="en-US" sz="1800" b="0" kern="1200" dirty="0">
                          <a:solidFill>
                            <a:schemeClr val="lt1"/>
                          </a:solidFill>
                          <a:effectLst/>
                          <a:latin typeface="+mn-lt"/>
                          <a:ea typeface="+mn-ea"/>
                          <a:cs typeface="+mn-cs"/>
                        </a:rPr>
                        <a:t>  String? name;</a:t>
                      </a:r>
                    </a:p>
                    <a:p>
                      <a:r>
                        <a:rPr lang="en-US" sz="1800" b="0" kern="1200" dirty="0">
                          <a:solidFill>
                            <a:schemeClr val="lt1"/>
                          </a:solidFill>
                          <a:effectLst/>
                          <a:latin typeface="+mn-lt"/>
                          <a:ea typeface="+mn-ea"/>
                          <a:cs typeface="+mn-cs"/>
                        </a:rPr>
                        <a:t>  String </a:t>
                      </a:r>
                      <a:r>
                        <a:rPr lang="en-US" sz="1800" b="0" kern="1200" dirty="0" err="1">
                          <a:solidFill>
                            <a:schemeClr val="lt1"/>
                          </a:solidFill>
                          <a:effectLst/>
                          <a:latin typeface="+mn-lt"/>
                          <a:ea typeface="+mn-ea"/>
                          <a:cs typeface="+mn-cs"/>
                        </a:rPr>
                        <a:t>displayName</a:t>
                      </a:r>
                      <a:r>
                        <a:rPr lang="en-US" sz="1800" b="0" kern="1200" dirty="0">
                          <a:solidFill>
                            <a:schemeClr val="lt1"/>
                          </a:solidFill>
                          <a:effectLst/>
                          <a:latin typeface="+mn-lt"/>
                          <a:ea typeface="+mn-ea"/>
                          <a:cs typeface="+mn-cs"/>
                        </a:rPr>
                        <a:t> = name ?? "Guest";</a:t>
                      </a:r>
                    </a:p>
                    <a:p>
                      <a:r>
                        <a:rPr lang="en-US" sz="1800" b="0" kern="1200" dirty="0">
                          <a:solidFill>
                            <a:schemeClr val="lt1"/>
                          </a:solidFill>
                          <a:effectLst/>
                          <a:latin typeface="+mn-lt"/>
                          <a:ea typeface="+mn-ea"/>
                          <a:cs typeface="+mn-cs"/>
                        </a:rPr>
                        <a:t>  print(</a:t>
                      </a:r>
                      <a:r>
                        <a:rPr lang="en-US" sz="1800" b="0" kern="1200" dirty="0" err="1">
                          <a:solidFill>
                            <a:schemeClr val="lt1"/>
                          </a:solidFill>
                          <a:effectLst/>
                          <a:latin typeface="+mn-lt"/>
                          <a:ea typeface="+mn-ea"/>
                          <a:cs typeface="+mn-cs"/>
                        </a:rPr>
                        <a:t>displayName</a:t>
                      </a:r>
                      <a:r>
                        <a:rPr lang="en-US" sz="1800" b="0" kern="1200" dirty="0">
                          <a:solidFill>
                            <a:schemeClr val="lt1"/>
                          </a:solidFill>
                          <a:effectLst/>
                          <a:latin typeface="+mn-lt"/>
                          <a:ea typeface="+mn-ea"/>
                          <a:cs typeface="+mn-cs"/>
                        </a:rPr>
                        <a:t>); </a:t>
                      </a:r>
                    </a:p>
                    <a:p>
                      <a:r>
                        <a:rPr lang="en-US" sz="1800" b="0" kern="1200" dirty="0">
                          <a:solidFill>
                            <a:schemeClr val="lt1"/>
                          </a:solidFill>
                          <a:effectLst/>
                          <a:latin typeface="+mn-lt"/>
                          <a:ea typeface="+mn-ea"/>
                          <a:cs typeface="+mn-cs"/>
                        </a:rPr>
                        <a:t>}</a:t>
                      </a:r>
                    </a:p>
                  </a:txBody>
                  <a:tcPr/>
                </a:tc>
                <a:extLst>
                  <a:ext uri="{0D108BD9-81ED-4DB2-BD59-A6C34878D82A}">
                    <a16:rowId xmlns:a16="http://schemas.microsoft.com/office/drawing/2014/main" val="2061945932"/>
                  </a:ext>
                </a:extLst>
              </a:tr>
            </a:tbl>
          </a:graphicData>
        </a:graphic>
      </p:graphicFrame>
      <p:sp>
        <p:nvSpPr>
          <p:cNvPr id="9" name="TextBox 8"/>
          <p:cNvSpPr txBox="1"/>
          <p:nvPr/>
        </p:nvSpPr>
        <p:spPr>
          <a:xfrm>
            <a:off x="585971" y="1214501"/>
            <a:ext cx="8908903" cy="646331"/>
          </a:xfrm>
          <a:prstGeom prst="rect">
            <a:avLst/>
          </a:prstGeom>
          <a:noFill/>
        </p:spPr>
        <p:txBody>
          <a:bodyPr wrap="square" rtlCol="0">
            <a:spAutoFit/>
          </a:bodyPr>
          <a:lstStyle/>
          <a:p>
            <a:r>
              <a:rPr lang="en-US" dirty="0"/>
              <a:t>?? is called the </a:t>
            </a:r>
            <a:r>
              <a:rPr lang="en-US" b="1" dirty="0"/>
              <a:t>null-coalescing operator </a:t>
            </a:r>
            <a:r>
              <a:rPr lang="en-US" dirty="0"/>
              <a:t>in Dart. It means “use the value on the left if it’s not null; otherwise, use the one on the right.”</a:t>
            </a:r>
          </a:p>
        </p:txBody>
      </p:sp>
      <p:pic>
        <p:nvPicPr>
          <p:cNvPr id="5" name="Picture 4"/>
          <p:cNvPicPr>
            <a:picLocks noChangeAspect="1"/>
          </p:cNvPicPr>
          <p:nvPr/>
        </p:nvPicPr>
        <p:blipFill>
          <a:blip r:embed="rId4"/>
          <a:stretch>
            <a:fillRect/>
          </a:stretch>
        </p:blipFill>
        <p:spPr>
          <a:xfrm>
            <a:off x="5950555" y="2287255"/>
            <a:ext cx="5181866" cy="2857647"/>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609223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27</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409983" y="482783"/>
            <a:ext cx="6514178" cy="572700"/>
          </a:xfrm>
          <a:prstGeom prst="rect">
            <a:avLst/>
          </a:prstGeom>
        </p:spPr>
        <p:txBody>
          <a:bodyPr spcFirstLastPara="1" wrap="square" lIns="91425" tIns="91425" rIns="91425" bIns="91425" anchor="t" anchorCtr="0">
            <a:noAutofit/>
          </a:bodyPr>
          <a:lstStyle/>
          <a:p>
            <a:pPr lvl="0" algn="ctr">
              <a:spcBef>
                <a:spcPts val="0"/>
              </a:spcBef>
            </a:pPr>
            <a:r>
              <a:rPr lang="en" dirty="0"/>
              <a:t>Dart </a:t>
            </a:r>
            <a:r>
              <a:rPr lang="en" dirty="0">
                <a:solidFill>
                  <a:srgbClr val="1E9E78"/>
                </a:solidFill>
              </a:rPr>
              <a:t>Conditional Operators</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graphicFrame>
        <p:nvGraphicFramePr>
          <p:cNvPr id="3" name="Table 2"/>
          <p:cNvGraphicFramePr>
            <a:graphicFrameLocks noGrp="1"/>
          </p:cNvGraphicFramePr>
          <p:nvPr>
            <p:extLst>
              <p:ext uri="{D42A27DB-BD31-4B8C-83A1-F6EECF244321}">
                <p14:modId xmlns:p14="http://schemas.microsoft.com/office/powerpoint/2010/main" val="596272603"/>
              </p:ext>
            </p:extLst>
          </p:nvPr>
        </p:nvGraphicFramePr>
        <p:xfrm>
          <a:off x="585971" y="2815507"/>
          <a:ext cx="4687778" cy="1737360"/>
        </p:xfrm>
        <a:graphic>
          <a:graphicData uri="http://schemas.openxmlformats.org/drawingml/2006/table">
            <a:tbl>
              <a:tblPr firstRow="1" bandRow="1">
                <a:tableStyleId>{073A0DAA-6AF3-43AB-8588-CEC1D06C72B9}</a:tableStyleId>
              </a:tblPr>
              <a:tblGrid>
                <a:gridCol w="4687778">
                  <a:extLst>
                    <a:ext uri="{9D8B030D-6E8A-4147-A177-3AD203B41FA5}">
                      <a16:colId xmlns:a16="http://schemas.microsoft.com/office/drawing/2014/main" val="209190469"/>
                    </a:ext>
                  </a:extLst>
                </a:gridCol>
              </a:tblGrid>
              <a:tr h="1554473">
                <a:tc>
                  <a:txBody>
                    <a:bodyPr/>
                    <a:lstStyle/>
                    <a:p>
                      <a:r>
                        <a:rPr lang="en-US" sz="1800" b="0" kern="1200" dirty="0">
                          <a:solidFill>
                            <a:schemeClr val="lt1"/>
                          </a:solidFill>
                          <a:effectLst/>
                          <a:latin typeface="+mn-lt"/>
                          <a:ea typeface="+mn-ea"/>
                          <a:cs typeface="+mn-cs"/>
                        </a:rPr>
                        <a:t>main(){</a:t>
                      </a:r>
                    </a:p>
                    <a:p>
                      <a:r>
                        <a:rPr lang="en-US" sz="1800" b="0" kern="1200" dirty="0">
                          <a:solidFill>
                            <a:schemeClr val="lt1"/>
                          </a:solidFill>
                          <a:effectLst/>
                          <a:latin typeface="+mn-lt"/>
                          <a:ea typeface="+mn-ea"/>
                          <a:cs typeface="+mn-cs"/>
                        </a:rPr>
                        <a:t>  print(10 is </a:t>
                      </a:r>
                      <a:r>
                        <a:rPr lang="en-US" sz="1800" b="0" kern="1200" dirty="0" err="1">
                          <a:solidFill>
                            <a:schemeClr val="lt1"/>
                          </a:solidFill>
                          <a:effectLst/>
                          <a:latin typeface="+mn-lt"/>
                          <a:ea typeface="+mn-ea"/>
                          <a:cs typeface="+mn-cs"/>
                        </a:rPr>
                        <a:t>int</a:t>
                      </a:r>
                      <a:r>
                        <a:rPr lang="en-US" sz="1800" b="0" kern="1200" dirty="0">
                          <a:solidFill>
                            <a:schemeClr val="lt1"/>
                          </a:solidFill>
                          <a:effectLst/>
                          <a:latin typeface="+mn-lt"/>
                          <a:ea typeface="+mn-ea"/>
                          <a:cs typeface="+mn-cs"/>
                        </a:rPr>
                        <a:t>);   </a:t>
                      </a:r>
                    </a:p>
                    <a:p>
                      <a:r>
                        <a:rPr lang="en-US" sz="1800" b="0" kern="1200" dirty="0">
                          <a:solidFill>
                            <a:schemeClr val="lt1"/>
                          </a:solidFill>
                          <a:effectLst/>
                          <a:latin typeface="+mn-lt"/>
                          <a:ea typeface="+mn-ea"/>
                          <a:cs typeface="+mn-cs"/>
                        </a:rPr>
                        <a:t>  print('hi' is </a:t>
                      </a:r>
                      <a:r>
                        <a:rPr lang="en-US" sz="1800" b="0" kern="1200" dirty="0" err="1">
                          <a:solidFill>
                            <a:schemeClr val="lt1"/>
                          </a:solidFill>
                          <a:effectLst/>
                          <a:latin typeface="+mn-lt"/>
                          <a:ea typeface="+mn-ea"/>
                          <a:cs typeface="+mn-cs"/>
                        </a:rPr>
                        <a:t>int</a:t>
                      </a:r>
                      <a:r>
                        <a:rPr lang="en-US" sz="1800" b="0" kern="1200" dirty="0">
                          <a:solidFill>
                            <a:schemeClr val="lt1"/>
                          </a:solidFill>
                          <a:effectLst/>
                          <a:latin typeface="+mn-lt"/>
                          <a:ea typeface="+mn-ea"/>
                          <a:cs typeface="+mn-cs"/>
                        </a:rPr>
                        <a:t>); </a:t>
                      </a:r>
                    </a:p>
                    <a:p>
                      <a:r>
                        <a:rPr lang="en-US" sz="1800" b="0" kern="1200" dirty="0">
                          <a:solidFill>
                            <a:schemeClr val="lt1"/>
                          </a:solidFill>
                          <a:effectLst/>
                          <a:latin typeface="+mn-lt"/>
                          <a:ea typeface="+mn-ea"/>
                          <a:cs typeface="+mn-cs"/>
                        </a:rPr>
                        <a:t>  print(3.5 is double);  </a:t>
                      </a:r>
                    </a:p>
                    <a:p>
                      <a:r>
                        <a:rPr lang="en-US" sz="1800" b="0" kern="1200" dirty="0">
                          <a:solidFill>
                            <a:schemeClr val="lt1"/>
                          </a:solidFill>
                          <a:effectLst/>
                          <a:latin typeface="+mn-lt"/>
                          <a:ea typeface="+mn-ea"/>
                          <a:cs typeface="+mn-cs"/>
                        </a:rPr>
                        <a:t>  print(true is </a:t>
                      </a:r>
                      <a:r>
                        <a:rPr lang="en-US" sz="1800" b="0" kern="1200" dirty="0" err="1">
                          <a:solidFill>
                            <a:schemeClr val="lt1"/>
                          </a:solidFill>
                          <a:effectLst/>
                          <a:latin typeface="+mn-lt"/>
                          <a:ea typeface="+mn-ea"/>
                          <a:cs typeface="+mn-cs"/>
                        </a:rPr>
                        <a:t>int</a:t>
                      </a:r>
                      <a:r>
                        <a:rPr lang="en-US" sz="1800" b="0" kern="1200" dirty="0">
                          <a:solidFill>
                            <a:schemeClr val="lt1"/>
                          </a:solidFill>
                          <a:effectLst/>
                          <a:latin typeface="+mn-lt"/>
                          <a:ea typeface="+mn-ea"/>
                          <a:cs typeface="+mn-cs"/>
                        </a:rPr>
                        <a:t>); </a:t>
                      </a:r>
                    </a:p>
                    <a:p>
                      <a:r>
                        <a:rPr lang="en-US" sz="1800" b="0" kern="1200" dirty="0">
                          <a:solidFill>
                            <a:schemeClr val="lt1"/>
                          </a:solidFill>
                          <a:effectLst/>
                          <a:latin typeface="+mn-lt"/>
                          <a:ea typeface="+mn-ea"/>
                          <a:cs typeface="+mn-cs"/>
                        </a:rPr>
                        <a:t>}</a:t>
                      </a:r>
                    </a:p>
                  </a:txBody>
                  <a:tcPr/>
                </a:tc>
                <a:extLst>
                  <a:ext uri="{0D108BD9-81ED-4DB2-BD59-A6C34878D82A}">
                    <a16:rowId xmlns:a16="http://schemas.microsoft.com/office/drawing/2014/main" val="2061945932"/>
                  </a:ext>
                </a:extLst>
              </a:tr>
            </a:tbl>
          </a:graphicData>
        </a:graphic>
      </p:graphicFrame>
      <p:sp>
        <p:nvSpPr>
          <p:cNvPr id="9" name="TextBox 8"/>
          <p:cNvSpPr txBox="1"/>
          <p:nvPr/>
        </p:nvSpPr>
        <p:spPr>
          <a:xfrm>
            <a:off x="585971" y="1214501"/>
            <a:ext cx="8908903" cy="800219"/>
          </a:xfrm>
          <a:prstGeom prst="rect">
            <a:avLst/>
          </a:prstGeom>
          <a:noFill/>
        </p:spPr>
        <p:txBody>
          <a:bodyPr wrap="square" rtlCol="0">
            <a:spAutoFit/>
          </a:bodyPr>
          <a:lstStyle/>
          <a:p>
            <a:r>
              <a:rPr lang="en-US" b="1" dirty="0"/>
              <a:t>What is does: </a:t>
            </a:r>
            <a:r>
              <a:rPr lang="en-US" dirty="0"/>
              <a:t>The </a:t>
            </a:r>
            <a:r>
              <a:rPr lang="en-US" sz="2800" b="1" dirty="0"/>
              <a:t>is</a:t>
            </a:r>
            <a:r>
              <a:rPr lang="en-US" dirty="0"/>
              <a:t> operator checks whether a variable is of a certain type. It returns a </a:t>
            </a:r>
            <a:r>
              <a:rPr lang="en-US" dirty="0" err="1"/>
              <a:t>boolean</a:t>
            </a:r>
            <a:r>
              <a:rPr lang="en-US" dirty="0"/>
              <a:t> value (true or false).</a:t>
            </a:r>
          </a:p>
        </p:txBody>
      </p:sp>
      <p:pic>
        <p:nvPicPr>
          <p:cNvPr id="4" name="Picture 3"/>
          <p:cNvPicPr>
            <a:picLocks noChangeAspect="1"/>
          </p:cNvPicPr>
          <p:nvPr/>
        </p:nvPicPr>
        <p:blipFill>
          <a:blip r:embed="rId4"/>
          <a:stretch>
            <a:fillRect/>
          </a:stretch>
        </p:blipFill>
        <p:spPr>
          <a:xfrm>
            <a:off x="5816009" y="1922375"/>
            <a:ext cx="4319495" cy="4397402"/>
          </a:xfrm>
          <a:prstGeom prst="rect">
            <a:avLst/>
          </a:prstGeom>
        </p:spPr>
      </p:pic>
    </p:spTree>
    <p:extLst>
      <p:ext uri="{BB962C8B-B14F-4D97-AF65-F5344CB8AC3E}">
        <p14:creationId xmlns:p14="http://schemas.microsoft.com/office/powerpoint/2010/main" val="3967255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28</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409983" y="482783"/>
            <a:ext cx="6514178" cy="572700"/>
          </a:xfrm>
          <a:prstGeom prst="rect">
            <a:avLst/>
          </a:prstGeom>
        </p:spPr>
        <p:txBody>
          <a:bodyPr spcFirstLastPara="1" wrap="square" lIns="91425" tIns="91425" rIns="91425" bIns="91425" anchor="t" anchorCtr="0">
            <a:noAutofit/>
          </a:bodyPr>
          <a:lstStyle/>
          <a:p>
            <a:pPr lvl="0" algn="ctr">
              <a:spcBef>
                <a:spcPts val="0"/>
              </a:spcBef>
            </a:pPr>
            <a:r>
              <a:rPr lang="en" dirty="0"/>
              <a:t>Dart </a:t>
            </a:r>
            <a:r>
              <a:rPr lang="en" dirty="0">
                <a:solidFill>
                  <a:srgbClr val="1E9E78"/>
                </a:solidFill>
              </a:rPr>
              <a:t>Conditional Operators</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graphicFrame>
        <p:nvGraphicFramePr>
          <p:cNvPr id="3" name="Table 2"/>
          <p:cNvGraphicFramePr>
            <a:graphicFrameLocks noGrp="1"/>
          </p:cNvGraphicFramePr>
          <p:nvPr>
            <p:extLst>
              <p:ext uri="{D42A27DB-BD31-4B8C-83A1-F6EECF244321}">
                <p14:modId xmlns:p14="http://schemas.microsoft.com/office/powerpoint/2010/main" val="3723917288"/>
              </p:ext>
            </p:extLst>
          </p:nvPr>
        </p:nvGraphicFramePr>
        <p:xfrm>
          <a:off x="585971" y="2815507"/>
          <a:ext cx="4687778" cy="2011680"/>
        </p:xfrm>
        <a:graphic>
          <a:graphicData uri="http://schemas.openxmlformats.org/drawingml/2006/table">
            <a:tbl>
              <a:tblPr firstRow="1" bandRow="1">
                <a:tableStyleId>{073A0DAA-6AF3-43AB-8588-CEC1D06C72B9}</a:tableStyleId>
              </a:tblPr>
              <a:tblGrid>
                <a:gridCol w="4687778">
                  <a:extLst>
                    <a:ext uri="{9D8B030D-6E8A-4147-A177-3AD203B41FA5}">
                      <a16:colId xmlns:a16="http://schemas.microsoft.com/office/drawing/2014/main" val="209190469"/>
                    </a:ext>
                  </a:extLst>
                </a:gridCol>
              </a:tblGrid>
              <a:tr h="1554473">
                <a:tc>
                  <a:txBody>
                    <a:bodyPr/>
                    <a:lstStyle/>
                    <a:p>
                      <a:r>
                        <a:rPr lang="en-US" sz="1800" b="0" kern="1200" dirty="0">
                          <a:solidFill>
                            <a:schemeClr val="lt1"/>
                          </a:solidFill>
                          <a:effectLst/>
                          <a:latin typeface="+mn-lt"/>
                          <a:ea typeface="+mn-ea"/>
                          <a:cs typeface="+mn-cs"/>
                        </a:rPr>
                        <a:t>void main() {</a:t>
                      </a:r>
                    </a:p>
                    <a:p>
                      <a:r>
                        <a:rPr lang="en-US" sz="1800" b="0" kern="1200" dirty="0">
                          <a:solidFill>
                            <a:schemeClr val="lt1"/>
                          </a:solidFill>
                          <a:effectLst/>
                          <a:latin typeface="+mn-lt"/>
                          <a:ea typeface="+mn-ea"/>
                          <a:cs typeface="+mn-cs"/>
                        </a:rPr>
                        <a:t>  </a:t>
                      </a:r>
                      <a:r>
                        <a:rPr lang="en-US" sz="1800" b="0" kern="1200" dirty="0" err="1">
                          <a:solidFill>
                            <a:schemeClr val="lt1"/>
                          </a:solidFill>
                          <a:effectLst/>
                          <a:latin typeface="+mn-lt"/>
                          <a:ea typeface="+mn-ea"/>
                          <a:cs typeface="+mn-cs"/>
                        </a:rPr>
                        <a:t>int</a:t>
                      </a:r>
                      <a:r>
                        <a:rPr lang="en-US" sz="1800" b="0" kern="1200" dirty="0">
                          <a:solidFill>
                            <a:schemeClr val="lt1"/>
                          </a:solidFill>
                          <a:effectLst/>
                          <a:latin typeface="+mn-lt"/>
                          <a:ea typeface="+mn-ea"/>
                          <a:cs typeface="+mn-cs"/>
                        </a:rPr>
                        <a:t> x = 5;</a:t>
                      </a:r>
                    </a:p>
                    <a:p>
                      <a:r>
                        <a:rPr lang="en-US" sz="1800" b="0" kern="1200" dirty="0">
                          <a:solidFill>
                            <a:schemeClr val="lt1"/>
                          </a:solidFill>
                          <a:effectLst/>
                          <a:latin typeface="+mn-lt"/>
                          <a:ea typeface="+mn-ea"/>
                          <a:cs typeface="+mn-cs"/>
                        </a:rPr>
                        <a:t>   // x is an </a:t>
                      </a:r>
                      <a:r>
                        <a:rPr lang="en-US" sz="1800" b="0" kern="1200" dirty="0" err="1">
                          <a:solidFill>
                            <a:schemeClr val="lt1"/>
                          </a:solidFill>
                          <a:effectLst/>
                          <a:latin typeface="+mn-lt"/>
                          <a:ea typeface="+mn-ea"/>
                          <a:cs typeface="+mn-cs"/>
                        </a:rPr>
                        <a:t>intiger</a:t>
                      </a:r>
                      <a:endParaRPr lang="en-US" sz="1800" b="0" kern="1200" dirty="0">
                        <a:solidFill>
                          <a:schemeClr val="lt1"/>
                        </a:solidFill>
                        <a:effectLst/>
                        <a:latin typeface="+mn-lt"/>
                        <a:ea typeface="+mn-ea"/>
                        <a:cs typeface="+mn-cs"/>
                      </a:endParaRPr>
                    </a:p>
                    <a:p>
                      <a:r>
                        <a:rPr lang="en-US" sz="1800" b="0" kern="1200" dirty="0">
                          <a:solidFill>
                            <a:schemeClr val="lt1"/>
                          </a:solidFill>
                          <a:effectLst/>
                          <a:latin typeface="+mn-lt"/>
                          <a:ea typeface="+mn-ea"/>
                          <a:cs typeface="+mn-cs"/>
                        </a:rPr>
                        <a:t>   // bool means it is a true or false</a:t>
                      </a:r>
                    </a:p>
                    <a:p>
                      <a:r>
                        <a:rPr lang="en-US" sz="1800" b="0" kern="1200" dirty="0">
                          <a:solidFill>
                            <a:schemeClr val="lt1"/>
                          </a:solidFill>
                          <a:effectLst/>
                          <a:latin typeface="+mn-lt"/>
                          <a:ea typeface="+mn-ea"/>
                          <a:cs typeface="+mn-cs"/>
                        </a:rPr>
                        <a:t>   // x is! bool means “x is not a bool”</a:t>
                      </a:r>
                    </a:p>
                    <a:p>
                      <a:r>
                        <a:rPr lang="en-US" sz="1800" b="0" kern="1200" dirty="0">
                          <a:solidFill>
                            <a:schemeClr val="lt1"/>
                          </a:solidFill>
                          <a:effectLst/>
                          <a:latin typeface="+mn-lt"/>
                          <a:ea typeface="+mn-ea"/>
                          <a:cs typeface="+mn-cs"/>
                        </a:rPr>
                        <a:t>  print(x is! bool); </a:t>
                      </a:r>
                    </a:p>
                    <a:p>
                      <a:r>
                        <a:rPr lang="en-US" sz="1800" b="0" kern="1200" dirty="0">
                          <a:solidFill>
                            <a:schemeClr val="lt1"/>
                          </a:solidFill>
                          <a:effectLst/>
                          <a:latin typeface="+mn-lt"/>
                          <a:ea typeface="+mn-ea"/>
                          <a:cs typeface="+mn-cs"/>
                        </a:rPr>
                        <a:t>}</a:t>
                      </a:r>
                    </a:p>
                  </a:txBody>
                  <a:tcPr/>
                </a:tc>
                <a:extLst>
                  <a:ext uri="{0D108BD9-81ED-4DB2-BD59-A6C34878D82A}">
                    <a16:rowId xmlns:a16="http://schemas.microsoft.com/office/drawing/2014/main" val="2061945932"/>
                  </a:ext>
                </a:extLst>
              </a:tr>
            </a:tbl>
          </a:graphicData>
        </a:graphic>
      </p:graphicFrame>
      <p:sp>
        <p:nvSpPr>
          <p:cNvPr id="9" name="TextBox 8"/>
          <p:cNvSpPr txBox="1"/>
          <p:nvPr/>
        </p:nvSpPr>
        <p:spPr>
          <a:xfrm>
            <a:off x="585971" y="1214501"/>
            <a:ext cx="8908903" cy="800219"/>
          </a:xfrm>
          <a:prstGeom prst="rect">
            <a:avLst/>
          </a:prstGeom>
          <a:noFill/>
        </p:spPr>
        <p:txBody>
          <a:bodyPr wrap="square" rtlCol="0">
            <a:spAutoFit/>
          </a:bodyPr>
          <a:lstStyle/>
          <a:p>
            <a:r>
              <a:rPr lang="en-US" b="1" dirty="0"/>
              <a:t>What is does: </a:t>
            </a:r>
            <a:r>
              <a:rPr lang="en-US" dirty="0"/>
              <a:t>The </a:t>
            </a:r>
            <a:r>
              <a:rPr lang="en-US" sz="2800" b="1" dirty="0"/>
              <a:t>is</a:t>
            </a:r>
            <a:r>
              <a:rPr lang="en-US" dirty="0"/>
              <a:t> operator checks whether a variable is of a certain type. It returns a </a:t>
            </a:r>
            <a:r>
              <a:rPr lang="en-US" dirty="0" err="1"/>
              <a:t>boolean</a:t>
            </a:r>
            <a:r>
              <a:rPr lang="en-US" dirty="0"/>
              <a:t> value (true or false).</a:t>
            </a:r>
          </a:p>
        </p:txBody>
      </p:sp>
      <p:pic>
        <p:nvPicPr>
          <p:cNvPr id="5" name="Picture 4"/>
          <p:cNvPicPr>
            <a:picLocks noChangeAspect="1"/>
          </p:cNvPicPr>
          <p:nvPr/>
        </p:nvPicPr>
        <p:blipFill>
          <a:blip r:embed="rId4"/>
          <a:stretch>
            <a:fillRect/>
          </a:stretch>
        </p:blipFill>
        <p:spPr>
          <a:xfrm>
            <a:off x="5790105" y="2404359"/>
            <a:ext cx="5226319" cy="2921150"/>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488082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29</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697062" y="446982"/>
            <a:ext cx="6514178" cy="572700"/>
          </a:xfrm>
          <a:prstGeom prst="rect">
            <a:avLst/>
          </a:prstGeom>
        </p:spPr>
        <p:txBody>
          <a:bodyPr spcFirstLastPara="1" wrap="square" lIns="91425" tIns="91425" rIns="91425" bIns="91425" anchor="t" anchorCtr="0">
            <a:noAutofit/>
          </a:bodyPr>
          <a:lstStyle/>
          <a:p>
            <a:pPr lvl="0">
              <a:spcBef>
                <a:spcPts val="0"/>
              </a:spcBef>
            </a:pPr>
            <a:r>
              <a:rPr lang="en" dirty="0">
                <a:solidFill>
                  <a:srgbClr val="1E9E78"/>
                </a:solidFill>
              </a:rPr>
              <a:t>If</a:t>
            </a:r>
            <a:r>
              <a:rPr lang="en" dirty="0"/>
              <a:t> Statement</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graphicFrame>
        <p:nvGraphicFramePr>
          <p:cNvPr id="3" name="Table 2"/>
          <p:cNvGraphicFramePr>
            <a:graphicFrameLocks noGrp="1"/>
          </p:cNvGraphicFramePr>
          <p:nvPr>
            <p:extLst>
              <p:ext uri="{D42A27DB-BD31-4B8C-83A1-F6EECF244321}">
                <p14:modId xmlns:p14="http://schemas.microsoft.com/office/powerpoint/2010/main" val="2125913250"/>
              </p:ext>
            </p:extLst>
          </p:nvPr>
        </p:nvGraphicFramePr>
        <p:xfrm>
          <a:off x="585971" y="2815507"/>
          <a:ext cx="4687778" cy="2286000"/>
        </p:xfrm>
        <a:graphic>
          <a:graphicData uri="http://schemas.openxmlformats.org/drawingml/2006/table">
            <a:tbl>
              <a:tblPr firstRow="1" bandRow="1">
                <a:tableStyleId>{073A0DAA-6AF3-43AB-8588-CEC1D06C72B9}</a:tableStyleId>
              </a:tblPr>
              <a:tblGrid>
                <a:gridCol w="4687778">
                  <a:extLst>
                    <a:ext uri="{9D8B030D-6E8A-4147-A177-3AD203B41FA5}">
                      <a16:colId xmlns:a16="http://schemas.microsoft.com/office/drawing/2014/main" val="209190469"/>
                    </a:ext>
                  </a:extLst>
                </a:gridCol>
              </a:tblGrid>
              <a:tr h="1554473">
                <a:tc>
                  <a:txBody>
                    <a:bodyPr/>
                    <a:lstStyle/>
                    <a:p>
                      <a:r>
                        <a:rPr lang="en-US" sz="1800" b="0" kern="1200" dirty="0">
                          <a:solidFill>
                            <a:schemeClr val="lt1"/>
                          </a:solidFill>
                          <a:effectLst/>
                          <a:latin typeface="+mn-lt"/>
                          <a:ea typeface="+mn-ea"/>
                          <a:cs typeface="+mn-cs"/>
                        </a:rPr>
                        <a:t>void main() {</a:t>
                      </a:r>
                    </a:p>
                    <a:p>
                      <a:r>
                        <a:rPr lang="en-US" sz="1800" b="0" kern="1200" dirty="0">
                          <a:solidFill>
                            <a:schemeClr val="lt1"/>
                          </a:solidFill>
                          <a:effectLst/>
                          <a:latin typeface="+mn-lt"/>
                          <a:ea typeface="+mn-ea"/>
                          <a:cs typeface="+mn-cs"/>
                        </a:rPr>
                        <a:t>  </a:t>
                      </a:r>
                      <a:r>
                        <a:rPr lang="en-US" sz="1800" b="0" kern="1200" dirty="0" err="1">
                          <a:solidFill>
                            <a:schemeClr val="lt1"/>
                          </a:solidFill>
                          <a:effectLst/>
                          <a:latin typeface="+mn-lt"/>
                          <a:ea typeface="+mn-ea"/>
                          <a:cs typeface="+mn-cs"/>
                        </a:rPr>
                        <a:t>int</a:t>
                      </a:r>
                      <a:r>
                        <a:rPr lang="en-US" sz="1800" b="0" kern="1200" dirty="0">
                          <a:solidFill>
                            <a:schemeClr val="lt1"/>
                          </a:solidFill>
                          <a:effectLst/>
                          <a:latin typeface="+mn-lt"/>
                          <a:ea typeface="+mn-ea"/>
                          <a:cs typeface="+mn-cs"/>
                        </a:rPr>
                        <a:t> x = 6; // Define a value for x</a:t>
                      </a:r>
                    </a:p>
                    <a:p>
                      <a:r>
                        <a:rPr lang="en-US" sz="1800" b="0" kern="1200" dirty="0">
                          <a:solidFill>
                            <a:schemeClr val="lt1"/>
                          </a:solidFill>
                          <a:effectLst/>
                          <a:latin typeface="+mn-lt"/>
                          <a:ea typeface="+mn-ea"/>
                          <a:cs typeface="+mn-cs"/>
                        </a:rPr>
                        <a:t>  if (x &gt; 5) {</a:t>
                      </a:r>
                    </a:p>
                    <a:p>
                      <a:r>
                        <a:rPr lang="en-US" sz="1800" b="0" kern="1200" dirty="0">
                          <a:solidFill>
                            <a:schemeClr val="lt1"/>
                          </a:solidFill>
                          <a:effectLst/>
                          <a:latin typeface="+mn-lt"/>
                          <a:ea typeface="+mn-ea"/>
                          <a:cs typeface="+mn-cs"/>
                        </a:rPr>
                        <a:t>    print("Hello, I am If statement running now...");</a:t>
                      </a:r>
                    </a:p>
                    <a:p>
                      <a:r>
                        <a:rPr lang="en-US" sz="1800" b="0" kern="1200" dirty="0">
                          <a:solidFill>
                            <a:schemeClr val="lt1"/>
                          </a:solidFill>
                          <a:effectLst/>
                          <a:latin typeface="+mn-lt"/>
                          <a:ea typeface="+mn-ea"/>
                          <a:cs typeface="+mn-cs"/>
                        </a:rPr>
                        <a:t>    print('The End');</a:t>
                      </a:r>
                    </a:p>
                    <a:p>
                      <a:r>
                        <a:rPr lang="en-US" sz="1800" b="0" kern="1200" dirty="0">
                          <a:solidFill>
                            <a:schemeClr val="lt1"/>
                          </a:solidFill>
                          <a:effectLst/>
                          <a:latin typeface="+mn-lt"/>
                          <a:ea typeface="+mn-ea"/>
                          <a:cs typeface="+mn-cs"/>
                        </a:rPr>
                        <a:t>  }</a:t>
                      </a:r>
                    </a:p>
                    <a:p>
                      <a:r>
                        <a:rPr lang="en-US" sz="1800" b="0" kern="1200" dirty="0">
                          <a:solidFill>
                            <a:schemeClr val="lt1"/>
                          </a:solidFill>
                          <a:effectLst/>
                          <a:latin typeface="+mn-lt"/>
                          <a:ea typeface="+mn-ea"/>
                          <a:cs typeface="+mn-cs"/>
                        </a:rPr>
                        <a:t>}</a:t>
                      </a:r>
                    </a:p>
                  </a:txBody>
                  <a:tcPr/>
                </a:tc>
                <a:extLst>
                  <a:ext uri="{0D108BD9-81ED-4DB2-BD59-A6C34878D82A}">
                    <a16:rowId xmlns:a16="http://schemas.microsoft.com/office/drawing/2014/main" val="2061945932"/>
                  </a:ext>
                </a:extLst>
              </a:tr>
            </a:tbl>
          </a:graphicData>
        </a:graphic>
      </p:graphicFrame>
      <p:sp>
        <p:nvSpPr>
          <p:cNvPr id="9" name="TextBox 8"/>
          <p:cNvSpPr txBox="1"/>
          <p:nvPr/>
        </p:nvSpPr>
        <p:spPr>
          <a:xfrm>
            <a:off x="585971" y="1214501"/>
            <a:ext cx="8908903" cy="923330"/>
          </a:xfrm>
          <a:prstGeom prst="rect">
            <a:avLst/>
          </a:prstGeom>
          <a:noFill/>
        </p:spPr>
        <p:txBody>
          <a:bodyPr wrap="square" rtlCol="0">
            <a:spAutoFit/>
          </a:bodyPr>
          <a:lstStyle/>
          <a:p>
            <a:r>
              <a:rPr lang="en-US" dirty="0"/>
              <a:t>The "if" statement is a programming conditional statement that, if proved true, executes the second part of the statement. Otherwise, if proved false, the program will skip the execution of the second part and do something else.</a:t>
            </a:r>
            <a:endParaRPr lang="en-US" dirty="0">
              <a:effectLst/>
            </a:endParaRPr>
          </a:p>
        </p:txBody>
      </p:sp>
      <p:pic>
        <p:nvPicPr>
          <p:cNvPr id="10" name="Google Shape;475;p58"/>
          <p:cNvPicPr preferRelativeResize="0"/>
          <p:nvPr/>
        </p:nvPicPr>
        <p:blipFill>
          <a:blip r:embed="rId4">
            <a:alphaModFix/>
          </a:blip>
          <a:stretch>
            <a:fillRect/>
          </a:stretch>
        </p:blipFill>
        <p:spPr>
          <a:xfrm>
            <a:off x="5760117" y="2678066"/>
            <a:ext cx="5826594" cy="2574418"/>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73233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30</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697062" y="446982"/>
            <a:ext cx="6514178" cy="572700"/>
          </a:xfrm>
          <a:prstGeom prst="rect">
            <a:avLst/>
          </a:prstGeom>
        </p:spPr>
        <p:txBody>
          <a:bodyPr spcFirstLastPara="1" wrap="square" lIns="91425" tIns="91425" rIns="91425" bIns="91425" anchor="t" anchorCtr="0">
            <a:noAutofit/>
          </a:bodyPr>
          <a:lstStyle/>
          <a:p>
            <a:pPr lvl="0">
              <a:spcBef>
                <a:spcPts val="0"/>
              </a:spcBef>
            </a:pPr>
            <a:r>
              <a:rPr lang="en-US" dirty="0">
                <a:solidFill>
                  <a:srgbClr val="1E9E78"/>
                </a:solidFill>
              </a:rPr>
              <a:t>E</a:t>
            </a:r>
            <a:r>
              <a:rPr lang="en" dirty="0">
                <a:solidFill>
                  <a:srgbClr val="1E9E78"/>
                </a:solidFill>
              </a:rPr>
              <a:t>lse If</a:t>
            </a:r>
            <a:r>
              <a:rPr lang="en" dirty="0"/>
              <a:t> Statement</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graphicFrame>
        <p:nvGraphicFramePr>
          <p:cNvPr id="3" name="Table 2"/>
          <p:cNvGraphicFramePr>
            <a:graphicFrameLocks noGrp="1"/>
          </p:cNvGraphicFramePr>
          <p:nvPr>
            <p:extLst>
              <p:ext uri="{D42A27DB-BD31-4B8C-83A1-F6EECF244321}">
                <p14:modId xmlns:p14="http://schemas.microsoft.com/office/powerpoint/2010/main" val="2282324170"/>
              </p:ext>
            </p:extLst>
          </p:nvPr>
        </p:nvGraphicFramePr>
        <p:xfrm>
          <a:off x="585971" y="3026517"/>
          <a:ext cx="5346996" cy="2560320"/>
        </p:xfrm>
        <a:graphic>
          <a:graphicData uri="http://schemas.openxmlformats.org/drawingml/2006/table">
            <a:tbl>
              <a:tblPr firstRow="1" bandRow="1">
                <a:tableStyleId>{073A0DAA-6AF3-43AB-8588-CEC1D06C72B9}</a:tableStyleId>
              </a:tblPr>
              <a:tblGrid>
                <a:gridCol w="5346996">
                  <a:extLst>
                    <a:ext uri="{9D8B030D-6E8A-4147-A177-3AD203B41FA5}">
                      <a16:colId xmlns:a16="http://schemas.microsoft.com/office/drawing/2014/main" val="209190469"/>
                    </a:ext>
                  </a:extLst>
                </a:gridCol>
              </a:tblGrid>
              <a:tr h="1554473">
                <a:tc>
                  <a:txBody>
                    <a:bodyPr/>
                    <a:lstStyle/>
                    <a:p>
                      <a:r>
                        <a:rPr lang="en-US" sz="1800" b="0" kern="1200" dirty="0">
                          <a:solidFill>
                            <a:schemeClr val="lt1"/>
                          </a:solidFill>
                          <a:effectLst/>
                          <a:latin typeface="+mn-lt"/>
                          <a:ea typeface="+mn-ea"/>
                          <a:cs typeface="+mn-cs"/>
                        </a:rPr>
                        <a:t>void main() {</a:t>
                      </a:r>
                    </a:p>
                    <a:p>
                      <a:r>
                        <a:rPr lang="en-US" sz="1800" b="0" kern="1200" dirty="0">
                          <a:solidFill>
                            <a:schemeClr val="lt1"/>
                          </a:solidFill>
                          <a:effectLst/>
                          <a:latin typeface="+mn-lt"/>
                          <a:ea typeface="+mn-ea"/>
                          <a:cs typeface="+mn-cs"/>
                        </a:rPr>
                        <a:t>  </a:t>
                      </a:r>
                      <a:r>
                        <a:rPr lang="en-US" sz="1800" b="0" kern="1200" dirty="0" err="1">
                          <a:solidFill>
                            <a:schemeClr val="lt1"/>
                          </a:solidFill>
                          <a:effectLst/>
                          <a:latin typeface="+mn-lt"/>
                          <a:ea typeface="+mn-ea"/>
                          <a:cs typeface="+mn-cs"/>
                        </a:rPr>
                        <a:t>int</a:t>
                      </a:r>
                      <a:r>
                        <a:rPr lang="en-US" sz="1800" b="0" kern="1200" dirty="0">
                          <a:solidFill>
                            <a:schemeClr val="lt1"/>
                          </a:solidFill>
                          <a:effectLst/>
                          <a:latin typeface="+mn-lt"/>
                          <a:ea typeface="+mn-ea"/>
                          <a:cs typeface="+mn-cs"/>
                        </a:rPr>
                        <a:t> x = 10;</a:t>
                      </a:r>
                    </a:p>
                    <a:p>
                      <a:r>
                        <a:rPr lang="en-US" sz="1800" b="0" kern="1200" dirty="0">
                          <a:solidFill>
                            <a:schemeClr val="lt1"/>
                          </a:solidFill>
                          <a:effectLst/>
                          <a:latin typeface="+mn-lt"/>
                          <a:ea typeface="+mn-ea"/>
                          <a:cs typeface="+mn-cs"/>
                        </a:rPr>
                        <a:t>  if (x &gt; 30) {</a:t>
                      </a:r>
                    </a:p>
                    <a:p>
                      <a:r>
                        <a:rPr lang="en-US" sz="1800" b="0" kern="1200" dirty="0">
                          <a:solidFill>
                            <a:schemeClr val="lt1"/>
                          </a:solidFill>
                          <a:effectLst/>
                          <a:latin typeface="+mn-lt"/>
                          <a:ea typeface="+mn-ea"/>
                          <a:cs typeface="+mn-cs"/>
                        </a:rPr>
                        <a:t>    print("Hello, I am If statement running now");</a:t>
                      </a:r>
                    </a:p>
                    <a:p>
                      <a:r>
                        <a:rPr lang="en-US" sz="1800" b="0" kern="1200" dirty="0">
                          <a:solidFill>
                            <a:schemeClr val="lt1"/>
                          </a:solidFill>
                          <a:effectLst/>
                          <a:latin typeface="+mn-lt"/>
                          <a:ea typeface="+mn-ea"/>
                          <a:cs typeface="+mn-cs"/>
                        </a:rPr>
                        <a:t>  } else {</a:t>
                      </a:r>
                    </a:p>
                    <a:p>
                      <a:r>
                        <a:rPr lang="en-US" sz="1800" b="0" kern="1200" dirty="0">
                          <a:solidFill>
                            <a:schemeClr val="lt1"/>
                          </a:solidFill>
                          <a:effectLst/>
                          <a:latin typeface="+mn-lt"/>
                          <a:ea typeface="+mn-ea"/>
                          <a:cs typeface="+mn-cs"/>
                        </a:rPr>
                        <a:t>    print("Hello, I am Else statement running now");</a:t>
                      </a:r>
                    </a:p>
                    <a:p>
                      <a:r>
                        <a:rPr lang="en-US" sz="1800" b="0" kern="1200" dirty="0">
                          <a:solidFill>
                            <a:schemeClr val="lt1"/>
                          </a:solidFill>
                          <a:effectLst/>
                          <a:latin typeface="+mn-lt"/>
                          <a:ea typeface="+mn-ea"/>
                          <a:cs typeface="+mn-cs"/>
                        </a:rPr>
                        <a:t>  }</a:t>
                      </a:r>
                    </a:p>
                    <a:p>
                      <a:r>
                        <a:rPr lang="en-US" sz="1800" b="0" kern="1200" dirty="0">
                          <a:solidFill>
                            <a:schemeClr val="lt1"/>
                          </a:solidFill>
                          <a:effectLst/>
                          <a:latin typeface="+mn-lt"/>
                          <a:ea typeface="+mn-ea"/>
                          <a:cs typeface="+mn-cs"/>
                        </a:rPr>
                        <a:t>}</a:t>
                      </a:r>
                    </a:p>
                    <a:p>
                      <a:endParaRPr lang="en-US" sz="1800" b="0" kern="1200" dirty="0">
                        <a:solidFill>
                          <a:schemeClr val="lt1"/>
                        </a:solidFill>
                        <a:effectLst/>
                        <a:latin typeface="+mn-lt"/>
                        <a:ea typeface="+mn-ea"/>
                        <a:cs typeface="+mn-cs"/>
                      </a:endParaRPr>
                    </a:p>
                  </a:txBody>
                  <a:tcPr/>
                </a:tc>
                <a:extLst>
                  <a:ext uri="{0D108BD9-81ED-4DB2-BD59-A6C34878D82A}">
                    <a16:rowId xmlns:a16="http://schemas.microsoft.com/office/drawing/2014/main" val="2061945932"/>
                  </a:ext>
                </a:extLst>
              </a:tr>
            </a:tbl>
          </a:graphicData>
        </a:graphic>
      </p:graphicFrame>
      <p:sp>
        <p:nvSpPr>
          <p:cNvPr id="9" name="TextBox 8"/>
          <p:cNvSpPr txBox="1"/>
          <p:nvPr/>
        </p:nvSpPr>
        <p:spPr>
          <a:xfrm>
            <a:off x="585971" y="1214501"/>
            <a:ext cx="8908903" cy="1467709"/>
          </a:xfrm>
          <a:prstGeom prst="rect">
            <a:avLst/>
          </a:prstGeom>
          <a:noFill/>
        </p:spPr>
        <p:txBody>
          <a:bodyPr wrap="square" rtlCol="0">
            <a:spAutoFit/>
          </a:bodyPr>
          <a:lstStyle/>
          <a:p>
            <a:pPr marR="163195" lvl="0">
              <a:lnSpc>
                <a:spcPct val="115000"/>
              </a:lnSpc>
              <a:spcBef>
                <a:spcPts val="1000"/>
              </a:spcBef>
            </a:pPr>
            <a:r>
              <a:rPr lang="en-US" b="1" dirty="0">
                <a:solidFill>
                  <a:srgbClr val="2B3050"/>
                </a:solidFill>
                <a:latin typeface="Arial"/>
                <a:ea typeface="Arial"/>
                <a:cs typeface="Arial"/>
                <a:sym typeface="Arial"/>
              </a:rPr>
              <a:t>If-Else Statement</a:t>
            </a:r>
          </a:p>
          <a:p>
            <a:pPr marR="163195" lvl="0">
              <a:lnSpc>
                <a:spcPct val="115000"/>
              </a:lnSpc>
              <a:spcBef>
                <a:spcPts val="1000"/>
              </a:spcBef>
            </a:pPr>
            <a:r>
              <a:rPr lang="en-US" dirty="0">
                <a:solidFill>
                  <a:srgbClr val="2B3050"/>
                </a:solidFill>
                <a:latin typeface="Arial"/>
                <a:ea typeface="Arial"/>
                <a:cs typeface="Arial"/>
                <a:sym typeface="Arial"/>
              </a:rPr>
              <a:t>The if-else statement is the most basic of all the control flow statements. It invokes your program to execute a specific section of a code only if a particular test proves to be true. The following figure displays the work of the IF - Else statement:</a:t>
            </a:r>
          </a:p>
        </p:txBody>
      </p:sp>
      <p:pic>
        <p:nvPicPr>
          <p:cNvPr id="11" name="Google Shape;491;p60"/>
          <p:cNvPicPr preferRelativeResize="0"/>
          <p:nvPr/>
        </p:nvPicPr>
        <p:blipFill>
          <a:blip r:embed="rId4">
            <a:alphaModFix/>
          </a:blip>
          <a:stretch>
            <a:fillRect/>
          </a:stretch>
        </p:blipFill>
        <p:spPr>
          <a:xfrm>
            <a:off x="6174557" y="3026517"/>
            <a:ext cx="5090474" cy="2560320"/>
          </a:xfrm>
          <a:prstGeom prst="rect">
            <a:avLst/>
          </a:prstGeom>
          <a:noFill/>
          <a:ln>
            <a:noFill/>
          </a:ln>
        </p:spPr>
      </p:pic>
    </p:spTree>
    <p:extLst>
      <p:ext uri="{BB962C8B-B14F-4D97-AF65-F5344CB8AC3E}">
        <p14:creationId xmlns:p14="http://schemas.microsoft.com/office/powerpoint/2010/main" val="32212459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31</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697062" y="446982"/>
            <a:ext cx="6514178" cy="572700"/>
          </a:xfrm>
          <a:prstGeom prst="rect">
            <a:avLst/>
          </a:prstGeom>
        </p:spPr>
        <p:txBody>
          <a:bodyPr spcFirstLastPara="1" wrap="square" lIns="91425" tIns="91425" rIns="91425" bIns="91425" anchor="t" anchorCtr="0">
            <a:noAutofit/>
          </a:bodyPr>
          <a:lstStyle/>
          <a:p>
            <a:pPr lvl="0">
              <a:spcBef>
                <a:spcPts val="0"/>
              </a:spcBef>
            </a:pPr>
            <a:r>
              <a:rPr lang="en-US" dirty="0">
                <a:solidFill>
                  <a:srgbClr val="1E9E78"/>
                </a:solidFill>
              </a:rPr>
              <a:t>E</a:t>
            </a:r>
            <a:r>
              <a:rPr lang="en" dirty="0">
                <a:solidFill>
                  <a:srgbClr val="1E9E78"/>
                </a:solidFill>
              </a:rPr>
              <a:t>lse If</a:t>
            </a:r>
            <a:r>
              <a:rPr lang="en" dirty="0"/>
              <a:t> Statement</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graphicFrame>
        <p:nvGraphicFramePr>
          <p:cNvPr id="3" name="Table 2"/>
          <p:cNvGraphicFramePr>
            <a:graphicFrameLocks noGrp="1"/>
          </p:cNvGraphicFramePr>
          <p:nvPr>
            <p:extLst>
              <p:ext uri="{D42A27DB-BD31-4B8C-83A1-F6EECF244321}">
                <p14:modId xmlns:p14="http://schemas.microsoft.com/office/powerpoint/2010/main" val="4201208321"/>
              </p:ext>
            </p:extLst>
          </p:nvPr>
        </p:nvGraphicFramePr>
        <p:xfrm>
          <a:off x="1635642" y="3299040"/>
          <a:ext cx="2318509" cy="3505200"/>
        </p:xfrm>
        <a:graphic>
          <a:graphicData uri="http://schemas.openxmlformats.org/drawingml/2006/table">
            <a:tbl>
              <a:tblPr firstRow="1" bandRow="1">
                <a:tableStyleId>{073A0DAA-6AF3-43AB-8588-CEC1D06C72B9}</a:tableStyleId>
              </a:tblPr>
              <a:tblGrid>
                <a:gridCol w="2318509">
                  <a:extLst>
                    <a:ext uri="{9D8B030D-6E8A-4147-A177-3AD203B41FA5}">
                      <a16:colId xmlns:a16="http://schemas.microsoft.com/office/drawing/2014/main" val="209190469"/>
                    </a:ext>
                  </a:extLst>
                </a:gridCol>
              </a:tblGrid>
              <a:tr h="2927716">
                <a:tc>
                  <a:txBody>
                    <a:bodyPr/>
                    <a:lstStyle/>
                    <a:p>
                      <a:r>
                        <a:rPr lang="en-US" sz="1600" b="0" kern="1200" dirty="0">
                          <a:solidFill>
                            <a:schemeClr val="lt1"/>
                          </a:solidFill>
                          <a:effectLst/>
                          <a:latin typeface="+mn-lt"/>
                          <a:ea typeface="+mn-ea"/>
                          <a:cs typeface="+mn-cs"/>
                        </a:rPr>
                        <a:t>void main() {</a:t>
                      </a:r>
                    </a:p>
                    <a:p>
                      <a:r>
                        <a:rPr lang="en-US" sz="1600" b="0" kern="1200" dirty="0">
                          <a:solidFill>
                            <a:schemeClr val="lt1"/>
                          </a:solidFill>
                          <a:effectLst/>
                          <a:latin typeface="+mn-lt"/>
                          <a:ea typeface="+mn-ea"/>
                          <a:cs typeface="+mn-cs"/>
                        </a:rPr>
                        <a:t>  </a:t>
                      </a:r>
                      <a:r>
                        <a:rPr lang="en-US" sz="1600" b="0" kern="1200" dirty="0" err="1">
                          <a:solidFill>
                            <a:schemeClr val="lt1"/>
                          </a:solidFill>
                          <a:effectLst/>
                          <a:latin typeface="+mn-lt"/>
                          <a:ea typeface="+mn-ea"/>
                          <a:cs typeface="+mn-cs"/>
                        </a:rPr>
                        <a:t>var</a:t>
                      </a:r>
                      <a:r>
                        <a:rPr lang="en-US" sz="1600" b="0" kern="1200" dirty="0">
                          <a:solidFill>
                            <a:schemeClr val="lt1"/>
                          </a:solidFill>
                          <a:effectLst/>
                          <a:latin typeface="+mn-lt"/>
                          <a:ea typeface="+mn-ea"/>
                          <a:cs typeface="+mn-cs"/>
                        </a:rPr>
                        <a:t> score = 85;</a:t>
                      </a:r>
                    </a:p>
                    <a:p>
                      <a:r>
                        <a:rPr lang="en-US" sz="1600" b="0" kern="1200" dirty="0">
                          <a:solidFill>
                            <a:schemeClr val="lt1"/>
                          </a:solidFill>
                          <a:effectLst/>
                          <a:latin typeface="+mn-lt"/>
                          <a:ea typeface="+mn-ea"/>
                          <a:cs typeface="+mn-cs"/>
                        </a:rPr>
                        <a:t>  if (score &gt;= 90) {</a:t>
                      </a:r>
                    </a:p>
                    <a:p>
                      <a:r>
                        <a:rPr lang="en-US" sz="1600" b="0" kern="1200" dirty="0">
                          <a:solidFill>
                            <a:schemeClr val="lt1"/>
                          </a:solidFill>
                          <a:effectLst/>
                          <a:latin typeface="+mn-lt"/>
                          <a:ea typeface="+mn-ea"/>
                          <a:cs typeface="+mn-cs"/>
                        </a:rPr>
                        <a:t>    print('Grade: A');</a:t>
                      </a:r>
                    </a:p>
                    <a:p>
                      <a:r>
                        <a:rPr lang="en-US" sz="1600" b="0" kern="1200" dirty="0">
                          <a:solidFill>
                            <a:schemeClr val="lt1"/>
                          </a:solidFill>
                          <a:effectLst/>
                          <a:latin typeface="+mn-lt"/>
                          <a:ea typeface="+mn-ea"/>
                          <a:cs typeface="+mn-cs"/>
                        </a:rPr>
                        <a:t>  } else if (score &gt;= 80) {</a:t>
                      </a:r>
                    </a:p>
                    <a:p>
                      <a:r>
                        <a:rPr lang="en-US" sz="1600" b="0" kern="1200" dirty="0">
                          <a:solidFill>
                            <a:schemeClr val="lt1"/>
                          </a:solidFill>
                          <a:effectLst/>
                          <a:latin typeface="+mn-lt"/>
                          <a:ea typeface="+mn-ea"/>
                          <a:cs typeface="+mn-cs"/>
                        </a:rPr>
                        <a:t>    print('Grade: B');</a:t>
                      </a:r>
                    </a:p>
                    <a:p>
                      <a:r>
                        <a:rPr lang="en-US" sz="1600" b="0" kern="1200" dirty="0">
                          <a:solidFill>
                            <a:schemeClr val="lt1"/>
                          </a:solidFill>
                          <a:effectLst/>
                          <a:latin typeface="+mn-lt"/>
                          <a:ea typeface="+mn-ea"/>
                          <a:cs typeface="+mn-cs"/>
                        </a:rPr>
                        <a:t>  } else if (score &gt;= 70) {</a:t>
                      </a:r>
                    </a:p>
                    <a:p>
                      <a:r>
                        <a:rPr lang="en-US" sz="1600" b="0" kern="1200" dirty="0">
                          <a:solidFill>
                            <a:schemeClr val="lt1"/>
                          </a:solidFill>
                          <a:effectLst/>
                          <a:latin typeface="+mn-lt"/>
                          <a:ea typeface="+mn-ea"/>
                          <a:cs typeface="+mn-cs"/>
                        </a:rPr>
                        <a:t>    print('Grade: C');</a:t>
                      </a:r>
                    </a:p>
                    <a:p>
                      <a:r>
                        <a:rPr lang="en-US" sz="1600" b="0" kern="1200" dirty="0">
                          <a:solidFill>
                            <a:schemeClr val="lt1"/>
                          </a:solidFill>
                          <a:effectLst/>
                          <a:latin typeface="+mn-lt"/>
                          <a:ea typeface="+mn-ea"/>
                          <a:cs typeface="+mn-cs"/>
                        </a:rPr>
                        <a:t>  } else if (score &gt;= 50) {</a:t>
                      </a:r>
                    </a:p>
                    <a:p>
                      <a:r>
                        <a:rPr lang="en-US" sz="1600" b="0" kern="1200" dirty="0">
                          <a:solidFill>
                            <a:schemeClr val="lt1"/>
                          </a:solidFill>
                          <a:effectLst/>
                          <a:latin typeface="+mn-lt"/>
                          <a:ea typeface="+mn-ea"/>
                          <a:cs typeface="+mn-cs"/>
                        </a:rPr>
                        <a:t>    print('Grade: D');</a:t>
                      </a:r>
                    </a:p>
                    <a:p>
                      <a:r>
                        <a:rPr lang="en-US" sz="1600" b="0" kern="1200" dirty="0">
                          <a:solidFill>
                            <a:schemeClr val="lt1"/>
                          </a:solidFill>
                          <a:effectLst/>
                          <a:latin typeface="+mn-lt"/>
                          <a:ea typeface="+mn-ea"/>
                          <a:cs typeface="+mn-cs"/>
                        </a:rPr>
                        <a:t>  } else {</a:t>
                      </a:r>
                    </a:p>
                    <a:p>
                      <a:r>
                        <a:rPr lang="en-US" sz="1600" b="0" kern="1200" dirty="0">
                          <a:solidFill>
                            <a:schemeClr val="lt1"/>
                          </a:solidFill>
                          <a:effectLst/>
                          <a:latin typeface="+mn-lt"/>
                          <a:ea typeface="+mn-ea"/>
                          <a:cs typeface="+mn-cs"/>
                        </a:rPr>
                        <a:t>    print('Grade: F');</a:t>
                      </a:r>
                    </a:p>
                    <a:p>
                      <a:r>
                        <a:rPr lang="en-US" sz="1600" b="0" kern="1200" dirty="0">
                          <a:solidFill>
                            <a:schemeClr val="lt1"/>
                          </a:solidFill>
                          <a:effectLst/>
                          <a:latin typeface="+mn-lt"/>
                          <a:ea typeface="+mn-ea"/>
                          <a:cs typeface="+mn-cs"/>
                        </a:rPr>
                        <a:t>  }</a:t>
                      </a:r>
                    </a:p>
                    <a:p>
                      <a:r>
                        <a:rPr lang="en-US" sz="1600" b="0" kern="1200" dirty="0">
                          <a:solidFill>
                            <a:schemeClr val="lt1"/>
                          </a:solidFill>
                          <a:effectLst/>
                          <a:latin typeface="+mn-lt"/>
                          <a:ea typeface="+mn-ea"/>
                          <a:cs typeface="+mn-cs"/>
                        </a:rPr>
                        <a:t>}</a:t>
                      </a:r>
                    </a:p>
                  </a:txBody>
                  <a:tcPr/>
                </a:tc>
                <a:extLst>
                  <a:ext uri="{0D108BD9-81ED-4DB2-BD59-A6C34878D82A}">
                    <a16:rowId xmlns:a16="http://schemas.microsoft.com/office/drawing/2014/main" val="2061945932"/>
                  </a:ext>
                </a:extLst>
              </a:tr>
            </a:tbl>
          </a:graphicData>
        </a:graphic>
      </p:graphicFrame>
      <p:sp>
        <p:nvSpPr>
          <p:cNvPr id="9" name="TextBox 8"/>
          <p:cNvSpPr txBox="1"/>
          <p:nvPr/>
        </p:nvSpPr>
        <p:spPr>
          <a:xfrm>
            <a:off x="668730" y="1019682"/>
            <a:ext cx="8908903" cy="2175980"/>
          </a:xfrm>
          <a:prstGeom prst="rect">
            <a:avLst/>
          </a:prstGeom>
          <a:noFill/>
        </p:spPr>
        <p:txBody>
          <a:bodyPr wrap="square" rtlCol="0">
            <a:spAutoFit/>
          </a:bodyPr>
          <a:lstStyle/>
          <a:p>
            <a:pPr marR="163195" lvl="0">
              <a:lnSpc>
                <a:spcPct val="115000"/>
              </a:lnSpc>
              <a:spcBef>
                <a:spcPts val="1000"/>
              </a:spcBef>
            </a:pPr>
            <a:r>
              <a:rPr lang="en-US" sz="1600" b="1" dirty="0">
                <a:solidFill>
                  <a:srgbClr val="2B3050"/>
                </a:solidFill>
                <a:latin typeface="Arial"/>
                <a:ea typeface="Arial"/>
                <a:cs typeface="Arial"/>
                <a:sym typeface="Arial"/>
              </a:rPr>
              <a:t>IF…Else and Else…IF... Statement</a:t>
            </a:r>
          </a:p>
          <a:p>
            <a:pPr marR="163195" lvl="0">
              <a:lnSpc>
                <a:spcPct val="115000"/>
              </a:lnSpc>
              <a:spcBef>
                <a:spcPts val="1000"/>
              </a:spcBef>
            </a:pPr>
            <a:r>
              <a:rPr lang="en-US" sz="1600" dirty="0">
                <a:solidFill>
                  <a:srgbClr val="2B3050"/>
                </a:solidFill>
                <a:latin typeface="Arial"/>
                <a:ea typeface="Arial"/>
                <a:cs typeface="Arial"/>
                <a:sym typeface="Arial"/>
              </a:rPr>
              <a:t>This statement is the most basic of all control flow statements. It invokes your program to execute a certain section of code only if a particular test evaluates to be true.</a:t>
            </a:r>
          </a:p>
          <a:p>
            <a:pPr marR="163195" lvl="0">
              <a:lnSpc>
                <a:spcPct val="115000"/>
              </a:lnSpc>
              <a:spcBef>
                <a:spcPts val="1000"/>
              </a:spcBef>
            </a:pPr>
            <a:r>
              <a:rPr lang="en-US" sz="1600" dirty="0">
                <a:solidFill>
                  <a:srgbClr val="2B3050"/>
                </a:solidFill>
                <a:latin typeface="Arial"/>
                <a:ea typeface="Arial"/>
                <a:cs typeface="Arial"/>
                <a:sym typeface="Arial"/>
              </a:rPr>
              <a:t>An if-statement can be followed by an optional else-if-else statement when testing multiple conditions.</a:t>
            </a:r>
          </a:p>
          <a:p>
            <a:pPr marR="163195" lvl="0">
              <a:lnSpc>
                <a:spcPct val="115000"/>
              </a:lnSpc>
              <a:spcBef>
                <a:spcPts val="1000"/>
              </a:spcBef>
            </a:pPr>
            <a:r>
              <a:rPr lang="en-US" sz="1600" dirty="0">
                <a:solidFill>
                  <a:srgbClr val="2B3050"/>
                </a:solidFill>
                <a:latin typeface="Arial"/>
                <a:ea typeface="Arial"/>
                <a:cs typeface="Arial"/>
                <a:sym typeface="Arial"/>
              </a:rPr>
              <a:t>The following code displays how if-else and else-if statements work:</a:t>
            </a:r>
          </a:p>
        </p:txBody>
      </p:sp>
      <p:pic>
        <p:nvPicPr>
          <p:cNvPr id="4" name="Picture 3"/>
          <p:cNvPicPr>
            <a:picLocks noChangeAspect="1"/>
          </p:cNvPicPr>
          <p:nvPr/>
        </p:nvPicPr>
        <p:blipFill>
          <a:blip r:embed="rId4"/>
          <a:stretch>
            <a:fillRect/>
          </a:stretch>
        </p:blipFill>
        <p:spPr>
          <a:xfrm>
            <a:off x="5123181" y="3273928"/>
            <a:ext cx="2909038" cy="3497262"/>
          </a:xfrm>
          <a:prstGeom prst="rect">
            <a:avLst/>
          </a:prstGeom>
        </p:spPr>
      </p:pic>
    </p:spTree>
    <p:extLst>
      <p:ext uri="{BB962C8B-B14F-4D97-AF65-F5344CB8AC3E}">
        <p14:creationId xmlns:p14="http://schemas.microsoft.com/office/powerpoint/2010/main" val="2163794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32</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697062" y="446982"/>
            <a:ext cx="6514178" cy="572700"/>
          </a:xfrm>
          <a:prstGeom prst="rect">
            <a:avLst/>
          </a:prstGeom>
        </p:spPr>
        <p:txBody>
          <a:bodyPr spcFirstLastPara="1" wrap="square" lIns="91425" tIns="91425" rIns="91425" bIns="91425" anchor="t" anchorCtr="0">
            <a:noAutofit/>
          </a:bodyPr>
          <a:lstStyle/>
          <a:p>
            <a:pPr lvl="0">
              <a:spcBef>
                <a:spcPts val="0"/>
              </a:spcBef>
            </a:pPr>
            <a:r>
              <a:rPr lang="en" dirty="0">
                <a:solidFill>
                  <a:srgbClr val="1E9E78"/>
                </a:solidFill>
              </a:rPr>
              <a:t>If logic</a:t>
            </a:r>
            <a:r>
              <a:rPr lang="en" dirty="0"/>
              <a:t> Statement</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9" name="TextBox 8"/>
          <p:cNvSpPr txBox="1"/>
          <p:nvPr/>
        </p:nvSpPr>
        <p:spPr>
          <a:xfrm>
            <a:off x="668730" y="1019682"/>
            <a:ext cx="8908903" cy="2306785"/>
          </a:xfrm>
          <a:prstGeom prst="rect">
            <a:avLst/>
          </a:prstGeom>
          <a:noFill/>
        </p:spPr>
        <p:txBody>
          <a:bodyPr wrap="square" rtlCol="0">
            <a:spAutoFit/>
          </a:bodyPr>
          <a:lstStyle/>
          <a:p>
            <a:pPr marR="163195" lvl="0">
              <a:lnSpc>
                <a:spcPct val="115000"/>
              </a:lnSpc>
              <a:spcBef>
                <a:spcPts val="1000"/>
              </a:spcBef>
            </a:pPr>
            <a:r>
              <a:rPr lang="en-US" sz="1600" b="1" dirty="0">
                <a:solidFill>
                  <a:srgbClr val="2B3050"/>
                </a:solidFill>
                <a:latin typeface="Arial"/>
                <a:ea typeface="Arial"/>
                <a:cs typeface="Arial"/>
                <a:sym typeface="Arial"/>
              </a:rPr>
              <a:t>IF Else and Logical Operators</a:t>
            </a:r>
          </a:p>
          <a:p>
            <a:pPr marR="163195" lvl="0">
              <a:lnSpc>
                <a:spcPct val="115000"/>
              </a:lnSpc>
              <a:spcBef>
                <a:spcPts val="1000"/>
              </a:spcBef>
            </a:pPr>
            <a:r>
              <a:rPr lang="en-US" sz="1600" dirty="0">
                <a:solidFill>
                  <a:srgbClr val="2B3050"/>
                </a:solidFill>
                <a:latin typeface="Arial"/>
                <a:ea typeface="Arial"/>
                <a:cs typeface="Arial"/>
                <a:sym typeface="Arial"/>
              </a:rPr>
              <a:t>Logical operators like </a:t>
            </a:r>
            <a:r>
              <a:rPr lang="en-US" sz="1600" b="1" dirty="0">
                <a:solidFill>
                  <a:srgbClr val="2B3050"/>
                </a:solidFill>
                <a:latin typeface="Arial"/>
                <a:ea typeface="Arial"/>
                <a:cs typeface="Arial"/>
                <a:sym typeface="Arial"/>
              </a:rPr>
              <a:t>AND "&amp;&amp;" and OR "| |"</a:t>
            </a:r>
            <a:r>
              <a:rPr lang="en-US" sz="1600" dirty="0">
                <a:solidFill>
                  <a:srgbClr val="2B3050"/>
                </a:solidFill>
                <a:latin typeface="Arial"/>
                <a:ea typeface="Arial"/>
                <a:cs typeface="Arial"/>
                <a:sym typeface="Arial"/>
              </a:rPr>
              <a:t> may be utilized within if-else statements. If you have two conditions (i.e. multiple Boolean expressions) which must be true or one of them is enough to make the statement true respectively, logical operators "if" statement may be used to test more than one condition at the same time.</a:t>
            </a:r>
          </a:p>
          <a:p>
            <a:pPr marR="163195" lvl="0">
              <a:lnSpc>
                <a:spcPct val="115000"/>
              </a:lnSpc>
              <a:spcBef>
                <a:spcPts val="1000"/>
              </a:spcBef>
            </a:pPr>
            <a:r>
              <a:rPr lang="en-US" sz="1600" dirty="0">
                <a:solidFill>
                  <a:srgbClr val="2B3050"/>
                </a:solidFill>
                <a:latin typeface="Arial"/>
                <a:ea typeface="Arial"/>
                <a:cs typeface="Arial"/>
                <a:sym typeface="Arial"/>
              </a:rPr>
              <a:t>The following table displays the </a:t>
            </a:r>
            <a:r>
              <a:rPr lang="en-US" sz="1600" b="1" dirty="0">
                <a:solidFill>
                  <a:srgbClr val="2B3050"/>
                </a:solidFill>
                <a:latin typeface="Arial"/>
                <a:ea typeface="Arial"/>
                <a:cs typeface="Arial"/>
                <a:sym typeface="Arial"/>
              </a:rPr>
              <a:t>| | (OR)</a:t>
            </a:r>
            <a:r>
              <a:rPr lang="en-US" sz="1600" dirty="0">
                <a:solidFill>
                  <a:srgbClr val="2B3050"/>
                </a:solidFill>
                <a:latin typeface="Arial"/>
                <a:ea typeface="Arial"/>
                <a:cs typeface="Arial"/>
                <a:sym typeface="Arial"/>
              </a:rPr>
              <a:t> operator results </a:t>
            </a:r>
            <a:r>
              <a:rPr lang="en-US" sz="1600" b="1" dirty="0">
                <a:solidFill>
                  <a:srgbClr val="2B3050"/>
                </a:solidFill>
                <a:latin typeface="Arial"/>
                <a:ea typeface="Arial"/>
                <a:cs typeface="Arial"/>
                <a:sym typeface="Arial"/>
              </a:rPr>
              <a:t>(true or false)</a:t>
            </a:r>
            <a:r>
              <a:rPr lang="en-US" sz="1600" dirty="0">
                <a:solidFill>
                  <a:srgbClr val="2B3050"/>
                </a:solidFill>
                <a:latin typeface="Arial"/>
                <a:ea typeface="Arial"/>
                <a:cs typeface="Arial"/>
                <a:sym typeface="Arial"/>
              </a:rPr>
              <a:t> of the two Boolean expressions. These results will be considered by the "if" statement:</a:t>
            </a:r>
          </a:p>
        </p:txBody>
      </p:sp>
      <p:graphicFrame>
        <p:nvGraphicFramePr>
          <p:cNvPr id="10" name="Google Shape;516;p63"/>
          <p:cNvGraphicFramePr/>
          <p:nvPr>
            <p:extLst>
              <p:ext uri="{D42A27DB-BD31-4B8C-83A1-F6EECF244321}">
                <p14:modId xmlns:p14="http://schemas.microsoft.com/office/powerpoint/2010/main" val="3407979273"/>
              </p:ext>
            </p:extLst>
          </p:nvPr>
        </p:nvGraphicFramePr>
        <p:xfrm>
          <a:off x="1586358" y="3720596"/>
          <a:ext cx="7073646" cy="2297432"/>
        </p:xfrm>
        <a:graphic>
          <a:graphicData uri="http://schemas.openxmlformats.org/drawingml/2006/table">
            <a:tbl>
              <a:tblPr>
                <a:noFill/>
              </a:tblPr>
              <a:tblGrid>
                <a:gridCol w="2357882">
                  <a:extLst>
                    <a:ext uri="{9D8B030D-6E8A-4147-A177-3AD203B41FA5}">
                      <a16:colId xmlns:a16="http://schemas.microsoft.com/office/drawing/2014/main" val="20000"/>
                    </a:ext>
                  </a:extLst>
                </a:gridCol>
                <a:gridCol w="2357882">
                  <a:extLst>
                    <a:ext uri="{9D8B030D-6E8A-4147-A177-3AD203B41FA5}">
                      <a16:colId xmlns:a16="http://schemas.microsoft.com/office/drawing/2014/main" val="20001"/>
                    </a:ext>
                  </a:extLst>
                </a:gridCol>
                <a:gridCol w="2357882">
                  <a:extLst>
                    <a:ext uri="{9D8B030D-6E8A-4147-A177-3AD203B41FA5}">
                      <a16:colId xmlns:a16="http://schemas.microsoft.com/office/drawing/2014/main" val="20002"/>
                    </a:ext>
                  </a:extLst>
                </a:gridCol>
              </a:tblGrid>
              <a:tr h="993476">
                <a:tc>
                  <a:txBody>
                    <a:bodyPr/>
                    <a:lstStyle/>
                    <a:p>
                      <a:pPr marL="0" marR="0" lvl="0" indent="0" algn="ctr" rtl="0">
                        <a:lnSpc>
                          <a:spcPct val="100000"/>
                        </a:lnSpc>
                        <a:spcBef>
                          <a:spcPts val="0"/>
                        </a:spcBef>
                        <a:spcAft>
                          <a:spcPts val="0"/>
                        </a:spcAft>
                        <a:buNone/>
                      </a:pPr>
                      <a:r>
                        <a:rPr lang="en" sz="1600" u="none" strike="noStrike" cap="none">
                          <a:latin typeface="Arial"/>
                          <a:ea typeface="Arial"/>
                          <a:cs typeface="Arial"/>
                          <a:sym typeface="Arial"/>
                        </a:rPr>
                        <a:t>Boolean Expressions (Condition):</a:t>
                      </a:r>
                      <a:endParaRPr sz="1600" u="none" strike="noStrike" cap="none">
                        <a:latin typeface="Arial"/>
                        <a:ea typeface="Arial"/>
                        <a:cs typeface="Arial"/>
                        <a:sym typeface="Arial"/>
                      </a:endParaRPr>
                    </a:p>
                    <a:p>
                      <a:pPr marL="0" marR="0" lvl="0" indent="0" algn="ctr" rtl="0">
                        <a:lnSpc>
                          <a:spcPct val="100000"/>
                        </a:lnSpc>
                        <a:spcBef>
                          <a:spcPts val="1000"/>
                        </a:spcBef>
                        <a:spcAft>
                          <a:spcPts val="0"/>
                        </a:spcAft>
                        <a:buNone/>
                      </a:pPr>
                      <a:r>
                        <a:rPr lang="en" sz="1600" u="none" strike="noStrike" cap="none">
                          <a:latin typeface="Arial"/>
                          <a:ea typeface="Arial"/>
                          <a:cs typeface="Arial"/>
                          <a:sym typeface="Arial"/>
                        </a:rPr>
                        <a:t>A</a:t>
                      </a:r>
                      <a:endParaRPr sz="16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600" u="none" strike="noStrike" cap="none" dirty="0">
                          <a:latin typeface="Arial"/>
                          <a:ea typeface="Arial"/>
                          <a:cs typeface="Arial"/>
                          <a:sym typeface="Arial"/>
                        </a:rPr>
                        <a:t>Boolean Expressions (Condition):</a:t>
                      </a:r>
                      <a:endParaRPr sz="1600" u="none" strike="noStrike" cap="none" dirty="0">
                        <a:latin typeface="Arial"/>
                        <a:ea typeface="Arial"/>
                        <a:cs typeface="Arial"/>
                        <a:sym typeface="Arial"/>
                      </a:endParaRPr>
                    </a:p>
                    <a:p>
                      <a:pPr marL="0" marR="0" lvl="0" indent="0" algn="ctr" rtl="0">
                        <a:lnSpc>
                          <a:spcPct val="100000"/>
                        </a:lnSpc>
                        <a:spcBef>
                          <a:spcPts val="940"/>
                        </a:spcBef>
                        <a:spcAft>
                          <a:spcPts val="0"/>
                        </a:spcAft>
                        <a:buNone/>
                      </a:pPr>
                      <a:r>
                        <a:rPr lang="en" sz="1600" u="none" strike="noStrike" cap="none" dirty="0">
                          <a:latin typeface="Arial"/>
                          <a:ea typeface="Arial"/>
                          <a:cs typeface="Arial"/>
                          <a:sym typeface="Arial"/>
                        </a:rPr>
                        <a:t>B</a:t>
                      </a:r>
                      <a:endParaRPr sz="16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600" u="none" strike="noStrike" cap="none">
                          <a:latin typeface="Arial"/>
                          <a:ea typeface="Arial"/>
                          <a:cs typeface="Arial"/>
                          <a:sym typeface="Arial"/>
                        </a:rPr>
                        <a:t>A || B</a:t>
                      </a:r>
                      <a:endParaRPr sz="16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0"/>
                  </a:ext>
                </a:extLst>
              </a:tr>
              <a:tr h="325989">
                <a:tc>
                  <a:txBody>
                    <a:bodyPr/>
                    <a:lstStyle/>
                    <a:p>
                      <a:pPr marL="0" marR="0" lvl="0" indent="0" algn="ctr" rtl="0">
                        <a:lnSpc>
                          <a:spcPct val="100000"/>
                        </a:lnSpc>
                        <a:spcBef>
                          <a:spcPts val="0"/>
                        </a:spcBef>
                        <a:spcAft>
                          <a:spcPts val="0"/>
                        </a:spcAft>
                        <a:buNone/>
                      </a:pPr>
                      <a:r>
                        <a:rPr lang="en" sz="1600" u="none" strike="noStrike" cap="none">
                          <a:latin typeface="Arial"/>
                          <a:ea typeface="Arial"/>
                          <a:cs typeface="Arial"/>
                          <a:sym typeface="Arial"/>
                        </a:rPr>
                        <a:t>True</a:t>
                      </a:r>
                      <a:endParaRPr sz="16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600" u="none" strike="noStrike" cap="none">
                          <a:latin typeface="Arial"/>
                          <a:ea typeface="Arial"/>
                          <a:cs typeface="Arial"/>
                          <a:sym typeface="Arial"/>
                        </a:rPr>
                        <a:t>True</a:t>
                      </a:r>
                      <a:endParaRPr sz="16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600" u="none" strike="noStrike" cap="none">
                          <a:latin typeface="Arial"/>
                          <a:ea typeface="Arial"/>
                          <a:cs typeface="Arial"/>
                          <a:sym typeface="Arial"/>
                        </a:rPr>
                        <a:t>True</a:t>
                      </a:r>
                      <a:endParaRPr sz="16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1"/>
                  </a:ext>
                </a:extLst>
              </a:tr>
              <a:tr h="325989">
                <a:tc>
                  <a:txBody>
                    <a:bodyPr/>
                    <a:lstStyle/>
                    <a:p>
                      <a:pPr marL="0" marR="0" lvl="0" indent="0" algn="ctr" rtl="0">
                        <a:lnSpc>
                          <a:spcPct val="100000"/>
                        </a:lnSpc>
                        <a:spcBef>
                          <a:spcPts val="0"/>
                        </a:spcBef>
                        <a:spcAft>
                          <a:spcPts val="0"/>
                        </a:spcAft>
                        <a:buNone/>
                      </a:pPr>
                      <a:r>
                        <a:rPr lang="en" sz="1600" u="none" strike="noStrike" cap="none">
                          <a:latin typeface="Arial"/>
                          <a:ea typeface="Arial"/>
                          <a:cs typeface="Arial"/>
                          <a:sym typeface="Arial"/>
                        </a:rPr>
                        <a:t>True</a:t>
                      </a:r>
                      <a:endParaRPr sz="16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600" u="none" strike="noStrike" cap="none" dirty="0">
                          <a:latin typeface="Arial"/>
                          <a:ea typeface="Arial"/>
                          <a:cs typeface="Arial"/>
                          <a:sym typeface="Arial"/>
                        </a:rPr>
                        <a:t>False</a:t>
                      </a:r>
                      <a:endParaRPr sz="16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600" u="none" strike="noStrike" cap="none">
                          <a:latin typeface="Arial"/>
                          <a:ea typeface="Arial"/>
                          <a:cs typeface="Arial"/>
                          <a:sym typeface="Arial"/>
                        </a:rPr>
                        <a:t>True</a:t>
                      </a:r>
                      <a:endParaRPr sz="16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2"/>
                  </a:ext>
                </a:extLst>
              </a:tr>
              <a:tr h="325989">
                <a:tc>
                  <a:txBody>
                    <a:bodyPr/>
                    <a:lstStyle/>
                    <a:p>
                      <a:pPr marL="0" marR="0" lvl="0" indent="0" algn="ctr" rtl="0">
                        <a:lnSpc>
                          <a:spcPct val="100000"/>
                        </a:lnSpc>
                        <a:spcBef>
                          <a:spcPts val="0"/>
                        </a:spcBef>
                        <a:spcAft>
                          <a:spcPts val="0"/>
                        </a:spcAft>
                        <a:buNone/>
                      </a:pPr>
                      <a:r>
                        <a:rPr lang="en" sz="1600" u="none" strike="noStrike" cap="none">
                          <a:latin typeface="Arial"/>
                          <a:ea typeface="Arial"/>
                          <a:cs typeface="Arial"/>
                          <a:sym typeface="Arial"/>
                        </a:rPr>
                        <a:t>False</a:t>
                      </a:r>
                      <a:endParaRPr sz="16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600" u="none" strike="noStrike" cap="none">
                          <a:latin typeface="Arial"/>
                          <a:ea typeface="Arial"/>
                          <a:cs typeface="Arial"/>
                          <a:sym typeface="Arial"/>
                        </a:rPr>
                        <a:t>True</a:t>
                      </a:r>
                      <a:endParaRPr sz="16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600" u="none" strike="noStrike" cap="none">
                          <a:latin typeface="Arial"/>
                          <a:ea typeface="Arial"/>
                          <a:cs typeface="Arial"/>
                          <a:sym typeface="Arial"/>
                        </a:rPr>
                        <a:t>True</a:t>
                      </a:r>
                      <a:endParaRPr sz="16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3"/>
                  </a:ext>
                </a:extLst>
              </a:tr>
              <a:tr h="325989">
                <a:tc>
                  <a:txBody>
                    <a:bodyPr/>
                    <a:lstStyle/>
                    <a:p>
                      <a:pPr marL="0" marR="0" lvl="0" indent="0" algn="ctr" rtl="0">
                        <a:lnSpc>
                          <a:spcPct val="100000"/>
                        </a:lnSpc>
                        <a:spcBef>
                          <a:spcPts val="0"/>
                        </a:spcBef>
                        <a:spcAft>
                          <a:spcPts val="0"/>
                        </a:spcAft>
                        <a:buNone/>
                      </a:pPr>
                      <a:r>
                        <a:rPr lang="en" sz="1600" u="none" strike="noStrike" cap="none">
                          <a:latin typeface="Arial"/>
                          <a:ea typeface="Arial"/>
                          <a:cs typeface="Arial"/>
                          <a:sym typeface="Arial"/>
                        </a:rPr>
                        <a:t>False</a:t>
                      </a:r>
                      <a:endParaRPr sz="16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600" u="none" strike="noStrike" cap="none">
                          <a:latin typeface="Arial"/>
                          <a:ea typeface="Arial"/>
                          <a:cs typeface="Arial"/>
                          <a:sym typeface="Arial"/>
                        </a:rPr>
                        <a:t>False</a:t>
                      </a:r>
                      <a:endParaRPr sz="16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600" u="none" strike="noStrike" cap="none" dirty="0">
                          <a:latin typeface="Arial"/>
                          <a:ea typeface="Arial"/>
                          <a:cs typeface="Arial"/>
                          <a:sym typeface="Arial"/>
                        </a:rPr>
                        <a:t>False</a:t>
                      </a:r>
                      <a:endParaRPr sz="16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244719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33</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697062" y="446982"/>
            <a:ext cx="6514178" cy="572700"/>
          </a:xfrm>
          <a:prstGeom prst="rect">
            <a:avLst/>
          </a:prstGeom>
        </p:spPr>
        <p:txBody>
          <a:bodyPr spcFirstLastPara="1" wrap="square" lIns="91425" tIns="91425" rIns="91425" bIns="91425" anchor="t" anchorCtr="0">
            <a:noAutofit/>
          </a:bodyPr>
          <a:lstStyle/>
          <a:p>
            <a:pPr lvl="0">
              <a:spcBef>
                <a:spcPts val="0"/>
              </a:spcBef>
            </a:pPr>
            <a:r>
              <a:rPr lang="en" dirty="0">
                <a:solidFill>
                  <a:srgbClr val="1E9E78"/>
                </a:solidFill>
              </a:rPr>
              <a:t>If</a:t>
            </a:r>
            <a:r>
              <a:rPr lang="en" dirty="0"/>
              <a:t> </a:t>
            </a:r>
            <a:r>
              <a:rPr lang="en" dirty="0">
                <a:solidFill>
                  <a:srgbClr val="1E9E78"/>
                </a:solidFill>
              </a:rPr>
              <a:t>logic</a:t>
            </a:r>
            <a:r>
              <a:rPr lang="en" dirty="0"/>
              <a:t> Statement</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9" name="TextBox 8"/>
          <p:cNvSpPr txBox="1"/>
          <p:nvPr/>
        </p:nvSpPr>
        <p:spPr>
          <a:xfrm>
            <a:off x="668728" y="1387039"/>
            <a:ext cx="8908903" cy="1045927"/>
          </a:xfrm>
          <a:prstGeom prst="rect">
            <a:avLst/>
          </a:prstGeom>
          <a:noFill/>
        </p:spPr>
        <p:txBody>
          <a:bodyPr wrap="square" rtlCol="0">
            <a:spAutoFit/>
          </a:bodyPr>
          <a:lstStyle/>
          <a:p>
            <a:pPr marR="163195" lvl="0">
              <a:lnSpc>
                <a:spcPct val="115000"/>
              </a:lnSpc>
              <a:spcBef>
                <a:spcPts val="1000"/>
              </a:spcBef>
            </a:pPr>
            <a:r>
              <a:rPr lang="en-US" sz="1600" b="1" dirty="0">
                <a:solidFill>
                  <a:srgbClr val="2B3050"/>
                </a:solidFill>
                <a:latin typeface="Arial"/>
                <a:ea typeface="Arial"/>
                <a:cs typeface="Arial"/>
                <a:sym typeface="Arial"/>
              </a:rPr>
              <a:t>IF Else and Logical Operators</a:t>
            </a:r>
          </a:p>
          <a:p>
            <a:pPr marR="163195" lvl="0">
              <a:lnSpc>
                <a:spcPct val="115000"/>
              </a:lnSpc>
              <a:spcBef>
                <a:spcPts val="1000"/>
              </a:spcBef>
            </a:pPr>
            <a:r>
              <a:rPr lang="en-US" sz="1600" dirty="0">
                <a:solidFill>
                  <a:srgbClr val="2B3050"/>
                </a:solidFill>
                <a:latin typeface="Arial"/>
                <a:ea typeface="Arial"/>
                <a:cs typeface="Arial"/>
                <a:sym typeface="Arial"/>
              </a:rPr>
              <a:t>The following table displays the use of "&amp;&amp;" (AND) logical operator to guarantee that the two conditions are true:</a:t>
            </a:r>
          </a:p>
        </p:txBody>
      </p:sp>
      <p:graphicFrame>
        <p:nvGraphicFramePr>
          <p:cNvPr id="11" name="Google Shape;524;p64"/>
          <p:cNvGraphicFramePr/>
          <p:nvPr>
            <p:extLst>
              <p:ext uri="{D42A27DB-BD31-4B8C-83A1-F6EECF244321}">
                <p14:modId xmlns:p14="http://schemas.microsoft.com/office/powerpoint/2010/main" val="1670800682"/>
              </p:ext>
            </p:extLst>
          </p:nvPr>
        </p:nvGraphicFramePr>
        <p:xfrm>
          <a:off x="1501297" y="2844941"/>
          <a:ext cx="7243767" cy="3151821"/>
        </p:xfrm>
        <a:graphic>
          <a:graphicData uri="http://schemas.openxmlformats.org/drawingml/2006/table">
            <a:tbl>
              <a:tblPr>
                <a:noFill/>
              </a:tblPr>
              <a:tblGrid>
                <a:gridCol w="2414589">
                  <a:extLst>
                    <a:ext uri="{9D8B030D-6E8A-4147-A177-3AD203B41FA5}">
                      <a16:colId xmlns:a16="http://schemas.microsoft.com/office/drawing/2014/main" val="20000"/>
                    </a:ext>
                  </a:extLst>
                </a:gridCol>
                <a:gridCol w="2414589">
                  <a:extLst>
                    <a:ext uri="{9D8B030D-6E8A-4147-A177-3AD203B41FA5}">
                      <a16:colId xmlns:a16="http://schemas.microsoft.com/office/drawing/2014/main" val="20001"/>
                    </a:ext>
                  </a:extLst>
                </a:gridCol>
                <a:gridCol w="2414589">
                  <a:extLst>
                    <a:ext uri="{9D8B030D-6E8A-4147-A177-3AD203B41FA5}">
                      <a16:colId xmlns:a16="http://schemas.microsoft.com/office/drawing/2014/main" val="20002"/>
                    </a:ext>
                  </a:extLst>
                </a:gridCol>
              </a:tblGrid>
              <a:tr h="1547945">
                <a:tc>
                  <a:txBody>
                    <a:bodyPr/>
                    <a:lstStyle/>
                    <a:p>
                      <a:pPr marL="0" marR="0" lvl="0" indent="0" algn="ctr" rtl="0">
                        <a:lnSpc>
                          <a:spcPct val="100000"/>
                        </a:lnSpc>
                        <a:spcBef>
                          <a:spcPts val="0"/>
                        </a:spcBef>
                        <a:spcAft>
                          <a:spcPts val="0"/>
                        </a:spcAft>
                        <a:buNone/>
                      </a:pPr>
                      <a:r>
                        <a:rPr lang="en" sz="1800" u="none" strike="noStrike" cap="none">
                          <a:latin typeface="Arial"/>
                          <a:ea typeface="Arial"/>
                          <a:cs typeface="Arial"/>
                          <a:sym typeface="Arial"/>
                        </a:rPr>
                        <a:t>Boolean Expressions (Condition):</a:t>
                      </a:r>
                      <a:endParaRPr sz="1800" u="none" strike="noStrike" cap="none">
                        <a:latin typeface="Arial"/>
                        <a:ea typeface="Arial"/>
                        <a:cs typeface="Arial"/>
                        <a:sym typeface="Arial"/>
                      </a:endParaRPr>
                    </a:p>
                    <a:p>
                      <a:pPr marL="0" marR="0" lvl="0" indent="0" algn="ctr" rtl="0">
                        <a:lnSpc>
                          <a:spcPct val="100000"/>
                        </a:lnSpc>
                        <a:spcBef>
                          <a:spcPts val="1000"/>
                        </a:spcBef>
                        <a:spcAft>
                          <a:spcPts val="0"/>
                        </a:spcAft>
                        <a:buNone/>
                      </a:pPr>
                      <a:r>
                        <a:rPr lang="en" sz="1800" u="none" strike="noStrike" cap="none">
                          <a:latin typeface="Arial"/>
                          <a:ea typeface="Arial"/>
                          <a:cs typeface="Arial"/>
                          <a:sym typeface="Arial"/>
                        </a:rPr>
                        <a:t>A</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u="none" strike="noStrike" cap="none" dirty="0">
                          <a:latin typeface="Arial"/>
                          <a:ea typeface="Arial"/>
                          <a:cs typeface="Arial"/>
                          <a:sym typeface="Arial"/>
                        </a:rPr>
                        <a:t>Boolean Expressions (Condition):</a:t>
                      </a:r>
                      <a:endParaRPr sz="1800" u="none" strike="noStrike" cap="none" dirty="0">
                        <a:latin typeface="Arial"/>
                        <a:ea typeface="Arial"/>
                        <a:cs typeface="Arial"/>
                        <a:sym typeface="Arial"/>
                      </a:endParaRPr>
                    </a:p>
                    <a:p>
                      <a:pPr marL="0" marR="0" lvl="0" indent="0" algn="ctr" rtl="0">
                        <a:lnSpc>
                          <a:spcPct val="100000"/>
                        </a:lnSpc>
                        <a:spcBef>
                          <a:spcPts val="940"/>
                        </a:spcBef>
                        <a:spcAft>
                          <a:spcPts val="0"/>
                        </a:spcAft>
                        <a:buNone/>
                      </a:pPr>
                      <a:r>
                        <a:rPr lang="en" sz="1800" u="none" strike="noStrike" cap="none" dirty="0">
                          <a:latin typeface="Arial"/>
                          <a:ea typeface="Arial"/>
                          <a:cs typeface="Arial"/>
                          <a:sym typeface="Arial"/>
                        </a:rPr>
                        <a:t>B</a:t>
                      </a:r>
                      <a:endParaRPr sz="18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u="none" strike="noStrike" cap="none" dirty="0">
                          <a:latin typeface="Arial"/>
                          <a:ea typeface="Arial"/>
                          <a:cs typeface="Arial"/>
                          <a:sym typeface="Arial"/>
                        </a:rPr>
                        <a:t>A &amp;&amp;B</a:t>
                      </a:r>
                      <a:endParaRPr sz="18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0"/>
                  </a:ext>
                </a:extLst>
              </a:tr>
              <a:tr h="400969">
                <a:tc>
                  <a:txBody>
                    <a:bodyPr/>
                    <a:lstStyle/>
                    <a:p>
                      <a:pPr marL="0" marR="0" lvl="0" indent="0" algn="ctr" rtl="0">
                        <a:lnSpc>
                          <a:spcPct val="100000"/>
                        </a:lnSpc>
                        <a:spcBef>
                          <a:spcPts val="0"/>
                        </a:spcBef>
                        <a:spcAft>
                          <a:spcPts val="0"/>
                        </a:spcAft>
                        <a:buNone/>
                      </a:pPr>
                      <a:r>
                        <a:rPr lang="en" sz="1800" u="none" strike="noStrike" cap="none" dirty="0">
                          <a:latin typeface="Arial"/>
                          <a:ea typeface="Arial"/>
                          <a:cs typeface="Arial"/>
                          <a:sym typeface="Arial"/>
                        </a:rPr>
                        <a:t>True</a:t>
                      </a:r>
                      <a:endParaRPr sz="18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u="none" strike="noStrike" cap="none">
                          <a:latin typeface="Arial"/>
                          <a:ea typeface="Arial"/>
                          <a:cs typeface="Arial"/>
                          <a:sym typeface="Arial"/>
                        </a:rPr>
                        <a:t>True</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u="none" strike="noStrike" cap="none">
                          <a:latin typeface="Arial"/>
                          <a:ea typeface="Arial"/>
                          <a:cs typeface="Arial"/>
                          <a:sym typeface="Arial"/>
                        </a:rPr>
                        <a:t>True</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1"/>
                  </a:ext>
                </a:extLst>
              </a:tr>
              <a:tr h="400969">
                <a:tc>
                  <a:txBody>
                    <a:bodyPr/>
                    <a:lstStyle/>
                    <a:p>
                      <a:pPr marL="0" marR="0" lvl="0" indent="0" algn="ctr" rtl="0">
                        <a:lnSpc>
                          <a:spcPct val="100000"/>
                        </a:lnSpc>
                        <a:spcBef>
                          <a:spcPts val="0"/>
                        </a:spcBef>
                        <a:spcAft>
                          <a:spcPts val="0"/>
                        </a:spcAft>
                        <a:buNone/>
                      </a:pPr>
                      <a:r>
                        <a:rPr lang="en" sz="1800" u="none" strike="noStrike" cap="none">
                          <a:latin typeface="Arial"/>
                          <a:ea typeface="Arial"/>
                          <a:cs typeface="Arial"/>
                          <a:sym typeface="Arial"/>
                        </a:rPr>
                        <a:t>True</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u="none" strike="noStrike" cap="none">
                          <a:latin typeface="Arial"/>
                          <a:ea typeface="Arial"/>
                          <a:cs typeface="Arial"/>
                          <a:sym typeface="Arial"/>
                        </a:rPr>
                        <a:t>False</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u="none" strike="noStrike" cap="none">
                          <a:latin typeface="Arial"/>
                          <a:ea typeface="Arial"/>
                          <a:cs typeface="Arial"/>
                          <a:sym typeface="Arial"/>
                        </a:rPr>
                        <a:t>False</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2"/>
                  </a:ext>
                </a:extLst>
              </a:tr>
              <a:tr h="400969">
                <a:tc>
                  <a:txBody>
                    <a:bodyPr/>
                    <a:lstStyle/>
                    <a:p>
                      <a:pPr marL="0" marR="0" lvl="0" indent="0" algn="ctr" rtl="0">
                        <a:lnSpc>
                          <a:spcPct val="100000"/>
                        </a:lnSpc>
                        <a:spcBef>
                          <a:spcPts val="0"/>
                        </a:spcBef>
                        <a:spcAft>
                          <a:spcPts val="0"/>
                        </a:spcAft>
                        <a:buNone/>
                      </a:pPr>
                      <a:r>
                        <a:rPr lang="en" sz="1800" u="none" strike="noStrike" cap="none">
                          <a:latin typeface="Arial"/>
                          <a:ea typeface="Arial"/>
                          <a:cs typeface="Arial"/>
                          <a:sym typeface="Arial"/>
                        </a:rPr>
                        <a:t>False</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u="none" strike="noStrike" cap="none">
                          <a:latin typeface="Arial"/>
                          <a:ea typeface="Arial"/>
                          <a:cs typeface="Arial"/>
                          <a:sym typeface="Arial"/>
                        </a:rPr>
                        <a:t>True</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u="none" strike="noStrike" cap="none">
                          <a:latin typeface="Arial"/>
                          <a:ea typeface="Arial"/>
                          <a:cs typeface="Arial"/>
                          <a:sym typeface="Arial"/>
                        </a:rPr>
                        <a:t>False</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3"/>
                  </a:ext>
                </a:extLst>
              </a:tr>
              <a:tr h="400969">
                <a:tc>
                  <a:txBody>
                    <a:bodyPr/>
                    <a:lstStyle/>
                    <a:p>
                      <a:pPr marL="0" marR="0" lvl="0" indent="0" algn="ctr" rtl="0">
                        <a:lnSpc>
                          <a:spcPct val="100000"/>
                        </a:lnSpc>
                        <a:spcBef>
                          <a:spcPts val="0"/>
                        </a:spcBef>
                        <a:spcAft>
                          <a:spcPts val="0"/>
                        </a:spcAft>
                        <a:buNone/>
                      </a:pPr>
                      <a:r>
                        <a:rPr lang="en" sz="1800" u="none" strike="noStrike" cap="none">
                          <a:latin typeface="Arial"/>
                          <a:ea typeface="Arial"/>
                          <a:cs typeface="Arial"/>
                          <a:sym typeface="Arial"/>
                        </a:rPr>
                        <a:t>False</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u="none" strike="noStrike" cap="none">
                          <a:latin typeface="Arial"/>
                          <a:ea typeface="Arial"/>
                          <a:cs typeface="Arial"/>
                          <a:sym typeface="Arial"/>
                        </a:rPr>
                        <a:t>False</a:t>
                      </a:r>
                      <a:endParaRPr sz="1800" u="none" strike="noStrike" cap="none">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u="none" strike="noStrike" cap="none" dirty="0">
                          <a:latin typeface="Arial"/>
                          <a:ea typeface="Arial"/>
                          <a:cs typeface="Arial"/>
                          <a:sym typeface="Arial"/>
                        </a:rPr>
                        <a:t>False</a:t>
                      </a:r>
                      <a:endParaRPr sz="1800" u="none" strike="noStrike" cap="none" dirty="0">
                        <a:latin typeface="Arial"/>
                        <a:ea typeface="Arial"/>
                        <a:cs typeface="Arial"/>
                        <a:sym typeface="Arial"/>
                      </a:endParaRPr>
                    </a:p>
                  </a:txBody>
                  <a:tcPr marL="0" marR="0" marT="57775" marB="0">
                    <a:lnL w="9525" cap="flat" cmpd="sng">
                      <a:solidFill>
                        <a:srgbClr val="22264A"/>
                      </a:solidFill>
                      <a:prstDash val="solid"/>
                      <a:round/>
                      <a:headEnd type="none" w="sm" len="sm"/>
                      <a:tailEnd type="none" w="sm" len="sm"/>
                    </a:lnL>
                    <a:lnR w="9525" cap="flat" cmpd="sng">
                      <a:solidFill>
                        <a:srgbClr val="22264A"/>
                      </a:solidFill>
                      <a:prstDash val="solid"/>
                      <a:round/>
                      <a:headEnd type="none" w="sm" len="sm"/>
                      <a:tailEnd type="none" w="sm" len="sm"/>
                    </a:lnR>
                    <a:lnT w="9525" cap="flat" cmpd="sng">
                      <a:solidFill>
                        <a:srgbClr val="22264A"/>
                      </a:solidFill>
                      <a:prstDash val="solid"/>
                      <a:round/>
                      <a:headEnd type="none" w="sm" len="sm"/>
                      <a:tailEnd type="none" w="sm" len="sm"/>
                    </a:lnT>
                    <a:lnB w="9525" cap="flat" cmpd="sng">
                      <a:solidFill>
                        <a:srgbClr val="22264A"/>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717197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34</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697062" y="446982"/>
            <a:ext cx="6514178" cy="572700"/>
          </a:xfrm>
          <a:prstGeom prst="rect">
            <a:avLst/>
          </a:prstGeom>
        </p:spPr>
        <p:txBody>
          <a:bodyPr spcFirstLastPara="1" wrap="square" lIns="91425" tIns="91425" rIns="91425" bIns="91425" anchor="t" anchorCtr="0">
            <a:noAutofit/>
          </a:bodyPr>
          <a:lstStyle/>
          <a:p>
            <a:pPr lvl="0">
              <a:spcBef>
                <a:spcPts val="0"/>
              </a:spcBef>
            </a:pPr>
            <a:r>
              <a:rPr lang="en" dirty="0">
                <a:solidFill>
                  <a:srgbClr val="1E9E78"/>
                </a:solidFill>
              </a:rPr>
              <a:t>For Loops</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9" name="TextBox 8"/>
          <p:cNvSpPr txBox="1"/>
          <p:nvPr/>
        </p:nvSpPr>
        <p:spPr>
          <a:xfrm>
            <a:off x="668728" y="1387039"/>
            <a:ext cx="8908903" cy="1045927"/>
          </a:xfrm>
          <a:prstGeom prst="rect">
            <a:avLst/>
          </a:prstGeom>
          <a:noFill/>
        </p:spPr>
        <p:txBody>
          <a:bodyPr wrap="square" rtlCol="0">
            <a:spAutoFit/>
          </a:bodyPr>
          <a:lstStyle/>
          <a:p>
            <a:pPr marR="163195" lvl="0">
              <a:lnSpc>
                <a:spcPct val="115000"/>
              </a:lnSpc>
              <a:spcBef>
                <a:spcPts val="1000"/>
              </a:spcBef>
            </a:pPr>
            <a:r>
              <a:rPr lang="en-US" sz="1600" dirty="0">
                <a:solidFill>
                  <a:srgbClr val="2B3050"/>
                </a:solidFill>
                <a:latin typeface="Arial"/>
                <a:ea typeface="Arial"/>
                <a:cs typeface="Arial"/>
                <a:sym typeface="Arial"/>
              </a:rPr>
              <a:t>A for statement provides a compact way to iterate over a range of values. Programmers often refer to it as the "for-loop" because it repeatedly loops until a particular condition is satisfied.</a:t>
            </a:r>
          </a:p>
          <a:p>
            <a:pPr marR="163195" lvl="0">
              <a:lnSpc>
                <a:spcPct val="115000"/>
              </a:lnSpc>
              <a:spcBef>
                <a:spcPts val="1000"/>
              </a:spcBef>
            </a:pPr>
            <a:r>
              <a:rPr lang="en-US" sz="1600" dirty="0">
                <a:solidFill>
                  <a:srgbClr val="2B3050"/>
                </a:solidFill>
                <a:latin typeface="Arial"/>
                <a:ea typeface="Arial"/>
                <a:cs typeface="Arial"/>
                <a:sym typeface="Arial"/>
              </a:rPr>
              <a:t>The following is an example of how the for-loop works:</a:t>
            </a:r>
          </a:p>
        </p:txBody>
      </p:sp>
      <p:pic>
        <p:nvPicPr>
          <p:cNvPr id="12" name="Google Shape;551;p67"/>
          <p:cNvPicPr preferRelativeResize="0"/>
          <p:nvPr/>
        </p:nvPicPr>
        <p:blipFill>
          <a:blip r:embed="rId4">
            <a:alphaModFix/>
          </a:blip>
          <a:stretch>
            <a:fillRect/>
          </a:stretch>
        </p:blipFill>
        <p:spPr>
          <a:xfrm>
            <a:off x="7143588" y="3572520"/>
            <a:ext cx="3560675" cy="834675"/>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p:cNvPicPr>
            <a:picLocks noChangeAspect="1"/>
          </p:cNvPicPr>
          <p:nvPr/>
        </p:nvPicPr>
        <p:blipFill>
          <a:blip r:embed="rId5"/>
          <a:stretch>
            <a:fillRect/>
          </a:stretch>
        </p:blipFill>
        <p:spPr>
          <a:xfrm>
            <a:off x="1391571" y="2993610"/>
            <a:ext cx="3972281" cy="3140873"/>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175192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35</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697062" y="446982"/>
            <a:ext cx="6514178" cy="572700"/>
          </a:xfrm>
          <a:prstGeom prst="rect">
            <a:avLst/>
          </a:prstGeom>
        </p:spPr>
        <p:txBody>
          <a:bodyPr spcFirstLastPara="1" wrap="square" lIns="91425" tIns="91425" rIns="91425" bIns="91425" anchor="t" anchorCtr="0">
            <a:noAutofit/>
          </a:bodyPr>
          <a:lstStyle/>
          <a:p>
            <a:pPr lvl="0">
              <a:spcBef>
                <a:spcPts val="0"/>
              </a:spcBef>
            </a:pPr>
            <a:r>
              <a:rPr lang="en" dirty="0">
                <a:solidFill>
                  <a:srgbClr val="1E9E78"/>
                </a:solidFill>
              </a:rPr>
              <a:t>WHILE Loops</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9" name="TextBox 8"/>
          <p:cNvSpPr txBox="1"/>
          <p:nvPr/>
        </p:nvSpPr>
        <p:spPr>
          <a:xfrm>
            <a:off x="668728" y="1387039"/>
            <a:ext cx="8908903" cy="2023631"/>
          </a:xfrm>
          <a:prstGeom prst="rect">
            <a:avLst/>
          </a:prstGeom>
          <a:noFill/>
        </p:spPr>
        <p:txBody>
          <a:bodyPr wrap="square" rtlCol="0">
            <a:spAutoFit/>
          </a:bodyPr>
          <a:lstStyle/>
          <a:p>
            <a:pPr marR="163195" lvl="0">
              <a:lnSpc>
                <a:spcPct val="115000"/>
              </a:lnSpc>
              <a:spcBef>
                <a:spcPts val="1000"/>
              </a:spcBef>
            </a:pPr>
            <a:r>
              <a:rPr lang="en-US" sz="1600" b="1" dirty="0">
                <a:solidFill>
                  <a:srgbClr val="2B3050"/>
                </a:solidFill>
                <a:latin typeface="Arial"/>
                <a:ea typeface="Arial"/>
                <a:cs typeface="Arial"/>
                <a:sym typeface="Arial"/>
              </a:rPr>
              <a:t>While Loops</a:t>
            </a:r>
          </a:p>
          <a:p>
            <a:pPr marR="163195" lvl="0">
              <a:lnSpc>
                <a:spcPct val="115000"/>
              </a:lnSpc>
              <a:spcBef>
                <a:spcPts val="1000"/>
              </a:spcBef>
            </a:pPr>
            <a:r>
              <a:rPr lang="en-US" sz="1600" dirty="0">
                <a:solidFill>
                  <a:srgbClr val="2B3050"/>
                </a:solidFill>
                <a:latin typeface="Arial"/>
                <a:ea typeface="Arial"/>
                <a:cs typeface="Arial"/>
                <a:sym typeface="Arial"/>
              </a:rPr>
              <a:t>A while-statement depends on a Boolean expression and its counter. If the expression proves to be true, the While statement executes the statement(s) in the While block. The while statement continues testing the expression and executing its loop until the expression is proved false.</a:t>
            </a:r>
          </a:p>
          <a:p>
            <a:pPr marR="163195" lvl="0">
              <a:lnSpc>
                <a:spcPct val="115000"/>
              </a:lnSpc>
              <a:spcBef>
                <a:spcPts val="1000"/>
              </a:spcBef>
            </a:pPr>
            <a:r>
              <a:rPr lang="en-US" sz="1600" dirty="0">
                <a:solidFill>
                  <a:srgbClr val="2B3050"/>
                </a:solidFill>
                <a:latin typeface="Arial"/>
                <a:ea typeface="Arial"/>
                <a:cs typeface="Arial"/>
                <a:sym typeface="Arial"/>
              </a:rPr>
              <a:t>The following example explains how While loops work:</a:t>
            </a:r>
          </a:p>
        </p:txBody>
      </p:sp>
      <p:pic>
        <p:nvPicPr>
          <p:cNvPr id="4" name="Picture 3"/>
          <p:cNvPicPr>
            <a:picLocks noChangeAspect="1"/>
          </p:cNvPicPr>
          <p:nvPr/>
        </p:nvPicPr>
        <p:blipFill>
          <a:blip r:embed="rId4"/>
          <a:stretch>
            <a:fillRect/>
          </a:stretch>
        </p:blipFill>
        <p:spPr>
          <a:xfrm>
            <a:off x="6862713" y="2991751"/>
            <a:ext cx="2772794" cy="3779440"/>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1633220739"/>
              </p:ext>
            </p:extLst>
          </p:nvPr>
        </p:nvGraphicFramePr>
        <p:xfrm>
          <a:off x="1158970" y="3888168"/>
          <a:ext cx="2795181" cy="2011680"/>
        </p:xfrm>
        <a:graphic>
          <a:graphicData uri="http://schemas.openxmlformats.org/drawingml/2006/table">
            <a:tbl>
              <a:tblPr firstRow="1" bandRow="1">
                <a:tableStyleId>{073A0DAA-6AF3-43AB-8588-CEC1D06C72B9}</a:tableStyleId>
              </a:tblPr>
              <a:tblGrid>
                <a:gridCol w="2795181">
                  <a:extLst>
                    <a:ext uri="{9D8B030D-6E8A-4147-A177-3AD203B41FA5}">
                      <a16:colId xmlns:a16="http://schemas.microsoft.com/office/drawing/2014/main" val="1982552968"/>
                    </a:ext>
                  </a:extLst>
                </a:gridCol>
              </a:tblGrid>
              <a:tr h="370840">
                <a:tc>
                  <a:txBody>
                    <a:bodyPr/>
                    <a:lstStyle/>
                    <a:p>
                      <a:r>
                        <a:rPr lang="en-US" sz="1800" b="0" kern="1200" dirty="0">
                          <a:solidFill>
                            <a:schemeClr val="lt1"/>
                          </a:solidFill>
                          <a:effectLst/>
                          <a:latin typeface="+mn-lt"/>
                          <a:ea typeface="+mn-ea"/>
                          <a:cs typeface="+mn-cs"/>
                        </a:rPr>
                        <a:t>main(){ </a:t>
                      </a:r>
                      <a:r>
                        <a:rPr lang="en-US" sz="1800" b="0" kern="1200" dirty="0" err="1">
                          <a:solidFill>
                            <a:schemeClr val="lt1"/>
                          </a:solidFill>
                          <a:effectLst/>
                          <a:latin typeface="+mn-lt"/>
                          <a:ea typeface="+mn-ea"/>
                          <a:cs typeface="+mn-cs"/>
                        </a:rPr>
                        <a:t>var</a:t>
                      </a:r>
                      <a:r>
                        <a:rPr lang="en-US" sz="1800" b="0" kern="1200" dirty="0">
                          <a:solidFill>
                            <a:schemeClr val="lt1"/>
                          </a:solidFill>
                          <a:effectLst/>
                          <a:latin typeface="+mn-lt"/>
                          <a:ea typeface="+mn-ea"/>
                          <a:cs typeface="+mn-cs"/>
                        </a:rPr>
                        <a:t> x=1;</a:t>
                      </a:r>
                    </a:p>
                    <a:p>
                      <a:r>
                        <a:rPr lang="en-US" sz="1800" b="0" kern="1200" dirty="0">
                          <a:solidFill>
                            <a:schemeClr val="lt1"/>
                          </a:solidFill>
                          <a:effectLst/>
                          <a:latin typeface="+mn-lt"/>
                          <a:ea typeface="+mn-ea"/>
                          <a:cs typeface="+mn-cs"/>
                        </a:rPr>
                        <a:t>  while (x&lt;=5)</a:t>
                      </a:r>
                    </a:p>
                    <a:p>
                      <a:r>
                        <a:rPr lang="en-US" sz="1800" b="0" kern="1200" dirty="0">
                          <a:solidFill>
                            <a:schemeClr val="lt1"/>
                          </a:solidFill>
                          <a:effectLst/>
                          <a:latin typeface="+mn-lt"/>
                          <a:ea typeface="+mn-ea"/>
                          <a:cs typeface="+mn-cs"/>
                        </a:rPr>
                        <a:t>  {</a:t>
                      </a:r>
                    </a:p>
                    <a:p>
                      <a:r>
                        <a:rPr lang="en-US" sz="1800" b="0" kern="1200" dirty="0">
                          <a:solidFill>
                            <a:schemeClr val="lt1"/>
                          </a:solidFill>
                          <a:effectLst/>
                          <a:latin typeface="+mn-lt"/>
                          <a:ea typeface="+mn-ea"/>
                          <a:cs typeface="+mn-cs"/>
                        </a:rPr>
                        <a:t>    print("x= $x");</a:t>
                      </a:r>
                    </a:p>
                    <a:p>
                      <a:r>
                        <a:rPr lang="en-US" sz="1800" b="0" kern="1200" dirty="0">
                          <a:solidFill>
                            <a:schemeClr val="lt1"/>
                          </a:solidFill>
                          <a:effectLst/>
                          <a:latin typeface="+mn-lt"/>
                          <a:ea typeface="+mn-ea"/>
                          <a:cs typeface="+mn-cs"/>
                        </a:rPr>
                        <a:t>    x++;</a:t>
                      </a:r>
                    </a:p>
                    <a:p>
                      <a:r>
                        <a:rPr lang="en-US" sz="1800" b="0" kern="1200" dirty="0">
                          <a:solidFill>
                            <a:schemeClr val="lt1"/>
                          </a:solidFill>
                          <a:effectLst/>
                          <a:latin typeface="+mn-lt"/>
                          <a:ea typeface="+mn-ea"/>
                          <a:cs typeface="+mn-cs"/>
                        </a:rPr>
                        <a:t>  }</a:t>
                      </a:r>
                    </a:p>
                    <a:p>
                      <a:r>
                        <a:rPr lang="en-US" sz="1800" b="0" kern="1200" dirty="0">
                          <a:solidFill>
                            <a:schemeClr val="lt1"/>
                          </a:solidFill>
                          <a:effectLst/>
                          <a:latin typeface="+mn-lt"/>
                          <a:ea typeface="+mn-ea"/>
                          <a:cs typeface="+mn-cs"/>
                        </a:rPr>
                        <a:t>}</a:t>
                      </a:r>
                    </a:p>
                  </a:txBody>
                  <a:tcPr/>
                </a:tc>
                <a:extLst>
                  <a:ext uri="{0D108BD9-81ED-4DB2-BD59-A6C34878D82A}">
                    <a16:rowId xmlns:a16="http://schemas.microsoft.com/office/drawing/2014/main" val="3029966982"/>
                  </a:ext>
                </a:extLst>
              </a:tr>
            </a:tbl>
          </a:graphicData>
        </a:graphic>
      </p:graphicFrame>
    </p:spTree>
    <p:extLst>
      <p:ext uri="{BB962C8B-B14F-4D97-AF65-F5344CB8AC3E}">
        <p14:creationId xmlns:p14="http://schemas.microsoft.com/office/powerpoint/2010/main" val="35920930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36</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697062" y="446982"/>
            <a:ext cx="6514178" cy="572700"/>
          </a:xfrm>
          <a:prstGeom prst="rect">
            <a:avLst/>
          </a:prstGeom>
        </p:spPr>
        <p:txBody>
          <a:bodyPr spcFirstLastPara="1" wrap="square" lIns="91425" tIns="91425" rIns="91425" bIns="91425" anchor="t" anchorCtr="0">
            <a:noAutofit/>
          </a:bodyPr>
          <a:lstStyle/>
          <a:p>
            <a:pPr lvl="0">
              <a:spcBef>
                <a:spcPts val="0"/>
              </a:spcBef>
            </a:pPr>
            <a:r>
              <a:rPr lang="en-US" dirty="0">
                <a:solidFill>
                  <a:srgbClr val="1E9E78"/>
                </a:solidFill>
              </a:rPr>
              <a:t>Do</a:t>
            </a:r>
            <a:r>
              <a:rPr lang="en" dirty="0">
                <a:solidFill>
                  <a:srgbClr val="1E9E78"/>
                </a:solidFill>
              </a:rPr>
              <a:t> WHILE Loops</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9" name="TextBox 8"/>
          <p:cNvSpPr txBox="1"/>
          <p:nvPr/>
        </p:nvSpPr>
        <p:spPr>
          <a:xfrm>
            <a:off x="668728" y="1387039"/>
            <a:ext cx="8908903" cy="2050305"/>
          </a:xfrm>
          <a:prstGeom prst="rect">
            <a:avLst/>
          </a:prstGeom>
          <a:noFill/>
        </p:spPr>
        <p:txBody>
          <a:bodyPr wrap="square" rtlCol="0">
            <a:spAutoFit/>
          </a:bodyPr>
          <a:lstStyle/>
          <a:p>
            <a:pPr marR="163195" lvl="0">
              <a:lnSpc>
                <a:spcPct val="115000"/>
              </a:lnSpc>
              <a:spcBef>
                <a:spcPts val="1000"/>
              </a:spcBef>
            </a:pPr>
            <a:r>
              <a:rPr lang="en-US" sz="1600" dirty="0">
                <a:solidFill>
                  <a:srgbClr val="2B3050"/>
                </a:solidFill>
                <a:latin typeface="Arial"/>
                <a:ea typeface="Arial"/>
                <a:cs typeface="Arial"/>
                <a:sym typeface="Arial"/>
              </a:rPr>
              <a:t>Contrary to the while-loop, the Do-while loop starts evaluating its expressions  from the bottom and not from the top. Thus, the statements within the do block are executed at least once. Do-while loops are exit controlled loops, i.e. the compiler will first execute the code block associated with the Do-while loop, and then check the associated Boolean expression. If the Boolean expression proves to be true, the compiler will loop and execute the Do-while code block again, or else, the compiler will skip the Do-while code block and continue to execute the statements that follow the Do-while loop.</a:t>
            </a:r>
          </a:p>
        </p:txBody>
      </p:sp>
      <p:graphicFrame>
        <p:nvGraphicFramePr>
          <p:cNvPr id="5" name="Table 4"/>
          <p:cNvGraphicFramePr>
            <a:graphicFrameLocks noGrp="1"/>
          </p:cNvGraphicFramePr>
          <p:nvPr>
            <p:extLst>
              <p:ext uri="{D42A27DB-BD31-4B8C-83A1-F6EECF244321}">
                <p14:modId xmlns:p14="http://schemas.microsoft.com/office/powerpoint/2010/main" val="3288682054"/>
              </p:ext>
            </p:extLst>
          </p:nvPr>
        </p:nvGraphicFramePr>
        <p:xfrm>
          <a:off x="1158970" y="3888168"/>
          <a:ext cx="2795181" cy="1737360"/>
        </p:xfrm>
        <a:graphic>
          <a:graphicData uri="http://schemas.openxmlformats.org/drawingml/2006/table">
            <a:tbl>
              <a:tblPr firstRow="1" bandRow="1">
                <a:tableStyleId>{073A0DAA-6AF3-43AB-8588-CEC1D06C72B9}</a:tableStyleId>
              </a:tblPr>
              <a:tblGrid>
                <a:gridCol w="2795181">
                  <a:extLst>
                    <a:ext uri="{9D8B030D-6E8A-4147-A177-3AD203B41FA5}">
                      <a16:colId xmlns:a16="http://schemas.microsoft.com/office/drawing/2014/main" val="1982552968"/>
                    </a:ext>
                  </a:extLst>
                </a:gridCol>
              </a:tblGrid>
              <a:tr h="370840">
                <a:tc>
                  <a:txBody>
                    <a:bodyPr/>
                    <a:lstStyle/>
                    <a:p>
                      <a:r>
                        <a:rPr lang="en-US" sz="1800" b="0" kern="1200" dirty="0">
                          <a:solidFill>
                            <a:schemeClr val="lt1"/>
                          </a:solidFill>
                          <a:effectLst/>
                          <a:latin typeface="+mn-lt"/>
                          <a:ea typeface="+mn-ea"/>
                          <a:cs typeface="+mn-cs"/>
                        </a:rPr>
                        <a:t>main(){</a:t>
                      </a:r>
                    </a:p>
                    <a:p>
                      <a:r>
                        <a:rPr lang="en-US" sz="1800" b="0" kern="1200" dirty="0">
                          <a:solidFill>
                            <a:schemeClr val="lt1"/>
                          </a:solidFill>
                          <a:effectLst/>
                          <a:latin typeface="+mn-lt"/>
                          <a:ea typeface="+mn-ea"/>
                          <a:cs typeface="+mn-cs"/>
                        </a:rPr>
                        <a:t>  </a:t>
                      </a:r>
                      <a:r>
                        <a:rPr lang="en-US" sz="1800" b="0" kern="1200" dirty="0" err="1">
                          <a:solidFill>
                            <a:schemeClr val="lt1"/>
                          </a:solidFill>
                          <a:effectLst/>
                          <a:latin typeface="+mn-lt"/>
                          <a:ea typeface="+mn-ea"/>
                          <a:cs typeface="+mn-cs"/>
                        </a:rPr>
                        <a:t>var</a:t>
                      </a:r>
                      <a:r>
                        <a:rPr lang="en-US" sz="1800" b="0" kern="1200" dirty="0">
                          <a:solidFill>
                            <a:schemeClr val="lt1"/>
                          </a:solidFill>
                          <a:effectLst/>
                          <a:latin typeface="+mn-lt"/>
                          <a:ea typeface="+mn-ea"/>
                          <a:cs typeface="+mn-cs"/>
                        </a:rPr>
                        <a:t> x=1;</a:t>
                      </a:r>
                    </a:p>
                    <a:p>
                      <a:r>
                        <a:rPr lang="en-US" sz="1800" b="0" kern="1200" dirty="0">
                          <a:solidFill>
                            <a:schemeClr val="lt1"/>
                          </a:solidFill>
                          <a:effectLst/>
                          <a:latin typeface="+mn-lt"/>
                          <a:ea typeface="+mn-ea"/>
                          <a:cs typeface="+mn-cs"/>
                        </a:rPr>
                        <a:t>  do {</a:t>
                      </a:r>
                    </a:p>
                    <a:p>
                      <a:r>
                        <a:rPr lang="en-US" sz="1800" b="0" kern="1200" dirty="0">
                          <a:solidFill>
                            <a:schemeClr val="lt1"/>
                          </a:solidFill>
                          <a:effectLst/>
                          <a:latin typeface="+mn-lt"/>
                          <a:ea typeface="+mn-ea"/>
                          <a:cs typeface="+mn-cs"/>
                        </a:rPr>
                        <a:t>  print('x= $x'); x++; }</a:t>
                      </a:r>
                    </a:p>
                    <a:p>
                      <a:r>
                        <a:rPr lang="en-US" sz="1800" b="0" kern="1200" dirty="0">
                          <a:solidFill>
                            <a:schemeClr val="lt1"/>
                          </a:solidFill>
                          <a:effectLst/>
                          <a:latin typeface="+mn-lt"/>
                          <a:ea typeface="+mn-ea"/>
                          <a:cs typeface="+mn-cs"/>
                        </a:rPr>
                        <a:t>  while (x&lt;=5);</a:t>
                      </a:r>
                    </a:p>
                    <a:p>
                      <a:r>
                        <a:rPr lang="en-US" sz="1800" b="0" kern="1200" dirty="0">
                          <a:solidFill>
                            <a:schemeClr val="lt1"/>
                          </a:solidFill>
                          <a:effectLst/>
                          <a:latin typeface="+mn-lt"/>
                          <a:ea typeface="+mn-ea"/>
                          <a:cs typeface="+mn-cs"/>
                        </a:rPr>
                        <a:t>}</a:t>
                      </a:r>
                    </a:p>
                  </a:txBody>
                  <a:tcPr/>
                </a:tc>
                <a:extLst>
                  <a:ext uri="{0D108BD9-81ED-4DB2-BD59-A6C34878D82A}">
                    <a16:rowId xmlns:a16="http://schemas.microsoft.com/office/drawing/2014/main" val="3029966982"/>
                  </a:ext>
                </a:extLst>
              </a:tr>
            </a:tbl>
          </a:graphicData>
        </a:graphic>
      </p:graphicFrame>
      <p:pic>
        <p:nvPicPr>
          <p:cNvPr id="3" name="Picture 2"/>
          <p:cNvPicPr>
            <a:picLocks noChangeAspect="1"/>
          </p:cNvPicPr>
          <p:nvPr/>
        </p:nvPicPr>
        <p:blipFill>
          <a:blip r:embed="rId4"/>
          <a:stretch>
            <a:fillRect/>
          </a:stretch>
        </p:blipFill>
        <p:spPr>
          <a:xfrm>
            <a:off x="6349071" y="3563331"/>
            <a:ext cx="3089259" cy="3207859"/>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5121333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37</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697062" y="446982"/>
            <a:ext cx="6514178" cy="572700"/>
          </a:xfrm>
          <a:prstGeom prst="rect">
            <a:avLst/>
          </a:prstGeom>
        </p:spPr>
        <p:txBody>
          <a:bodyPr spcFirstLastPara="1" wrap="square" lIns="91425" tIns="91425" rIns="91425" bIns="91425" anchor="t" anchorCtr="0">
            <a:noAutofit/>
          </a:bodyPr>
          <a:lstStyle/>
          <a:p>
            <a:pPr lvl="0">
              <a:spcBef>
                <a:spcPts val="0"/>
              </a:spcBef>
            </a:pPr>
            <a:r>
              <a:rPr lang="en" dirty="0"/>
              <a:t>Break Statements</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9" name="TextBox 8"/>
          <p:cNvSpPr txBox="1"/>
          <p:nvPr/>
        </p:nvSpPr>
        <p:spPr>
          <a:xfrm>
            <a:off x="668730" y="1185021"/>
            <a:ext cx="8908903" cy="2459135"/>
          </a:xfrm>
          <a:prstGeom prst="rect">
            <a:avLst/>
          </a:prstGeom>
          <a:noFill/>
        </p:spPr>
        <p:txBody>
          <a:bodyPr wrap="square" rtlCol="0">
            <a:spAutoFit/>
          </a:bodyPr>
          <a:lstStyle/>
          <a:p>
            <a:pPr marR="163195" lvl="0">
              <a:lnSpc>
                <a:spcPct val="115000"/>
              </a:lnSpc>
              <a:spcBef>
                <a:spcPts val="1000"/>
              </a:spcBef>
            </a:pPr>
            <a:r>
              <a:rPr lang="en-US" sz="1600" b="1" dirty="0">
                <a:solidFill>
                  <a:srgbClr val="2B3050"/>
                </a:solidFill>
                <a:latin typeface="Arial"/>
                <a:ea typeface="Arial"/>
                <a:cs typeface="Arial"/>
                <a:sym typeface="Arial"/>
              </a:rPr>
              <a:t>Break Statement:</a:t>
            </a:r>
          </a:p>
          <a:p>
            <a:pPr marR="163195" lvl="0">
              <a:lnSpc>
                <a:spcPct val="115000"/>
              </a:lnSpc>
              <a:spcBef>
                <a:spcPts val="1000"/>
              </a:spcBef>
            </a:pPr>
            <a:r>
              <a:rPr lang="en-US" sz="1600" dirty="0">
                <a:solidFill>
                  <a:srgbClr val="2B3050"/>
                </a:solidFill>
                <a:latin typeface="Arial"/>
                <a:ea typeface="Arial"/>
                <a:cs typeface="Arial"/>
                <a:sym typeface="Arial"/>
              </a:rPr>
              <a:t>The break statement is used to exit a loop immediately, skipping the rest of its normal execution. When the program encounters a break inside a loop, it stops the loop and continues with the next statement after it. </a:t>
            </a:r>
          </a:p>
          <a:p>
            <a:pPr marR="163195" lvl="0">
              <a:lnSpc>
                <a:spcPct val="115000"/>
              </a:lnSpc>
              <a:spcBef>
                <a:spcPts val="1000"/>
              </a:spcBef>
            </a:pPr>
            <a:r>
              <a:rPr lang="en-US" sz="1600" b="1" dirty="0">
                <a:solidFill>
                  <a:srgbClr val="2B3050"/>
                </a:solidFill>
                <a:latin typeface="Arial"/>
                <a:ea typeface="Arial"/>
                <a:cs typeface="Arial"/>
                <a:sym typeface="Arial"/>
              </a:rPr>
              <a:t>You can use break in while, do-while, or for loops. </a:t>
            </a:r>
          </a:p>
          <a:p>
            <a:pPr marR="163195" lvl="0">
              <a:lnSpc>
                <a:spcPct val="115000"/>
              </a:lnSpc>
              <a:spcBef>
                <a:spcPts val="1000"/>
              </a:spcBef>
            </a:pPr>
            <a:r>
              <a:rPr lang="en-US" sz="1600" dirty="0">
                <a:solidFill>
                  <a:srgbClr val="2B3050"/>
                </a:solidFill>
                <a:latin typeface="Arial"/>
                <a:ea typeface="Arial"/>
                <a:cs typeface="Arial"/>
                <a:sym typeface="Arial"/>
              </a:rPr>
              <a:t>Example: In a do-while loop, if the variable x becomes 3, the break statement stops the loop and the program continues with the next line after the loop.</a:t>
            </a:r>
          </a:p>
        </p:txBody>
      </p:sp>
      <p:graphicFrame>
        <p:nvGraphicFramePr>
          <p:cNvPr id="5" name="Table 4"/>
          <p:cNvGraphicFramePr>
            <a:graphicFrameLocks noGrp="1"/>
          </p:cNvGraphicFramePr>
          <p:nvPr>
            <p:extLst>
              <p:ext uri="{D42A27DB-BD31-4B8C-83A1-F6EECF244321}">
                <p14:modId xmlns:p14="http://schemas.microsoft.com/office/powerpoint/2010/main" val="3252547776"/>
              </p:ext>
            </p:extLst>
          </p:nvPr>
        </p:nvGraphicFramePr>
        <p:xfrm>
          <a:off x="1158970" y="3888168"/>
          <a:ext cx="2795181" cy="2286000"/>
        </p:xfrm>
        <a:graphic>
          <a:graphicData uri="http://schemas.openxmlformats.org/drawingml/2006/table">
            <a:tbl>
              <a:tblPr firstRow="1" bandRow="1">
                <a:tableStyleId>{073A0DAA-6AF3-43AB-8588-CEC1D06C72B9}</a:tableStyleId>
              </a:tblPr>
              <a:tblGrid>
                <a:gridCol w="2795181">
                  <a:extLst>
                    <a:ext uri="{9D8B030D-6E8A-4147-A177-3AD203B41FA5}">
                      <a16:colId xmlns:a16="http://schemas.microsoft.com/office/drawing/2014/main" val="1982552968"/>
                    </a:ext>
                  </a:extLst>
                </a:gridCol>
              </a:tblGrid>
              <a:tr h="370840">
                <a:tc>
                  <a:txBody>
                    <a:bodyPr/>
                    <a:lstStyle/>
                    <a:p>
                      <a:r>
                        <a:rPr lang="en-US" sz="1800" b="0" kern="1200" dirty="0">
                          <a:solidFill>
                            <a:schemeClr val="lt1"/>
                          </a:solidFill>
                          <a:effectLst/>
                          <a:latin typeface="+mn-lt"/>
                          <a:ea typeface="+mn-ea"/>
                          <a:cs typeface="+mn-cs"/>
                        </a:rPr>
                        <a:t>main() {</a:t>
                      </a:r>
                    </a:p>
                    <a:p>
                      <a:r>
                        <a:rPr lang="en-US" sz="1800" b="0" kern="1200" dirty="0">
                          <a:solidFill>
                            <a:schemeClr val="lt1"/>
                          </a:solidFill>
                          <a:effectLst/>
                          <a:latin typeface="+mn-lt"/>
                          <a:ea typeface="+mn-ea"/>
                          <a:cs typeface="+mn-cs"/>
                        </a:rPr>
                        <a:t>  </a:t>
                      </a:r>
                      <a:r>
                        <a:rPr lang="en-US" sz="1800" b="0" kern="1200" dirty="0" err="1">
                          <a:solidFill>
                            <a:schemeClr val="lt1"/>
                          </a:solidFill>
                          <a:effectLst/>
                          <a:latin typeface="+mn-lt"/>
                          <a:ea typeface="+mn-ea"/>
                          <a:cs typeface="+mn-cs"/>
                        </a:rPr>
                        <a:t>var</a:t>
                      </a:r>
                      <a:r>
                        <a:rPr lang="en-US" sz="1800" b="0" kern="1200" dirty="0">
                          <a:solidFill>
                            <a:schemeClr val="lt1"/>
                          </a:solidFill>
                          <a:effectLst/>
                          <a:latin typeface="+mn-lt"/>
                          <a:ea typeface="+mn-ea"/>
                          <a:cs typeface="+mn-cs"/>
                        </a:rPr>
                        <a:t> x = 1;</a:t>
                      </a:r>
                    </a:p>
                    <a:p>
                      <a:r>
                        <a:rPr lang="en-US" sz="1800" b="0" kern="1200" dirty="0">
                          <a:solidFill>
                            <a:schemeClr val="lt1"/>
                          </a:solidFill>
                          <a:effectLst/>
                          <a:latin typeface="+mn-lt"/>
                          <a:ea typeface="+mn-ea"/>
                          <a:cs typeface="+mn-cs"/>
                        </a:rPr>
                        <a:t>  do {</a:t>
                      </a:r>
                    </a:p>
                    <a:p>
                      <a:r>
                        <a:rPr lang="en-US" sz="1800" b="0" kern="1200" dirty="0">
                          <a:solidFill>
                            <a:schemeClr val="lt1"/>
                          </a:solidFill>
                          <a:effectLst/>
                          <a:latin typeface="+mn-lt"/>
                          <a:ea typeface="+mn-ea"/>
                          <a:cs typeface="+mn-cs"/>
                        </a:rPr>
                        <a:t>    print('x= $x');</a:t>
                      </a:r>
                    </a:p>
                    <a:p>
                      <a:r>
                        <a:rPr lang="en-US" sz="1800" b="0" kern="1200" dirty="0">
                          <a:solidFill>
                            <a:schemeClr val="lt1"/>
                          </a:solidFill>
                          <a:effectLst/>
                          <a:latin typeface="+mn-lt"/>
                          <a:ea typeface="+mn-ea"/>
                          <a:cs typeface="+mn-cs"/>
                        </a:rPr>
                        <a:t>    x++;</a:t>
                      </a:r>
                    </a:p>
                    <a:p>
                      <a:r>
                        <a:rPr lang="en-US" sz="1800" b="0" kern="1200" dirty="0">
                          <a:solidFill>
                            <a:schemeClr val="lt1"/>
                          </a:solidFill>
                          <a:effectLst/>
                          <a:latin typeface="+mn-lt"/>
                          <a:ea typeface="+mn-ea"/>
                          <a:cs typeface="+mn-cs"/>
                        </a:rPr>
                        <a:t>    if (x == 3) break;</a:t>
                      </a:r>
                    </a:p>
                    <a:p>
                      <a:r>
                        <a:rPr lang="en-US" sz="1800" b="0" kern="1200" dirty="0">
                          <a:solidFill>
                            <a:schemeClr val="lt1"/>
                          </a:solidFill>
                          <a:effectLst/>
                          <a:latin typeface="+mn-lt"/>
                          <a:ea typeface="+mn-ea"/>
                          <a:cs typeface="+mn-cs"/>
                        </a:rPr>
                        <a:t>  } while (x &lt;= 5);</a:t>
                      </a:r>
                    </a:p>
                    <a:p>
                      <a:r>
                        <a:rPr lang="en-US" sz="1800" b="0" kern="1200" dirty="0">
                          <a:solidFill>
                            <a:schemeClr val="lt1"/>
                          </a:solidFill>
                          <a:effectLst/>
                          <a:latin typeface="+mn-lt"/>
                          <a:ea typeface="+mn-ea"/>
                          <a:cs typeface="+mn-cs"/>
                        </a:rPr>
                        <a:t>}</a:t>
                      </a:r>
                    </a:p>
                  </a:txBody>
                  <a:tcPr/>
                </a:tc>
                <a:extLst>
                  <a:ext uri="{0D108BD9-81ED-4DB2-BD59-A6C34878D82A}">
                    <a16:rowId xmlns:a16="http://schemas.microsoft.com/office/drawing/2014/main" val="3029966982"/>
                  </a:ext>
                </a:extLst>
              </a:tr>
            </a:tbl>
          </a:graphicData>
        </a:graphic>
      </p:graphicFrame>
      <p:pic>
        <p:nvPicPr>
          <p:cNvPr id="4" name="Picture 3"/>
          <p:cNvPicPr>
            <a:picLocks noChangeAspect="1"/>
          </p:cNvPicPr>
          <p:nvPr/>
        </p:nvPicPr>
        <p:blipFill>
          <a:blip r:embed="rId4"/>
          <a:stretch>
            <a:fillRect/>
          </a:stretch>
        </p:blipFill>
        <p:spPr>
          <a:xfrm>
            <a:off x="5123181" y="3809495"/>
            <a:ext cx="2526415" cy="2662716"/>
          </a:xfrm>
          <a:prstGeom prst="rect">
            <a:avLst/>
          </a:prstGeom>
        </p:spPr>
      </p:pic>
    </p:spTree>
    <p:extLst>
      <p:ext uri="{BB962C8B-B14F-4D97-AF65-F5344CB8AC3E}">
        <p14:creationId xmlns:p14="http://schemas.microsoft.com/office/powerpoint/2010/main" val="4146429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38</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697062" y="446982"/>
            <a:ext cx="6514178" cy="572700"/>
          </a:xfrm>
          <a:prstGeom prst="rect">
            <a:avLst/>
          </a:prstGeom>
        </p:spPr>
        <p:txBody>
          <a:bodyPr spcFirstLastPara="1" wrap="square" lIns="91425" tIns="91425" rIns="91425" bIns="91425" anchor="t" anchorCtr="0">
            <a:noAutofit/>
          </a:bodyPr>
          <a:lstStyle/>
          <a:p>
            <a:pPr lvl="0">
              <a:spcBef>
                <a:spcPts val="0"/>
              </a:spcBef>
            </a:pPr>
            <a:r>
              <a:rPr lang="en-US" dirty="0">
                <a:solidFill>
                  <a:srgbClr val="2B3050"/>
                </a:solidFill>
                <a:ea typeface="Arial"/>
                <a:cs typeface="Arial"/>
                <a:sym typeface="Arial"/>
              </a:rPr>
              <a:t>Switch Case Statement</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9" name="TextBox 8"/>
          <p:cNvSpPr txBox="1"/>
          <p:nvPr/>
        </p:nvSpPr>
        <p:spPr>
          <a:xfrm>
            <a:off x="668730" y="1185021"/>
            <a:ext cx="8908903" cy="1764586"/>
          </a:xfrm>
          <a:prstGeom prst="rect">
            <a:avLst/>
          </a:prstGeom>
          <a:noFill/>
        </p:spPr>
        <p:txBody>
          <a:bodyPr wrap="square" rtlCol="0">
            <a:spAutoFit/>
          </a:bodyPr>
          <a:lstStyle/>
          <a:p>
            <a:pPr marR="163195" lvl="0">
              <a:lnSpc>
                <a:spcPct val="115000"/>
              </a:lnSpc>
              <a:spcBef>
                <a:spcPts val="1000"/>
              </a:spcBef>
            </a:pPr>
            <a:r>
              <a:rPr lang="en-US" sz="1600" b="1" dirty="0">
                <a:solidFill>
                  <a:srgbClr val="2B3050"/>
                </a:solidFill>
                <a:latin typeface="Arial"/>
                <a:ea typeface="Arial"/>
                <a:cs typeface="Arial"/>
                <a:sym typeface="Arial"/>
              </a:rPr>
              <a:t>Switch Case Statement </a:t>
            </a:r>
          </a:p>
          <a:p>
            <a:pPr marR="163195" lvl="0">
              <a:lnSpc>
                <a:spcPct val="115000"/>
              </a:lnSpc>
              <a:spcBef>
                <a:spcPts val="1000"/>
              </a:spcBef>
            </a:pPr>
            <a:r>
              <a:rPr lang="en-US" sz="1600" dirty="0">
                <a:solidFill>
                  <a:srgbClr val="2B3050"/>
                </a:solidFill>
                <a:latin typeface="Arial"/>
                <a:ea typeface="Arial"/>
                <a:cs typeface="Arial"/>
                <a:sym typeface="Arial"/>
              </a:rPr>
              <a:t>In Dart, a switch case is a shorter and cleaner alternative to multiple if–else statements. It checks an expression against several cases to decide which block of code to run.</a:t>
            </a:r>
          </a:p>
          <a:p>
            <a:pPr marR="163195" lvl="0">
              <a:lnSpc>
                <a:spcPct val="115000"/>
              </a:lnSpc>
              <a:spcBef>
                <a:spcPts val="1000"/>
              </a:spcBef>
            </a:pPr>
            <a:r>
              <a:rPr lang="en-US" sz="1600" dirty="0">
                <a:solidFill>
                  <a:srgbClr val="2B3050"/>
                </a:solidFill>
                <a:latin typeface="Arial"/>
                <a:ea typeface="Arial"/>
                <a:cs typeface="Arial"/>
                <a:sym typeface="Arial"/>
              </a:rPr>
              <a:t>Example: If day = 2, the program runs case 2, sets the variable to “Monday,” and then exits the switch using break. If no case matches, the default case runs.</a:t>
            </a:r>
          </a:p>
        </p:txBody>
      </p:sp>
      <p:graphicFrame>
        <p:nvGraphicFramePr>
          <p:cNvPr id="5" name="Table 4"/>
          <p:cNvGraphicFramePr>
            <a:graphicFrameLocks noGrp="1"/>
          </p:cNvGraphicFramePr>
          <p:nvPr>
            <p:extLst>
              <p:ext uri="{D42A27DB-BD31-4B8C-83A1-F6EECF244321}">
                <p14:modId xmlns:p14="http://schemas.microsoft.com/office/powerpoint/2010/main" val="947725736"/>
              </p:ext>
            </p:extLst>
          </p:nvPr>
        </p:nvGraphicFramePr>
        <p:xfrm>
          <a:off x="850626" y="3114946"/>
          <a:ext cx="4614509" cy="3627120"/>
        </p:xfrm>
        <a:graphic>
          <a:graphicData uri="http://schemas.openxmlformats.org/drawingml/2006/table">
            <a:tbl>
              <a:tblPr firstRow="1" bandRow="1">
                <a:tableStyleId>{073A0DAA-6AF3-43AB-8588-CEC1D06C72B9}</a:tableStyleId>
              </a:tblPr>
              <a:tblGrid>
                <a:gridCol w="4614509">
                  <a:extLst>
                    <a:ext uri="{9D8B030D-6E8A-4147-A177-3AD203B41FA5}">
                      <a16:colId xmlns:a16="http://schemas.microsoft.com/office/drawing/2014/main" val="1982552968"/>
                    </a:ext>
                  </a:extLst>
                </a:gridCol>
              </a:tblGrid>
              <a:tr h="3445342">
                <a:tc>
                  <a:txBody>
                    <a:bodyPr/>
                    <a:lstStyle/>
                    <a:p>
                      <a:r>
                        <a:rPr lang="en-US" sz="800" b="0" kern="1200" dirty="0">
                          <a:solidFill>
                            <a:schemeClr val="lt1"/>
                          </a:solidFill>
                          <a:effectLst/>
                          <a:latin typeface="+mn-lt"/>
                          <a:ea typeface="+mn-ea"/>
                          <a:cs typeface="+mn-cs"/>
                        </a:rPr>
                        <a:t>main() {</a:t>
                      </a:r>
                    </a:p>
                    <a:p>
                      <a:r>
                        <a:rPr lang="en-US" sz="800" b="0" kern="1200" dirty="0">
                          <a:solidFill>
                            <a:schemeClr val="lt1"/>
                          </a:solidFill>
                          <a:effectLst/>
                          <a:latin typeface="+mn-lt"/>
                          <a:ea typeface="+mn-ea"/>
                          <a:cs typeface="+mn-cs"/>
                        </a:rPr>
                        <a:t>  </a:t>
                      </a:r>
                      <a:r>
                        <a:rPr lang="en-US" sz="800" b="0" kern="1200" dirty="0" err="1">
                          <a:solidFill>
                            <a:schemeClr val="lt1"/>
                          </a:solidFill>
                          <a:effectLst/>
                          <a:latin typeface="+mn-lt"/>
                          <a:ea typeface="+mn-ea"/>
                          <a:cs typeface="+mn-cs"/>
                        </a:rPr>
                        <a:t>int</a:t>
                      </a:r>
                      <a:r>
                        <a:rPr lang="en-US" sz="800" b="0" kern="1200" dirty="0">
                          <a:solidFill>
                            <a:schemeClr val="lt1"/>
                          </a:solidFill>
                          <a:effectLst/>
                          <a:latin typeface="+mn-lt"/>
                          <a:ea typeface="+mn-ea"/>
                          <a:cs typeface="+mn-cs"/>
                        </a:rPr>
                        <a:t> day = 2;</a:t>
                      </a:r>
                    </a:p>
                    <a:p>
                      <a:r>
                        <a:rPr lang="en-US" sz="800" b="0" kern="1200" dirty="0">
                          <a:solidFill>
                            <a:schemeClr val="lt1"/>
                          </a:solidFill>
                          <a:effectLst/>
                          <a:latin typeface="+mn-lt"/>
                          <a:ea typeface="+mn-ea"/>
                          <a:cs typeface="+mn-cs"/>
                        </a:rPr>
                        <a:t>  switch (day) {</a:t>
                      </a:r>
                    </a:p>
                    <a:p>
                      <a:r>
                        <a:rPr lang="en-US" sz="800" b="0" kern="1200" dirty="0">
                          <a:solidFill>
                            <a:schemeClr val="lt1"/>
                          </a:solidFill>
                          <a:effectLst/>
                          <a:latin typeface="+mn-lt"/>
                          <a:ea typeface="+mn-ea"/>
                          <a:cs typeface="+mn-cs"/>
                        </a:rPr>
                        <a:t>    case 1:</a:t>
                      </a:r>
                    </a:p>
                    <a:p>
                      <a:r>
                        <a:rPr lang="en-US" sz="800" b="0" kern="1200" dirty="0">
                          <a:solidFill>
                            <a:schemeClr val="lt1"/>
                          </a:solidFill>
                          <a:effectLst/>
                          <a:latin typeface="+mn-lt"/>
                          <a:ea typeface="+mn-ea"/>
                          <a:cs typeface="+mn-cs"/>
                        </a:rPr>
                        <a:t>      print('Sunday');</a:t>
                      </a:r>
                    </a:p>
                    <a:p>
                      <a:r>
                        <a:rPr lang="en-US" sz="800" b="0" kern="1200" dirty="0">
                          <a:solidFill>
                            <a:schemeClr val="lt1"/>
                          </a:solidFill>
                          <a:effectLst/>
                          <a:latin typeface="+mn-lt"/>
                          <a:ea typeface="+mn-ea"/>
                          <a:cs typeface="+mn-cs"/>
                        </a:rPr>
                        <a:t>      break;</a:t>
                      </a:r>
                    </a:p>
                    <a:p>
                      <a:r>
                        <a:rPr lang="en-US" sz="800" b="0" kern="1200" dirty="0">
                          <a:solidFill>
                            <a:schemeClr val="lt1"/>
                          </a:solidFill>
                          <a:effectLst/>
                          <a:latin typeface="+mn-lt"/>
                          <a:ea typeface="+mn-ea"/>
                          <a:cs typeface="+mn-cs"/>
                        </a:rPr>
                        <a:t>    case 2:</a:t>
                      </a:r>
                    </a:p>
                    <a:p>
                      <a:r>
                        <a:rPr lang="en-US" sz="800" b="0" kern="1200" dirty="0">
                          <a:solidFill>
                            <a:schemeClr val="lt1"/>
                          </a:solidFill>
                          <a:effectLst/>
                          <a:latin typeface="+mn-lt"/>
                          <a:ea typeface="+mn-ea"/>
                          <a:cs typeface="+mn-cs"/>
                        </a:rPr>
                        <a:t>      print('Monday');</a:t>
                      </a:r>
                    </a:p>
                    <a:p>
                      <a:r>
                        <a:rPr lang="en-US" sz="800" b="0" kern="1200" dirty="0">
                          <a:solidFill>
                            <a:schemeClr val="lt1"/>
                          </a:solidFill>
                          <a:effectLst/>
                          <a:latin typeface="+mn-lt"/>
                          <a:ea typeface="+mn-ea"/>
                          <a:cs typeface="+mn-cs"/>
                        </a:rPr>
                        <a:t>      break;</a:t>
                      </a:r>
                    </a:p>
                    <a:p>
                      <a:r>
                        <a:rPr lang="en-US" sz="800" b="0" kern="1200" dirty="0">
                          <a:solidFill>
                            <a:schemeClr val="lt1"/>
                          </a:solidFill>
                          <a:effectLst/>
                          <a:latin typeface="+mn-lt"/>
                          <a:ea typeface="+mn-ea"/>
                          <a:cs typeface="+mn-cs"/>
                        </a:rPr>
                        <a:t>    case 3:</a:t>
                      </a:r>
                    </a:p>
                    <a:p>
                      <a:r>
                        <a:rPr lang="en-US" sz="800" b="0" kern="1200" dirty="0">
                          <a:solidFill>
                            <a:schemeClr val="lt1"/>
                          </a:solidFill>
                          <a:effectLst/>
                          <a:latin typeface="+mn-lt"/>
                          <a:ea typeface="+mn-ea"/>
                          <a:cs typeface="+mn-cs"/>
                        </a:rPr>
                        <a:t>      print('Tuesday');</a:t>
                      </a:r>
                    </a:p>
                    <a:p>
                      <a:r>
                        <a:rPr lang="en-US" sz="800" b="0" kern="1200" dirty="0">
                          <a:solidFill>
                            <a:schemeClr val="lt1"/>
                          </a:solidFill>
                          <a:effectLst/>
                          <a:latin typeface="+mn-lt"/>
                          <a:ea typeface="+mn-ea"/>
                          <a:cs typeface="+mn-cs"/>
                        </a:rPr>
                        <a:t>      break;</a:t>
                      </a:r>
                    </a:p>
                    <a:p>
                      <a:r>
                        <a:rPr lang="en-US" sz="800" b="0" kern="1200" dirty="0">
                          <a:solidFill>
                            <a:schemeClr val="lt1"/>
                          </a:solidFill>
                          <a:effectLst/>
                          <a:latin typeface="+mn-lt"/>
                          <a:ea typeface="+mn-ea"/>
                          <a:cs typeface="+mn-cs"/>
                        </a:rPr>
                        <a:t>    case 4:</a:t>
                      </a:r>
                    </a:p>
                    <a:p>
                      <a:r>
                        <a:rPr lang="en-US" sz="800" b="0" kern="1200" dirty="0">
                          <a:solidFill>
                            <a:schemeClr val="lt1"/>
                          </a:solidFill>
                          <a:effectLst/>
                          <a:latin typeface="+mn-lt"/>
                          <a:ea typeface="+mn-ea"/>
                          <a:cs typeface="+mn-cs"/>
                        </a:rPr>
                        <a:t>      print('Wednesday');</a:t>
                      </a:r>
                    </a:p>
                    <a:p>
                      <a:r>
                        <a:rPr lang="en-US" sz="800" b="0" kern="1200" dirty="0">
                          <a:solidFill>
                            <a:schemeClr val="lt1"/>
                          </a:solidFill>
                          <a:effectLst/>
                          <a:latin typeface="+mn-lt"/>
                          <a:ea typeface="+mn-ea"/>
                          <a:cs typeface="+mn-cs"/>
                        </a:rPr>
                        <a:t>      break;</a:t>
                      </a:r>
                    </a:p>
                    <a:p>
                      <a:r>
                        <a:rPr lang="en-US" sz="800" b="0" kern="1200" dirty="0">
                          <a:solidFill>
                            <a:schemeClr val="lt1"/>
                          </a:solidFill>
                          <a:effectLst/>
                          <a:latin typeface="+mn-lt"/>
                          <a:ea typeface="+mn-ea"/>
                          <a:cs typeface="+mn-cs"/>
                        </a:rPr>
                        <a:t>    case 5:</a:t>
                      </a:r>
                    </a:p>
                    <a:p>
                      <a:r>
                        <a:rPr lang="en-US" sz="800" b="0" kern="1200" dirty="0">
                          <a:solidFill>
                            <a:schemeClr val="lt1"/>
                          </a:solidFill>
                          <a:effectLst/>
                          <a:latin typeface="+mn-lt"/>
                          <a:ea typeface="+mn-ea"/>
                          <a:cs typeface="+mn-cs"/>
                        </a:rPr>
                        <a:t>      print('Thursday');</a:t>
                      </a:r>
                    </a:p>
                    <a:p>
                      <a:r>
                        <a:rPr lang="en-US" sz="800" b="0" kern="1200" dirty="0">
                          <a:solidFill>
                            <a:schemeClr val="lt1"/>
                          </a:solidFill>
                          <a:effectLst/>
                          <a:latin typeface="+mn-lt"/>
                          <a:ea typeface="+mn-ea"/>
                          <a:cs typeface="+mn-cs"/>
                        </a:rPr>
                        <a:t>      break;</a:t>
                      </a:r>
                    </a:p>
                    <a:p>
                      <a:r>
                        <a:rPr lang="en-US" sz="800" b="0" kern="1200" dirty="0">
                          <a:solidFill>
                            <a:schemeClr val="lt1"/>
                          </a:solidFill>
                          <a:effectLst/>
                          <a:latin typeface="+mn-lt"/>
                          <a:ea typeface="+mn-ea"/>
                          <a:cs typeface="+mn-cs"/>
                        </a:rPr>
                        <a:t>    case 6:</a:t>
                      </a:r>
                    </a:p>
                    <a:p>
                      <a:r>
                        <a:rPr lang="en-US" sz="800" b="0" kern="1200" dirty="0">
                          <a:solidFill>
                            <a:schemeClr val="lt1"/>
                          </a:solidFill>
                          <a:effectLst/>
                          <a:latin typeface="+mn-lt"/>
                          <a:ea typeface="+mn-ea"/>
                          <a:cs typeface="+mn-cs"/>
                        </a:rPr>
                        <a:t>      print('Friday');</a:t>
                      </a:r>
                    </a:p>
                    <a:p>
                      <a:r>
                        <a:rPr lang="en-US" sz="800" b="0" kern="1200" dirty="0">
                          <a:solidFill>
                            <a:schemeClr val="lt1"/>
                          </a:solidFill>
                          <a:effectLst/>
                          <a:latin typeface="+mn-lt"/>
                          <a:ea typeface="+mn-ea"/>
                          <a:cs typeface="+mn-cs"/>
                        </a:rPr>
                        <a:t>      break;</a:t>
                      </a:r>
                    </a:p>
                    <a:p>
                      <a:r>
                        <a:rPr lang="en-US" sz="800" b="0" kern="1200" dirty="0">
                          <a:solidFill>
                            <a:schemeClr val="lt1"/>
                          </a:solidFill>
                          <a:effectLst/>
                          <a:latin typeface="+mn-lt"/>
                          <a:ea typeface="+mn-ea"/>
                          <a:cs typeface="+mn-cs"/>
                        </a:rPr>
                        <a:t>    case 7:</a:t>
                      </a:r>
                    </a:p>
                    <a:p>
                      <a:r>
                        <a:rPr lang="en-US" sz="800" b="0" kern="1200" dirty="0">
                          <a:solidFill>
                            <a:schemeClr val="lt1"/>
                          </a:solidFill>
                          <a:effectLst/>
                          <a:latin typeface="+mn-lt"/>
                          <a:ea typeface="+mn-ea"/>
                          <a:cs typeface="+mn-cs"/>
                        </a:rPr>
                        <a:t>      print('Saturday');</a:t>
                      </a:r>
                    </a:p>
                    <a:p>
                      <a:r>
                        <a:rPr lang="en-US" sz="800" b="0" kern="1200" dirty="0">
                          <a:solidFill>
                            <a:schemeClr val="lt1"/>
                          </a:solidFill>
                          <a:effectLst/>
                          <a:latin typeface="+mn-lt"/>
                          <a:ea typeface="+mn-ea"/>
                          <a:cs typeface="+mn-cs"/>
                        </a:rPr>
                        <a:t>      break;</a:t>
                      </a:r>
                    </a:p>
                    <a:p>
                      <a:r>
                        <a:rPr lang="en-US" sz="800" b="0" kern="1200" dirty="0">
                          <a:solidFill>
                            <a:schemeClr val="lt1"/>
                          </a:solidFill>
                          <a:effectLst/>
                          <a:latin typeface="+mn-lt"/>
                          <a:ea typeface="+mn-ea"/>
                          <a:cs typeface="+mn-cs"/>
                        </a:rPr>
                        <a:t>    default:</a:t>
                      </a:r>
                    </a:p>
                    <a:p>
                      <a:r>
                        <a:rPr lang="en-US" sz="800" b="0" kern="1200" dirty="0">
                          <a:solidFill>
                            <a:schemeClr val="lt1"/>
                          </a:solidFill>
                          <a:effectLst/>
                          <a:latin typeface="+mn-lt"/>
                          <a:ea typeface="+mn-ea"/>
                          <a:cs typeface="+mn-cs"/>
                        </a:rPr>
                        <a:t>      print('Invalid Day');</a:t>
                      </a:r>
                    </a:p>
                    <a:p>
                      <a:r>
                        <a:rPr lang="en-US" sz="800" b="0" kern="1200" dirty="0">
                          <a:solidFill>
                            <a:schemeClr val="lt1"/>
                          </a:solidFill>
                          <a:effectLst/>
                          <a:latin typeface="+mn-lt"/>
                          <a:ea typeface="+mn-ea"/>
                          <a:cs typeface="+mn-cs"/>
                        </a:rPr>
                        <a:t>  }</a:t>
                      </a:r>
                    </a:p>
                    <a:p>
                      <a:r>
                        <a:rPr lang="en-US" sz="800" b="0" kern="1200" dirty="0">
                          <a:solidFill>
                            <a:schemeClr val="lt1"/>
                          </a:solidFill>
                          <a:effectLst/>
                          <a:latin typeface="+mn-lt"/>
                          <a:ea typeface="+mn-ea"/>
                          <a:cs typeface="+mn-cs"/>
                        </a:rPr>
                        <a:t>}</a:t>
                      </a:r>
                      <a:br>
                        <a:rPr lang="en-US" sz="800" b="0" kern="1200" dirty="0">
                          <a:solidFill>
                            <a:schemeClr val="lt1"/>
                          </a:solidFill>
                          <a:effectLst/>
                          <a:latin typeface="+mn-lt"/>
                          <a:ea typeface="+mn-ea"/>
                          <a:cs typeface="+mn-cs"/>
                        </a:rPr>
                      </a:br>
                      <a:endParaRPr lang="en-US" sz="800" b="0" kern="1200" dirty="0">
                        <a:solidFill>
                          <a:schemeClr val="lt1"/>
                        </a:solidFill>
                        <a:effectLst/>
                        <a:latin typeface="+mn-lt"/>
                        <a:ea typeface="+mn-ea"/>
                        <a:cs typeface="+mn-cs"/>
                      </a:endParaRPr>
                    </a:p>
                  </a:txBody>
                  <a:tcPr/>
                </a:tc>
                <a:extLst>
                  <a:ext uri="{0D108BD9-81ED-4DB2-BD59-A6C34878D82A}">
                    <a16:rowId xmlns:a16="http://schemas.microsoft.com/office/drawing/2014/main" val="3029966982"/>
                  </a:ext>
                </a:extLst>
              </a:tr>
            </a:tbl>
          </a:graphicData>
        </a:graphic>
      </p:graphicFrame>
      <p:pic>
        <p:nvPicPr>
          <p:cNvPr id="7" name="Picture 6"/>
          <p:cNvPicPr>
            <a:picLocks noChangeAspect="1"/>
          </p:cNvPicPr>
          <p:nvPr/>
        </p:nvPicPr>
        <p:blipFill>
          <a:blip r:embed="rId4"/>
          <a:stretch>
            <a:fillRect/>
          </a:stretch>
        </p:blipFill>
        <p:spPr>
          <a:xfrm>
            <a:off x="7613636" y="3114945"/>
            <a:ext cx="2245148" cy="3656245"/>
          </a:xfrm>
          <a:prstGeom prst="rect">
            <a:avLst/>
          </a:prstGeom>
        </p:spPr>
      </p:pic>
    </p:spTree>
    <p:extLst>
      <p:ext uri="{BB962C8B-B14F-4D97-AF65-F5344CB8AC3E}">
        <p14:creationId xmlns:p14="http://schemas.microsoft.com/office/powerpoint/2010/main" val="4149991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39</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697061" y="446982"/>
            <a:ext cx="8542631" cy="572700"/>
          </a:xfrm>
          <a:prstGeom prst="rect">
            <a:avLst/>
          </a:prstGeom>
        </p:spPr>
        <p:txBody>
          <a:bodyPr spcFirstLastPara="1" wrap="square" lIns="91425" tIns="91425" rIns="91425" bIns="91425" anchor="t" anchorCtr="0">
            <a:noAutofit/>
          </a:bodyPr>
          <a:lstStyle/>
          <a:p>
            <a:pPr lvl="0">
              <a:spcBef>
                <a:spcPts val="0"/>
              </a:spcBef>
            </a:pPr>
            <a:r>
              <a:rPr lang="en" dirty="0"/>
              <a:t>Lab 2: Create a Pizza Order Program</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9" name="TextBox 8"/>
          <p:cNvSpPr txBox="1"/>
          <p:nvPr/>
        </p:nvSpPr>
        <p:spPr>
          <a:xfrm>
            <a:off x="668730" y="1185021"/>
            <a:ext cx="8908903" cy="4498667"/>
          </a:xfrm>
          <a:prstGeom prst="rect">
            <a:avLst/>
          </a:prstGeom>
          <a:noFill/>
        </p:spPr>
        <p:txBody>
          <a:bodyPr wrap="square" rtlCol="0">
            <a:spAutoFit/>
          </a:bodyPr>
          <a:lstStyle/>
          <a:p>
            <a:pPr marR="163195" lvl="0">
              <a:lnSpc>
                <a:spcPct val="115000"/>
              </a:lnSpc>
              <a:spcBef>
                <a:spcPts val="1000"/>
              </a:spcBef>
            </a:pPr>
            <a:r>
              <a:rPr lang="en-US" sz="2000" b="1" dirty="0">
                <a:solidFill>
                  <a:srgbClr val="2B3050"/>
                </a:solidFill>
                <a:ea typeface="Arial"/>
                <a:cs typeface="Arial"/>
                <a:sym typeface="Arial"/>
              </a:rPr>
              <a:t>Switch Case Statement</a:t>
            </a:r>
          </a:p>
          <a:p>
            <a:pPr marR="163195" lvl="0">
              <a:lnSpc>
                <a:spcPct val="115000"/>
              </a:lnSpc>
              <a:spcBef>
                <a:spcPts val="1000"/>
              </a:spcBef>
            </a:pPr>
            <a:r>
              <a:rPr lang="en-US" sz="2000" dirty="0">
                <a:solidFill>
                  <a:srgbClr val="2B3050"/>
                </a:solidFill>
                <a:ea typeface="Arial"/>
                <a:cs typeface="Arial"/>
                <a:sym typeface="Arial"/>
              </a:rPr>
              <a:t>In this lab, you will create a Dart program using simple Dart syntaxes. This lab is just to practice using some code you have learned in lesson 2.</a:t>
            </a:r>
          </a:p>
          <a:p>
            <a:pPr marR="163195" lvl="0">
              <a:lnSpc>
                <a:spcPct val="115000"/>
              </a:lnSpc>
              <a:spcBef>
                <a:spcPts val="1000"/>
              </a:spcBef>
            </a:pPr>
            <a:r>
              <a:rPr lang="en-US" sz="2000" dirty="0">
                <a:solidFill>
                  <a:srgbClr val="2B3050"/>
                </a:solidFill>
                <a:ea typeface="Arial"/>
                <a:cs typeface="Arial"/>
                <a:sym typeface="Arial"/>
              </a:rPr>
              <a:t>Here, you will create a </a:t>
            </a:r>
            <a:r>
              <a:rPr lang="en-US" sz="2000" b="1" dirty="0">
                <a:solidFill>
                  <a:srgbClr val="2B3050"/>
                </a:solidFill>
                <a:ea typeface="Arial"/>
                <a:cs typeface="Arial"/>
                <a:sym typeface="Arial"/>
              </a:rPr>
              <a:t>simple pizza order calculator </a:t>
            </a:r>
            <a:r>
              <a:rPr lang="en-US" sz="2000" dirty="0">
                <a:solidFill>
                  <a:srgbClr val="2B3050"/>
                </a:solidFill>
                <a:ea typeface="Arial"/>
                <a:cs typeface="Arial"/>
                <a:sym typeface="Arial"/>
              </a:rPr>
              <a:t>so that when you run this program, the program will ask the user to enter the pizza size and the quantity of pizza the user wants. Then, the output of the run result will be the total of the user payment.</a:t>
            </a:r>
          </a:p>
          <a:p>
            <a:pPr marR="163195" lvl="0">
              <a:lnSpc>
                <a:spcPct val="115000"/>
              </a:lnSpc>
              <a:spcBef>
                <a:spcPts val="1000"/>
              </a:spcBef>
            </a:pPr>
            <a:r>
              <a:rPr lang="en-US" sz="2000" dirty="0">
                <a:solidFill>
                  <a:srgbClr val="2B3050"/>
                </a:solidFill>
                <a:ea typeface="Arial"/>
                <a:cs typeface="Arial"/>
                <a:sym typeface="Arial"/>
              </a:rPr>
              <a:t>To create this Dart program, follow the steps below:</a:t>
            </a:r>
          </a:p>
          <a:p>
            <a:pPr marL="514350" marR="163195" lvl="0" indent="-342900">
              <a:lnSpc>
                <a:spcPct val="115000"/>
              </a:lnSpc>
              <a:spcBef>
                <a:spcPts val="1000"/>
              </a:spcBef>
              <a:buClr>
                <a:srgbClr val="2B3050"/>
              </a:buClr>
              <a:buSzPts val="900"/>
              <a:buFont typeface="Arial" panose="020B0604020202020204" pitchFamily="34" charset="0"/>
              <a:buChar char="•"/>
            </a:pPr>
            <a:r>
              <a:rPr lang="en-US" sz="2000" dirty="0">
                <a:solidFill>
                  <a:srgbClr val="2B3050"/>
                </a:solidFill>
                <a:ea typeface="Arial"/>
                <a:cs typeface="Arial"/>
                <a:sym typeface="Arial"/>
              </a:rPr>
              <a:t>Open </a:t>
            </a:r>
            <a:r>
              <a:rPr lang="en-US" sz="2000" b="1" dirty="0">
                <a:solidFill>
                  <a:srgbClr val="2B3050"/>
                </a:solidFill>
                <a:ea typeface="Arial"/>
                <a:cs typeface="Arial"/>
                <a:sym typeface="Arial"/>
              </a:rPr>
              <a:t>VSC</a:t>
            </a:r>
            <a:endParaRPr lang="en-US" sz="2000" dirty="0">
              <a:solidFill>
                <a:srgbClr val="2B3050"/>
              </a:solidFill>
              <a:ea typeface="Arial"/>
              <a:cs typeface="Arial"/>
              <a:sym typeface="Arial"/>
            </a:endParaRPr>
          </a:p>
          <a:p>
            <a:pPr marL="514350" marR="163195" lvl="0" indent="-342900">
              <a:lnSpc>
                <a:spcPct val="115000"/>
              </a:lnSpc>
              <a:buClr>
                <a:srgbClr val="2B3050"/>
              </a:buClr>
              <a:buSzPts val="900"/>
              <a:buFont typeface="Arial" panose="020B0604020202020204" pitchFamily="34" charset="0"/>
              <a:buChar char="•"/>
            </a:pPr>
            <a:r>
              <a:rPr lang="en-US" sz="2000" dirty="0">
                <a:solidFill>
                  <a:srgbClr val="2B3050"/>
                </a:solidFill>
                <a:ea typeface="Arial"/>
                <a:cs typeface="Arial"/>
                <a:sym typeface="Arial"/>
              </a:rPr>
              <a:t>Create </a:t>
            </a:r>
            <a:r>
              <a:rPr lang="en-US" sz="2000" b="1" dirty="0">
                <a:solidFill>
                  <a:srgbClr val="2B3050"/>
                </a:solidFill>
                <a:ea typeface="Arial"/>
                <a:cs typeface="Arial"/>
                <a:sym typeface="Arial"/>
              </a:rPr>
              <a:t>New Text File.</a:t>
            </a:r>
            <a:r>
              <a:rPr lang="en-US" sz="2000" dirty="0">
                <a:solidFill>
                  <a:srgbClr val="2B3050"/>
                </a:solidFill>
                <a:ea typeface="Arial"/>
                <a:cs typeface="Arial"/>
                <a:sym typeface="Arial"/>
              </a:rPr>
              <a:t> Save it as </a:t>
            </a:r>
            <a:r>
              <a:rPr lang="en-US" sz="2000" b="1" dirty="0" err="1">
                <a:solidFill>
                  <a:srgbClr val="2B3050"/>
                </a:solidFill>
                <a:ea typeface="Arial"/>
                <a:cs typeface="Arial"/>
                <a:sym typeface="Arial"/>
              </a:rPr>
              <a:t>main.dart</a:t>
            </a:r>
            <a:endParaRPr lang="en-US" sz="2000" dirty="0">
              <a:solidFill>
                <a:srgbClr val="2B3050"/>
              </a:solidFill>
              <a:ea typeface="Arial"/>
              <a:cs typeface="Arial"/>
              <a:sym typeface="Arial"/>
            </a:endParaRPr>
          </a:p>
          <a:p>
            <a:pPr marL="514350" marR="163195" lvl="0" indent="-342900">
              <a:lnSpc>
                <a:spcPct val="115000"/>
              </a:lnSpc>
              <a:buClr>
                <a:srgbClr val="2B3050"/>
              </a:buClr>
              <a:buSzPts val="900"/>
              <a:buFont typeface="Arial" panose="020B0604020202020204" pitchFamily="34" charset="0"/>
              <a:buChar char="•"/>
            </a:pPr>
            <a:r>
              <a:rPr lang="en-US" sz="2000" dirty="0">
                <a:solidFill>
                  <a:srgbClr val="2B3050"/>
                </a:solidFill>
                <a:ea typeface="Arial"/>
                <a:cs typeface="Arial"/>
                <a:sym typeface="Arial"/>
              </a:rPr>
              <a:t>At the top of the code, type the following code to enable the input library</a:t>
            </a:r>
          </a:p>
        </p:txBody>
      </p:sp>
    </p:spTree>
    <p:extLst>
      <p:ext uri="{BB962C8B-B14F-4D97-AF65-F5344CB8AC3E}">
        <p14:creationId xmlns:p14="http://schemas.microsoft.com/office/powerpoint/2010/main" val="41860164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40</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697061" y="446982"/>
            <a:ext cx="8542631" cy="572700"/>
          </a:xfrm>
          <a:prstGeom prst="rect">
            <a:avLst/>
          </a:prstGeom>
        </p:spPr>
        <p:txBody>
          <a:bodyPr spcFirstLastPara="1" wrap="square" lIns="91425" tIns="91425" rIns="91425" bIns="91425" anchor="t" anchorCtr="0">
            <a:noAutofit/>
          </a:bodyPr>
          <a:lstStyle/>
          <a:p>
            <a:pPr lvl="0">
              <a:spcBef>
                <a:spcPts val="0"/>
              </a:spcBef>
            </a:pPr>
            <a:r>
              <a:rPr lang="en" dirty="0"/>
              <a:t>Lab 2: Create a Pizza Order Program</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9" name="TextBox 8"/>
          <p:cNvSpPr txBox="1"/>
          <p:nvPr/>
        </p:nvSpPr>
        <p:spPr>
          <a:xfrm>
            <a:off x="668730" y="1238184"/>
            <a:ext cx="8908903" cy="3162404"/>
          </a:xfrm>
          <a:prstGeom prst="rect">
            <a:avLst/>
          </a:prstGeom>
          <a:noFill/>
        </p:spPr>
        <p:txBody>
          <a:bodyPr wrap="square" rtlCol="0">
            <a:spAutoFit/>
          </a:bodyPr>
          <a:lstStyle/>
          <a:p>
            <a:pPr marL="342900" marR="163195" indent="-342900">
              <a:lnSpc>
                <a:spcPct val="115000"/>
              </a:lnSpc>
              <a:spcBef>
                <a:spcPts val="1000"/>
              </a:spcBef>
              <a:buFont typeface="Arial" panose="020B0604020202020204" pitchFamily="34" charset="0"/>
              <a:buChar char="•"/>
            </a:pPr>
            <a:r>
              <a:rPr lang="en-US" sz="2000" dirty="0">
                <a:solidFill>
                  <a:srgbClr val="2B3050"/>
                </a:solidFill>
                <a:ea typeface="Arial"/>
                <a:cs typeface="Arial"/>
                <a:sym typeface="Arial"/>
              </a:rPr>
              <a:t>First line show the Pizzas Price: </a:t>
            </a:r>
          </a:p>
          <a:p>
            <a:pPr marR="163195">
              <a:lnSpc>
                <a:spcPct val="115000"/>
              </a:lnSpc>
              <a:spcBef>
                <a:spcPts val="1000"/>
              </a:spcBef>
            </a:pPr>
            <a:r>
              <a:rPr lang="en-US" b="1" dirty="0"/>
              <a:t>	Pizza Price: Small: 5 USD, Medium: 7 USD, Large: 10 USD</a:t>
            </a:r>
          </a:p>
          <a:p>
            <a:pPr marL="342900" marR="163195" lvl="0" indent="-342900">
              <a:lnSpc>
                <a:spcPct val="115000"/>
              </a:lnSpc>
              <a:spcBef>
                <a:spcPts val="1000"/>
              </a:spcBef>
              <a:buFont typeface="Arial" panose="020B0604020202020204" pitchFamily="34" charset="0"/>
              <a:buChar char="•"/>
            </a:pPr>
            <a:r>
              <a:rPr lang="en-US" sz="2000" dirty="0">
                <a:solidFill>
                  <a:srgbClr val="2B3050"/>
                </a:solidFill>
                <a:ea typeface="Arial"/>
                <a:cs typeface="Arial"/>
                <a:sym typeface="Arial"/>
              </a:rPr>
              <a:t>Second Line Show the Pizza Size:</a:t>
            </a:r>
          </a:p>
          <a:p>
            <a:pPr marR="163195">
              <a:lnSpc>
                <a:spcPct val="115000"/>
              </a:lnSpc>
              <a:spcBef>
                <a:spcPts val="1000"/>
              </a:spcBef>
            </a:pPr>
            <a:r>
              <a:rPr lang="en-US" b="1" dirty="0"/>
              <a:t>	Please enter your pizza size (small, medium, or large)</a:t>
            </a:r>
          </a:p>
          <a:p>
            <a:pPr marL="285750" marR="163195" indent="-285750">
              <a:lnSpc>
                <a:spcPct val="115000"/>
              </a:lnSpc>
              <a:spcBef>
                <a:spcPts val="1000"/>
              </a:spcBef>
              <a:buFont typeface="Arial" panose="020B0604020202020204" pitchFamily="34" charset="0"/>
              <a:buChar char="•"/>
            </a:pPr>
            <a:r>
              <a:rPr lang="en-US" dirty="0"/>
              <a:t>After input Show the message How many pizza want?</a:t>
            </a:r>
          </a:p>
          <a:p>
            <a:pPr marR="163195" lvl="1">
              <a:lnSpc>
                <a:spcPct val="115000"/>
              </a:lnSpc>
              <a:spcBef>
                <a:spcPts val="1000"/>
              </a:spcBef>
            </a:pPr>
            <a:r>
              <a:rPr lang="en-US" dirty="0"/>
              <a:t>	</a:t>
            </a:r>
            <a:r>
              <a:rPr lang="en-US" b="1" dirty="0"/>
              <a:t>How many pizzas do you want of </a:t>
            </a:r>
            <a:r>
              <a:rPr lang="en-US" b="1" dirty="0" err="1"/>
              <a:t>pizza_size</a:t>
            </a:r>
            <a:r>
              <a:rPr lang="en-US" b="1" dirty="0"/>
              <a:t>?</a:t>
            </a:r>
            <a:endParaRPr lang="en-US" dirty="0"/>
          </a:p>
          <a:p>
            <a:pPr marL="285750" marR="163195" indent="-285750">
              <a:lnSpc>
                <a:spcPct val="115000"/>
              </a:lnSpc>
              <a:spcBef>
                <a:spcPts val="1000"/>
              </a:spcBef>
              <a:buFont typeface="Arial" panose="020B0604020202020204" pitchFamily="34" charset="0"/>
              <a:buChar char="•"/>
            </a:pPr>
            <a:r>
              <a:rPr lang="en-US" dirty="0"/>
              <a:t>Then we input your pizza size and how many pizza we need.</a:t>
            </a:r>
          </a:p>
        </p:txBody>
      </p:sp>
      <p:pic>
        <p:nvPicPr>
          <p:cNvPr id="4" name="Picture 3"/>
          <p:cNvPicPr>
            <a:picLocks noChangeAspect="1"/>
          </p:cNvPicPr>
          <p:nvPr/>
        </p:nvPicPr>
        <p:blipFill>
          <a:blip r:embed="rId4"/>
          <a:stretch>
            <a:fillRect/>
          </a:stretch>
        </p:blipFill>
        <p:spPr>
          <a:xfrm>
            <a:off x="2143325" y="4436257"/>
            <a:ext cx="6183493" cy="2264677"/>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93703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FBD6A-CACA-4C51-A7BE-2C945E320831}"/>
              </a:ext>
            </a:extLst>
          </p:cNvPr>
          <p:cNvSpPr>
            <a:spLocks noGrp="1"/>
          </p:cNvSpPr>
          <p:nvPr>
            <p:ph type="sldNum" sz="quarter" idx="33"/>
          </p:nvPr>
        </p:nvSpPr>
        <p:spPr/>
        <p:txBody>
          <a:bodyPr/>
          <a:lstStyle/>
          <a:p>
            <a:fld id="{19B51A1E-902D-48AF-9020-955120F399B6}" type="slidenum">
              <a:rPr lang="en-US" sz="2000" b="1" i="0" smtClean="0"/>
              <a:pPr/>
              <a:t>41</a:t>
            </a:fld>
            <a:endParaRPr lang="en-US" sz="2000" b="1" i="0" dirty="0"/>
          </a:p>
        </p:txBody>
      </p:sp>
      <p:sp>
        <p:nvSpPr>
          <p:cNvPr id="15" name="Rounded Rectangle 14"/>
          <p:cNvSpPr/>
          <p:nvPr/>
        </p:nvSpPr>
        <p:spPr>
          <a:xfrm>
            <a:off x="10018899" y="6319777"/>
            <a:ext cx="1370728" cy="45141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Page</a:t>
            </a:r>
          </a:p>
        </p:txBody>
      </p:sp>
      <p:sp>
        <p:nvSpPr>
          <p:cNvPr id="21" name="Google Shape;178;p28"/>
          <p:cNvSpPr txBox="1">
            <a:spLocks noGrp="1"/>
          </p:cNvSpPr>
          <p:nvPr>
            <p:ph type="title"/>
          </p:nvPr>
        </p:nvSpPr>
        <p:spPr>
          <a:xfrm>
            <a:off x="697061" y="446982"/>
            <a:ext cx="8542631" cy="572700"/>
          </a:xfrm>
          <a:prstGeom prst="rect">
            <a:avLst/>
          </a:prstGeom>
        </p:spPr>
        <p:txBody>
          <a:bodyPr spcFirstLastPara="1" wrap="square" lIns="91425" tIns="91425" rIns="91425" bIns="91425" anchor="t" anchorCtr="0">
            <a:noAutofit/>
          </a:bodyPr>
          <a:lstStyle/>
          <a:p>
            <a:pPr lvl="0">
              <a:spcBef>
                <a:spcPts val="0"/>
              </a:spcBef>
            </a:pPr>
            <a:r>
              <a:rPr lang="en" dirty="0"/>
              <a:t>Lab 2: Create a Pizza Order Program</a:t>
            </a:r>
            <a:endParaRPr dirty="0">
              <a:solidFill>
                <a:srgbClr val="1E9E78"/>
              </a:solidFill>
            </a:endParaRPr>
          </a:p>
        </p:txBody>
      </p:sp>
      <p:pic>
        <p:nvPicPr>
          <p:cNvPr id="8"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
        <p:nvSpPr>
          <p:cNvPr id="9" name="TextBox 8"/>
          <p:cNvSpPr txBox="1"/>
          <p:nvPr/>
        </p:nvSpPr>
        <p:spPr>
          <a:xfrm>
            <a:off x="668730" y="1185021"/>
            <a:ext cx="8908903" cy="417871"/>
          </a:xfrm>
          <a:prstGeom prst="rect">
            <a:avLst/>
          </a:prstGeom>
          <a:noFill/>
        </p:spPr>
        <p:txBody>
          <a:bodyPr wrap="square" rtlCol="0">
            <a:spAutoFit/>
          </a:bodyPr>
          <a:lstStyle/>
          <a:p>
            <a:pPr marR="163195" lvl="0">
              <a:lnSpc>
                <a:spcPct val="115000"/>
              </a:lnSpc>
              <a:spcBef>
                <a:spcPts val="1000"/>
              </a:spcBef>
            </a:pPr>
            <a:r>
              <a:rPr lang="en-US" sz="2000" dirty="0">
                <a:solidFill>
                  <a:srgbClr val="2B3050"/>
                </a:solidFill>
                <a:ea typeface="Arial"/>
                <a:cs typeface="Arial"/>
                <a:sym typeface="Arial"/>
              </a:rPr>
              <a:t>Run the Program</a:t>
            </a:r>
          </a:p>
        </p:txBody>
      </p:sp>
      <p:pic>
        <p:nvPicPr>
          <p:cNvPr id="3" name="Picture 2"/>
          <p:cNvPicPr>
            <a:picLocks noChangeAspect="1"/>
          </p:cNvPicPr>
          <p:nvPr/>
        </p:nvPicPr>
        <p:blipFill>
          <a:blip r:embed="rId4"/>
          <a:stretch>
            <a:fillRect/>
          </a:stretch>
        </p:blipFill>
        <p:spPr>
          <a:xfrm>
            <a:off x="2184330" y="1902084"/>
            <a:ext cx="6352537" cy="1542863"/>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p:cNvPicPr>
            <a:picLocks noChangeAspect="1"/>
          </p:cNvPicPr>
          <p:nvPr/>
        </p:nvPicPr>
        <p:blipFill>
          <a:blip r:embed="rId5"/>
          <a:stretch>
            <a:fillRect/>
          </a:stretch>
        </p:blipFill>
        <p:spPr>
          <a:xfrm>
            <a:off x="2184330" y="3818567"/>
            <a:ext cx="6183493" cy="2264677"/>
          </a:xfrm>
          <a:prstGeom prst="rect">
            <a:avLst/>
          </a:prstGeom>
          <a:solidFill>
            <a:srgbClr val="FFFFFF">
              <a:shade val="85000"/>
            </a:srgbClr>
          </a:solidFill>
          <a:ln w="88900" cap="sq">
            <a:solidFill>
              <a:srgbClr val="FFFFFF"/>
            </a:solidFill>
            <a:miter lim="800000"/>
          </a:ln>
          <a:effectLst>
            <a:outerShdw blurRad="55000" dist="18000" dir="5400000" algn="tl" rotWithShape="0">
              <a:srgbClr val="22264A">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175478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22264A"/>
        </a:solidFill>
        <a:effectLst/>
      </p:bgPr>
    </p:bg>
    <p:spTree>
      <p:nvGrpSpPr>
        <p:cNvPr id="1" name=""/>
        <p:cNvGrpSpPr/>
        <p:nvPr/>
      </p:nvGrpSpPr>
      <p:grpSpPr>
        <a:xfrm>
          <a:off x="0" y="0"/>
          <a:ext cx="0" cy="0"/>
          <a:chOff x="0" y="0"/>
          <a:chExt cx="0" cy="0"/>
        </a:xfrm>
      </p:grpSpPr>
      <p:sp>
        <p:nvSpPr>
          <p:cNvPr id="910" name="Hero Diamond"/>
          <p:cNvSpPr/>
          <p:nvPr userDrawn="1"/>
        </p:nvSpPr>
        <p:spPr>
          <a:xfrm rot="2700000">
            <a:off x="8500000" y="2300000"/>
            <a:ext cx="3300000" cy="3300000"/>
          </a:xfrm>
          <a:prstGeom prst="roundRect">
            <a:avLst>
              <a:gd name="adj" fmla="val 22000"/>
            </a:avLst>
          </a:prstGeom>
          <a:solidFill>
            <a:srgbClr val="2C8F7E"/>
          </a:solidFill>
          <a:ln>
            <a:noFill/>
          </a:ln>
        </p:spPr>
        <p:txBody>
          <a:bodyPr rtlCol="0" anchor="ctr"/>
          <a:lstStyle/>
          <a:p>
            <a:endParaRPr lang="en-US"/>
          </a:p>
        </p:txBody>
      </p:sp>
      <p:sp>
        <p:nvSpPr>
          <p:cNvPr id="911" name="Hero Diamond Inner"/>
          <p:cNvSpPr/>
          <p:nvPr userDrawn="1"/>
        </p:nvSpPr>
        <p:spPr>
          <a:xfrm rot="2700000">
            <a:off x="8850000" y="2650000"/>
            <a:ext cx="2600000" cy="2600000"/>
          </a:xfrm>
          <a:prstGeom prst="roundRect">
            <a:avLst>
              <a:gd name="adj" fmla="val 22000"/>
            </a:avLst>
          </a:prstGeom>
          <a:solidFill>
            <a:srgbClr val="1E9E78"/>
          </a:solidFill>
          <a:ln>
            <a:noFill/>
          </a:ln>
        </p:spPr>
        <p:txBody>
          <a:bodyPr rtlCol="0" anchor="ctr"/>
          <a:lstStyle/>
          <a:p>
            <a:endParaRPr lang="en-US"/>
          </a:p>
        </p:txBody>
      </p:sp>
      <p:sp>
        <p:nvSpPr>
          <p:cNvPr id="912" name="Hero Diamond Outline"/>
          <p:cNvSpPr/>
          <p:nvPr userDrawn="1"/>
        </p:nvSpPr>
        <p:spPr>
          <a:xfrm rot="2700000">
            <a:off x="8200000" y="2000000"/>
            <a:ext cx="3900000" cy="3900000"/>
          </a:xfrm>
          <a:prstGeom prst="roundRect">
            <a:avLst>
              <a:gd name="adj" fmla="val 22000"/>
            </a:avLst>
          </a:prstGeom>
          <a:noFill/>
          <a:ln w="19050">
            <a:solidFill>
              <a:srgbClr val="5FD3A8"/>
            </a:solidFill>
          </a:ln>
        </p:spPr>
        <p:txBody>
          <a:bodyPr rtlCol="0" anchor="ctr"/>
          <a:lstStyle/>
          <a:p>
            <a:endParaRPr lang="en-US"/>
          </a:p>
        </p:txBody>
      </p:sp>
      <p:sp>
        <p:nvSpPr>
          <p:cNvPr id="20" name="Title 19">
            <a:extLst>
              <a:ext uri="{FF2B5EF4-FFF2-40B4-BE49-F238E27FC236}">
                <a16:creationId xmlns:a16="http://schemas.microsoft.com/office/drawing/2014/main" id="{F11A6B65-5A20-4F4D-ACBB-ED50132D4571}"/>
              </a:ext>
            </a:extLst>
          </p:cNvPr>
          <p:cNvSpPr>
            <a:spLocks noGrp="1"/>
          </p:cNvSpPr>
          <p:nvPr>
            <p:ph type="ctrTitle"/>
          </p:nvPr>
        </p:nvSpPr>
        <p:spPr>
          <a:xfrm>
            <a:off x="837235" y="2400000"/>
            <a:ext cx="7300000" cy="1674470"/>
          </a:xfrm>
        </p:spPr>
        <p:txBody>
          <a:bodyPr/>
          <a:lstStyle/>
          <a:p>
            <a:r>
              <a:rPr lang="en-US" dirty="0"/>
              <a:t>Any Questions?</a:t>
            </a:r>
          </a:p>
        </p:txBody>
      </p:sp>
      <p:sp>
        <p:nvSpPr>
          <p:cNvPr id="903" name="Logo Chip"/>
          <p:cNvSpPr/>
          <p:nvPr/>
        </p:nvSpPr>
        <p:spPr>
          <a:xfrm>
            <a:off x="9477633" y="110572"/>
            <a:ext cx="2612510" cy="728620"/>
          </a:xfrm>
          <a:prstGeom prst="roundRect">
            <a:avLst/>
          </a:prstGeom>
          <a:solidFill>
            <a:srgbClr val="FFFFFF"/>
          </a:solidFill>
          <a:ln>
            <a:noFill/>
          </a:ln>
        </p:spPr>
        <p:txBody>
          <a:bodyPr/>
          <a:lstStyle/>
          <a:p>
            <a:endParaRPr lang="en-US"/>
          </a:p>
        </p:txBody>
      </p:sp>
      <p:pic>
        <p:nvPicPr>
          <p:cNvPr id="3"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Tree>
    <p:extLst>
      <p:ext uri="{BB962C8B-B14F-4D97-AF65-F5344CB8AC3E}">
        <p14:creationId xmlns:p14="http://schemas.microsoft.com/office/powerpoint/2010/main" val="41536783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22264A"/>
        </a:solidFill>
        <a:effectLst/>
      </p:bgPr>
    </p:bg>
    <p:spTree>
      <p:nvGrpSpPr>
        <p:cNvPr id="1" name=""/>
        <p:cNvGrpSpPr/>
        <p:nvPr/>
      </p:nvGrpSpPr>
      <p:grpSpPr>
        <a:xfrm>
          <a:off x="0" y="0"/>
          <a:ext cx="0" cy="0"/>
          <a:chOff x="0" y="0"/>
          <a:chExt cx="0" cy="0"/>
        </a:xfrm>
      </p:grpSpPr>
      <p:sp>
        <p:nvSpPr>
          <p:cNvPr id="910" name="Hero Diamond"/>
          <p:cNvSpPr/>
          <p:nvPr userDrawn="1"/>
        </p:nvSpPr>
        <p:spPr>
          <a:xfrm rot="2700000">
            <a:off x="8500000" y="2300000"/>
            <a:ext cx="3300000" cy="3300000"/>
          </a:xfrm>
          <a:prstGeom prst="roundRect">
            <a:avLst>
              <a:gd name="adj" fmla="val 22000"/>
            </a:avLst>
          </a:prstGeom>
          <a:solidFill>
            <a:srgbClr val="2C8F7E"/>
          </a:solidFill>
          <a:ln>
            <a:noFill/>
          </a:ln>
        </p:spPr>
        <p:txBody>
          <a:bodyPr rtlCol="0" anchor="ctr"/>
          <a:lstStyle/>
          <a:p>
            <a:endParaRPr lang="en-US"/>
          </a:p>
        </p:txBody>
      </p:sp>
      <p:sp>
        <p:nvSpPr>
          <p:cNvPr id="911" name="Hero Diamond Inner"/>
          <p:cNvSpPr/>
          <p:nvPr userDrawn="1"/>
        </p:nvSpPr>
        <p:spPr>
          <a:xfrm rot="2700000">
            <a:off x="8850000" y="2650000"/>
            <a:ext cx="2600000" cy="2600000"/>
          </a:xfrm>
          <a:prstGeom prst="roundRect">
            <a:avLst>
              <a:gd name="adj" fmla="val 22000"/>
            </a:avLst>
          </a:prstGeom>
          <a:solidFill>
            <a:srgbClr val="1E9E78"/>
          </a:solidFill>
          <a:ln>
            <a:noFill/>
          </a:ln>
        </p:spPr>
        <p:txBody>
          <a:bodyPr rtlCol="0" anchor="ctr"/>
          <a:lstStyle/>
          <a:p>
            <a:endParaRPr lang="en-US"/>
          </a:p>
        </p:txBody>
      </p:sp>
      <p:sp>
        <p:nvSpPr>
          <p:cNvPr id="912" name="Hero Diamond Outline"/>
          <p:cNvSpPr/>
          <p:nvPr userDrawn="1"/>
        </p:nvSpPr>
        <p:spPr>
          <a:xfrm rot="2700000">
            <a:off x="8200000" y="2000000"/>
            <a:ext cx="3900000" cy="3900000"/>
          </a:xfrm>
          <a:prstGeom prst="roundRect">
            <a:avLst>
              <a:gd name="adj" fmla="val 22000"/>
            </a:avLst>
          </a:prstGeom>
          <a:noFill/>
          <a:ln w="19050">
            <a:solidFill>
              <a:srgbClr val="5FD3A8"/>
            </a:solidFill>
          </a:ln>
        </p:spPr>
        <p:txBody>
          <a:bodyPr rtlCol="0" anchor="ctr"/>
          <a:lstStyle/>
          <a:p>
            <a:endParaRPr lang="en-US"/>
          </a:p>
        </p:txBody>
      </p:sp>
      <p:sp>
        <p:nvSpPr>
          <p:cNvPr id="20" name="Title 19">
            <a:extLst>
              <a:ext uri="{FF2B5EF4-FFF2-40B4-BE49-F238E27FC236}">
                <a16:creationId xmlns:a16="http://schemas.microsoft.com/office/drawing/2014/main" id="{F11A6B65-5A20-4F4D-ACBB-ED50132D4571}"/>
              </a:ext>
            </a:extLst>
          </p:cNvPr>
          <p:cNvSpPr>
            <a:spLocks noGrp="1"/>
          </p:cNvSpPr>
          <p:nvPr>
            <p:ph type="ctrTitle"/>
          </p:nvPr>
        </p:nvSpPr>
        <p:spPr>
          <a:xfrm>
            <a:off x="837235" y="2400000"/>
            <a:ext cx="7300000" cy="1674470"/>
          </a:xfrm>
        </p:spPr>
        <p:txBody>
          <a:bodyPr/>
          <a:lstStyle/>
          <a:p>
            <a:r>
              <a:rPr lang="en-US" dirty="0"/>
              <a:t>Thank you</a:t>
            </a:r>
          </a:p>
        </p:txBody>
      </p:sp>
      <p:sp>
        <p:nvSpPr>
          <p:cNvPr id="903" name="Logo Chip"/>
          <p:cNvSpPr/>
          <p:nvPr/>
        </p:nvSpPr>
        <p:spPr>
          <a:xfrm>
            <a:off x="9477633" y="110572"/>
            <a:ext cx="2612510" cy="728620"/>
          </a:xfrm>
          <a:prstGeom prst="roundRect">
            <a:avLst/>
          </a:prstGeom>
          <a:solidFill>
            <a:srgbClr val="FFFFFF"/>
          </a:solidFill>
          <a:ln>
            <a:noFill/>
          </a:ln>
        </p:spPr>
        <p:txBody>
          <a:bodyPr/>
          <a:lstStyle/>
          <a:p>
            <a:endParaRPr lang="en-US"/>
          </a:p>
        </p:txBody>
      </p:sp>
      <p:pic>
        <p:nvPicPr>
          <p:cNvPr id="3" name="Google Shape;173;p27"/>
          <p:cNvPicPr preferRelativeResize="0"/>
          <p:nvPr/>
        </p:nvPicPr>
        <p:blipFill>
          <a:blip r:embed="rId3">
            <a:alphaModFix/>
          </a:blip>
          <a:stretch>
            <a:fillRect/>
          </a:stretch>
        </p:blipFill>
        <p:spPr>
          <a:xfrm>
            <a:off x="9577633" y="170572"/>
            <a:ext cx="2512510" cy="608620"/>
          </a:xfrm>
          <a:prstGeom prst="rect">
            <a:avLst/>
          </a:prstGeom>
          <a:noFill/>
          <a:ln>
            <a:noFill/>
          </a:ln>
        </p:spPr>
      </p:pic>
    </p:spTree>
    <p:extLst>
      <p:ext uri="{BB962C8B-B14F-4D97-AF65-F5344CB8AC3E}">
        <p14:creationId xmlns:p14="http://schemas.microsoft.com/office/powerpoint/2010/main" val="2979396728"/>
      </p:ext>
    </p:extLst>
  </p:cSld>
  <p:clrMapOvr>
    <a:masterClrMapping/>
  </p:clrMapOvr>
</p:sld>
</file>

<file path=ppt/theme/theme1.xml><?xml version="1.0" encoding="utf-8"?>
<a:theme xmlns:a="http://schemas.openxmlformats.org/drawingml/2006/main" name="Office Theme">
  <a:themeElements>
    <a:clrScheme name="StartUp">
      <a:dk1>
        <a:srgbClr val="22264A"/>
      </a:dk1>
      <a:lt1>
        <a:srgbClr val="FFFFFF"/>
      </a:lt1>
      <a:dk2>
        <a:srgbClr val="2F3460"/>
      </a:dk2>
      <a:lt2>
        <a:srgbClr val="F3F5F9"/>
      </a:lt2>
      <a:accent1>
        <a:srgbClr val="1E9E78"/>
      </a:accent1>
      <a:accent2>
        <a:srgbClr val="F2B632"/>
      </a:accent2>
      <a:accent3>
        <a:srgbClr val="EE6C3B"/>
      </a:accent3>
      <a:accent4>
        <a:srgbClr val="4A8FD9"/>
      </a:accent4>
      <a:accent5>
        <a:srgbClr val="7B5EA7"/>
      </a:accent5>
      <a:accent6>
        <a:srgbClr val="5FD3A8"/>
      </a:accent6>
      <a:hlink>
        <a:srgbClr val="1E9E78"/>
      </a:hlink>
      <a:folHlink>
        <a:srgbClr val="7B5EA7"/>
      </a:folHlink>
    </a:clrScheme>
    <a:fontScheme name="Custom 154">
      <a:majorFont>
        <a:latin typeface="Arial"/>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67328976_Minimalist presentation_RVA_v4" id="{DA616D2A-CFEC-48D2-90FC-DF66CF8D2F8A}" vid="{8F2838F8-33B8-457C-9B19-1E5863B0E0DE}"/>
    </a:ext>
  </a:extLst>
</a:theme>
</file>

<file path=ppt/theme/theme2.xml><?xml version="1.0" encoding="utf-8"?>
<a:theme xmlns:a="http://schemas.openxmlformats.org/drawingml/2006/main" name="Start Up Lab">
  <a:themeElements>
    <a:clrScheme name="Start Up Lab">
      <a:dk1>
        <a:srgbClr val="1F2236"/>
      </a:dk1>
      <a:lt1>
        <a:srgbClr val="FFFFFF"/>
      </a:lt1>
      <a:dk2>
        <a:srgbClr val="343857"/>
      </a:dk2>
      <a:lt2>
        <a:srgbClr val="EEF0F4"/>
      </a:lt2>
      <a:accent1>
        <a:srgbClr val="1E9E7F"/>
      </a:accent1>
      <a:accent2>
        <a:srgbClr val="5CCB8C"/>
      </a:accent2>
      <a:accent3>
        <a:srgbClr val="F4B400"/>
      </a:accent3>
      <a:accent4>
        <a:srgbClr val="F28A30"/>
      </a:accent4>
      <a:accent5>
        <a:srgbClr val="3B82C4"/>
      </a:accent5>
      <a:accent6>
        <a:srgbClr val="E5484D"/>
      </a:accent6>
      <a:hlink>
        <a:srgbClr val="0B7A75"/>
      </a:hlink>
      <a:folHlink>
        <a:srgbClr val="5B6B8C"/>
      </a:folHlink>
    </a:clrScheme>
    <a:fontScheme name="Start Up Lab">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323504-CBC8-4A2F-BF86-8DF0D94D4A3D}">
  <ds:schemaRefs>
    <ds:schemaRef ds:uri="http://schemas.microsoft.com/sharepoint/v3/contenttype/forms"/>
  </ds:schemaRefs>
</ds:datastoreItem>
</file>

<file path=customXml/itemProps2.xml><?xml version="1.0" encoding="utf-8"?>
<ds:datastoreItem xmlns:ds="http://schemas.openxmlformats.org/officeDocument/2006/customXml" ds:itemID="{96100F67-BC3D-46B4-8D39-802DC9D7F2EB}">
  <ds:schemaRefs>
    <ds:schemaRef ds:uri="http://purl.org/dc/elements/1.1/"/>
    <ds:schemaRef ds:uri="http://purl.org/dc/terms/"/>
    <ds:schemaRef ds:uri="71af3243-3dd4-4a8d-8c0d-dd76da1f02a5"/>
    <ds:schemaRef ds:uri="http://purl.org/dc/dcmitype/"/>
    <ds:schemaRef ds:uri="http://schemas.openxmlformats.org/package/2006/metadata/core-properties"/>
    <ds:schemaRef ds:uri="16c05727-aa75-4e4a-9b5f-8a80a1165891"/>
    <ds:schemaRef ds:uri="http://schemas.microsoft.com/office/2006/documentManagement/types"/>
    <ds:schemaRef ds:uri="http://schemas.microsoft.com/office/infopath/2007/PartnerControl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853D8350-BC36-420E-83B3-2CFFF4E97F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Minimalist presentation</Template>
  <TotalTime>25</TotalTime>
  <Words>3392</Words>
  <Application>Microsoft Office PowerPoint</Application>
  <PresentationFormat>Widescreen</PresentationFormat>
  <Paragraphs>537</Paragraphs>
  <Slides>43</Slides>
  <Notes>43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43</vt:i4>
      </vt:variant>
    </vt:vector>
  </HeadingPairs>
  <TitlesOfParts>
    <vt:vector size="51" baseType="lpstr">
      <vt:lpstr>Aptos</vt:lpstr>
      <vt:lpstr>Arial</vt:lpstr>
      <vt:lpstr>Calibri</vt:lpstr>
      <vt:lpstr>Consolas</vt:lpstr>
      <vt:lpstr>Times New Roman</vt:lpstr>
      <vt:lpstr>Wingdings</vt:lpstr>
      <vt:lpstr>Office Theme</vt:lpstr>
      <vt:lpstr>Start Up Lab</vt:lpstr>
      <vt:lpstr>DART PROGRAMMING SYNTAX</vt:lpstr>
      <vt:lpstr>PowerPoint Presentation</vt:lpstr>
      <vt:lpstr>MAIN FUNCTION main()</vt:lpstr>
      <vt:lpstr>MAIN FUNCTION main()</vt:lpstr>
      <vt:lpstr>MAIN FUNCTION main()</vt:lpstr>
      <vt:lpstr>Add the Information to Dart Program</vt:lpstr>
      <vt:lpstr>Dart Variables</vt:lpstr>
      <vt:lpstr>Dart Variables</vt:lpstr>
      <vt:lpstr>Dart Data Types</vt:lpstr>
      <vt:lpstr>Dart Data Types</vt:lpstr>
      <vt:lpstr>Dart Data Types</vt:lpstr>
      <vt:lpstr>Dart Data Types</vt:lpstr>
      <vt:lpstr>Dart Data Types</vt:lpstr>
      <vt:lpstr>Dart Data Types</vt:lpstr>
      <vt:lpstr>Dart Data Types</vt:lpstr>
      <vt:lpstr>Dart Data Types</vt:lpstr>
      <vt:lpstr>Dart Data Types</vt:lpstr>
      <vt:lpstr>Dart Data Types</vt:lpstr>
      <vt:lpstr>Dart Data Types</vt:lpstr>
      <vt:lpstr>Dart Data Types</vt:lpstr>
      <vt:lpstr>Dart Data Types</vt:lpstr>
      <vt:lpstr>Input of Information to Dart Program</vt:lpstr>
      <vt:lpstr>Dart Conditional Operators</vt:lpstr>
      <vt:lpstr>Dart Conditional Operators</vt:lpstr>
      <vt:lpstr>Dart Conditional Operators</vt:lpstr>
      <vt:lpstr>Dart Conditional Operators</vt:lpstr>
      <vt:lpstr>Dart Conditional Operators</vt:lpstr>
      <vt:lpstr>Dart Conditional Operators</vt:lpstr>
      <vt:lpstr>If Statement</vt:lpstr>
      <vt:lpstr>Else If Statement</vt:lpstr>
      <vt:lpstr>Else If Statement</vt:lpstr>
      <vt:lpstr>If logic Statement</vt:lpstr>
      <vt:lpstr>If logic Statement</vt:lpstr>
      <vt:lpstr>For Loops</vt:lpstr>
      <vt:lpstr>WHILE Loops</vt:lpstr>
      <vt:lpstr>Do WHILE Loops</vt:lpstr>
      <vt:lpstr>Break Statements</vt:lpstr>
      <vt:lpstr>Switch Case Statement</vt:lpstr>
      <vt:lpstr>Lab 2: Create a Pizza Order Program</vt:lpstr>
      <vt:lpstr>Lab 2: Create a Pizza Order Program</vt:lpstr>
      <vt:lpstr>Lab 2: Create a Pizza Order Program</vt:lpstr>
      <vt:lpstr>Any 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RAYNOLD ANAK KABAI</cp:lastModifiedBy>
  <cp:revision>2</cp:revision>
  <dcterms:created xsi:type="dcterms:W3CDTF">2025-10-18T07:49:07Z</dcterms:created>
  <dcterms:modified xsi:type="dcterms:W3CDTF">2026-10-05T02:39:13Z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