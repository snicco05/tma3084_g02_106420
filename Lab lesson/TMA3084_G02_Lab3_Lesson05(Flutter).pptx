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1BA30D-CF7F-47B8-AF26-146710331E0A}">
  <a:tblStyle styleId="{EB1BA30D-CF7F-47B8-AF26-146710331E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9" name="Google Shape;109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6" name="Google Shape;113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5" name="Google Shape;122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4" name="Google Shape;129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4" name="Google Shape;132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2" name="Google Shape;137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3" name="Google Shape;141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22960" y="201168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2F4F7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TMA3084 · Software Engineering Laboratory · Lab 03 · Lesson 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7863840" y="64282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Mr. Raynold Anak Kabai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b="1" i="0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38.png"/><Relationship Id="rId11" Type="http://schemas.openxmlformats.org/officeDocument/2006/relationships/image" Target="../media/image20.png"/><Relationship Id="rId10" Type="http://schemas.openxmlformats.org/officeDocument/2006/relationships/image" Target="../media/image16.png"/><Relationship Id="rId12" Type="http://schemas.openxmlformats.org/officeDocument/2006/relationships/image" Target="../media/image19.png"/><Relationship Id="rId9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Relationship Id="rId8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5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Relationship Id="rId4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Relationship Id="rId4" Type="http://schemas.openxmlformats.org/officeDocument/2006/relationships/image" Target="../media/image34.png"/><Relationship Id="rId5" Type="http://schemas.openxmlformats.org/officeDocument/2006/relationships/image" Target="../media/image43.png"/><Relationship Id="rId6" Type="http://schemas.openxmlformats.org/officeDocument/2006/relationships/image" Target="../media/image59.png"/><Relationship Id="rId7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1.png"/><Relationship Id="rId4" Type="http://schemas.openxmlformats.org/officeDocument/2006/relationships/image" Target="../media/image4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4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48.png"/><Relationship Id="rId6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22960" y="201168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Lesson 5: Flutter Widgets Fundamentals</a:t>
            </a:r>
            <a:endParaRPr sz="4400"/>
          </a:p>
        </p:txBody>
      </p:sp>
      <p:sp>
        <p:nvSpPr>
          <p:cNvPr id="25" name="Google Shape;25;p5"/>
          <p:cNvSpPr/>
          <p:nvPr/>
        </p:nvSpPr>
        <p:spPr>
          <a:xfrm rot="2700000">
            <a:off x="7955280" y="822960"/>
            <a:ext cx="4206240" cy="4206240"/>
          </a:xfrm>
          <a:prstGeom prst="roundRect">
            <a:avLst>
              <a:gd fmla="val 12000" name="adj"/>
            </a:avLst>
          </a:prstGeom>
          <a:solidFill>
            <a:srgbClr val="2E9E8F">
              <a:alpha val="80000"/>
            </a:srgbClr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 rot="2700000">
            <a:off x="8366760" y="1234440"/>
            <a:ext cx="3383280" cy="3383280"/>
          </a:xfrm>
          <a:prstGeom prst="roundRect">
            <a:avLst>
              <a:gd fmla="val 12000" name="adj"/>
            </a:avLst>
          </a:prstGeom>
          <a:solidFill>
            <a:srgbClr val="3CC48A">
              <a:alpha val="30196"/>
            </a:srgbClr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idget cube icon" id="27" name="Google Shape;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0" y="22402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/>
        </p:nvSpPr>
        <p:spPr>
          <a:xfrm>
            <a:off x="822960" y="146304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DE0B5"/>
                </a:solidFill>
                <a:latin typeface="Calibri"/>
                <a:ea typeface="Calibri"/>
                <a:cs typeface="Calibri"/>
                <a:sym typeface="Calibri"/>
              </a:rPr>
              <a:t>WEEK 5 · LAB 03 · 19 – 25 OCT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822960" y="370332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6EAF5"/>
                </a:solidFill>
                <a:latin typeface="Calibri"/>
                <a:ea typeface="Calibri"/>
                <a:cs typeface="Calibri"/>
                <a:sym typeface="Calibri"/>
              </a:rPr>
              <a:t>TMA3084 – Software Engineering Laboratory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822960" y="457200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2C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9B2CF"/>
                </a:solidFill>
                <a:latin typeface="Calibri"/>
                <a:ea typeface="Calibri"/>
                <a:cs typeface="Calibri"/>
                <a:sym typeface="Calibri"/>
              </a:rPr>
              <a:t>Lab Demo: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Mr. Raynold Anak Kabai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822960" y="502920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2C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9B2CF"/>
                </a:solidFill>
                <a:latin typeface="Calibri"/>
                <a:ea typeface="Calibri"/>
                <a:cs typeface="Calibri"/>
                <a:sym typeface="Calibri"/>
              </a:rPr>
              <a:t>Lecturer: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Madam Nurfauza Binti Jali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LESSON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What we will cover</a:t>
            </a:r>
            <a:endParaRPr sz="3200"/>
          </a:p>
        </p:txBody>
      </p:sp>
      <p:sp>
        <p:nvSpPr>
          <p:cNvPr id="39" name="Google Shape;39;p6"/>
          <p:cNvSpPr/>
          <p:nvPr/>
        </p:nvSpPr>
        <p:spPr>
          <a:xfrm>
            <a:off x="548640" y="160020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 rot="2700000">
            <a:off x="731520" y="187452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594360" y="192938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146304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Widgets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1463040" y="225856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Scaffold, Image, Container, Column and Row, Icon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297680" y="160020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 rot="2700000">
            <a:off x="4480560" y="187452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4343400" y="192938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521208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Layouts in Flutter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5212080" y="225856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Padding, margin and alignment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046720" y="160020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 rot="2700000">
            <a:off x="8229600" y="187452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 txBox="1"/>
          <p:nvPr/>
        </p:nvSpPr>
        <p:spPr>
          <a:xfrm>
            <a:off x="8092440" y="192938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896112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Card Widget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8961120" y="225856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Elevation, shape and child layout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548640" y="315468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 rot="2700000">
            <a:off x="731520" y="34290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594360" y="348386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1463040" y="3337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 Icons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1463040" y="381304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iOS and Android launcher icons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297680" y="315468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 rot="2700000">
            <a:off x="4480560" y="34290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4343400" y="348386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5212080" y="3337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Hot Reload and Hot Restart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5212080" y="381304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Fast feedback while coding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046720" y="315468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 rot="2700000">
            <a:off x="8229600" y="34290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 txBox="1"/>
          <p:nvPr/>
        </p:nvSpPr>
        <p:spPr>
          <a:xfrm>
            <a:off x="8092440" y="348386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8961120" y="3337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Stateful and Stateless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8961120" y="381304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Static vs interactive widgets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48640" y="470916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 rot="2700000">
            <a:off x="731520" y="49834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594360" y="503834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463040" y="48920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a Custom Font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1463040" y="536752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pubspec fonts and google_fonts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297680" y="470916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 rot="2700000">
            <a:off x="4480560" y="49834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4343400" y="503834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5212080" y="48920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GitHub &amp; CI/CD (Part 3)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5212080" y="536752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flutter analyze, dart format, ci.yml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046720" y="470916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 rot="2700000">
            <a:off x="8229600" y="49834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8092440" y="503834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8961120" y="48920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Lab Exercise 3.1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8961120" y="536752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Restaurant Menu through a PR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What is a Widget in Flutter</a:t>
            </a:r>
            <a:endParaRPr sz="3200"/>
          </a:p>
        </p:txBody>
      </p:sp>
      <p:sp>
        <p:nvSpPr>
          <p:cNvPr id="92" name="Google Shape;92;p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building block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9110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 txBox="1"/>
          <p:nvPr/>
        </p:nvSpPr>
        <p:spPr>
          <a:xfrm>
            <a:off x="1234440" y="173736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building block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1234440" y="2011680"/>
            <a:ext cx="4434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widget is a small piece of the user interface.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verything is a widget" id="99" name="Google Shape;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323697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 txBox="1"/>
          <p:nvPr/>
        </p:nvSpPr>
        <p:spPr>
          <a:xfrm>
            <a:off x="1234440" y="306324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Everything is a widget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1234440" y="3337560"/>
            <a:ext cx="4434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Buttons, text, images, app bars, rows and columns.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idgets form a tree" id="103" name="Google Shape;1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5628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 txBox="1"/>
          <p:nvPr/>
        </p:nvSpPr>
        <p:spPr>
          <a:xfrm>
            <a:off x="1234440" y="438912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Widgets form a tree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1234440" y="4663440"/>
            <a:ext cx="4434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whole app is many small widgets nested together.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035040" y="1600200"/>
            <a:ext cx="562356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7635240" y="1828800"/>
            <a:ext cx="2423160" cy="457200"/>
          </a:xfrm>
          <a:prstGeom prst="roundRect">
            <a:avLst>
              <a:gd fmla="val 2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7635240" y="18288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MaterialApp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7635240" y="2743200"/>
            <a:ext cx="2423160" cy="457200"/>
          </a:xfrm>
          <a:prstGeom prst="roundRect">
            <a:avLst>
              <a:gd fmla="val 20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7635240" y="27432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355080" y="3794760"/>
            <a:ext cx="2103120" cy="457200"/>
          </a:xfrm>
          <a:prstGeom prst="roundRect">
            <a:avLst>
              <a:gd fmla="val 200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6355080" y="37947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AppBar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235440" y="3794760"/>
            <a:ext cx="2103120" cy="457200"/>
          </a:xfrm>
          <a:prstGeom prst="roundRect">
            <a:avLst>
              <a:gd fmla="val 200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9235440" y="37947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9235440" y="4892040"/>
            <a:ext cx="2103120" cy="457200"/>
          </a:xfrm>
          <a:prstGeom prst="roundRect">
            <a:avLst>
              <a:gd fmla="val 20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9235440" y="48920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438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355080" y="4892040"/>
            <a:ext cx="2103120" cy="457200"/>
          </a:xfrm>
          <a:prstGeom prst="roundRect">
            <a:avLst>
              <a:gd fmla="val 20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6355080" y="48920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438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7"/>
          <p:cNvCxnSpPr/>
          <p:nvPr/>
        </p:nvCxnSpPr>
        <p:spPr>
          <a:xfrm>
            <a:off x="8846820" y="22860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7"/>
          <p:cNvCxnSpPr/>
          <p:nvPr/>
        </p:nvCxnSpPr>
        <p:spPr>
          <a:xfrm>
            <a:off x="8846820" y="3200400"/>
            <a:ext cx="0" cy="292608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7"/>
          <p:cNvCxnSpPr/>
          <p:nvPr/>
        </p:nvCxnSpPr>
        <p:spPr>
          <a:xfrm>
            <a:off x="7406640" y="3493008"/>
            <a:ext cx="2880360" cy="0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7"/>
          <p:cNvCxnSpPr/>
          <p:nvPr/>
        </p:nvCxnSpPr>
        <p:spPr>
          <a:xfrm>
            <a:off x="7406640" y="3493008"/>
            <a:ext cx="0" cy="301752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7"/>
          <p:cNvCxnSpPr/>
          <p:nvPr/>
        </p:nvCxnSpPr>
        <p:spPr>
          <a:xfrm>
            <a:off x="10287000" y="3493008"/>
            <a:ext cx="0" cy="301752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7"/>
          <p:cNvCxnSpPr/>
          <p:nvPr/>
        </p:nvCxnSpPr>
        <p:spPr>
          <a:xfrm>
            <a:off x="7406640" y="4251960"/>
            <a:ext cx="0" cy="640080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7"/>
          <p:cNvCxnSpPr/>
          <p:nvPr/>
        </p:nvCxnSpPr>
        <p:spPr>
          <a:xfrm>
            <a:off x="10287000" y="4251960"/>
            <a:ext cx="0" cy="640080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SCAFFOLD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Scaffold Widget</a:t>
            </a:r>
            <a:endParaRPr sz="3200"/>
          </a:p>
        </p:txBody>
      </p:sp>
      <p:sp>
        <p:nvSpPr>
          <p:cNvPr id="134" name="Google Shape;134;p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 base structure (skeleton) of a Flutter screen. It gives the Material Design page layout, so nothing is built from scratch.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48640" y="24231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822960" y="2697480"/>
            <a:ext cx="731520" cy="7315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pBar"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880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/>
          <p:nvPr/>
        </p:nvSpPr>
        <p:spPr>
          <a:xfrm>
            <a:off x="173736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AppBar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737360" y="31729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Top bar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297680" y="24231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572000" y="2697480"/>
            <a:ext cx="731520" cy="73152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dy"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880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 txBox="1"/>
          <p:nvPr/>
        </p:nvSpPr>
        <p:spPr>
          <a:xfrm>
            <a:off x="548640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5486400" y="31729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Main content area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046720" y="24231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8321040" y="2697480"/>
            <a:ext cx="731520" cy="7315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loatingActionButton" id="149" name="Google Shape;1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0" y="2880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/>
        </p:nvSpPr>
        <p:spPr>
          <a:xfrm>
            <a:off x="923544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FloatingActionButton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9235440" y="31729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Primary 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8640" y="42519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822960" y="4526280"/>
            <a:ext cx="731520" cy="73152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rawer" id="154" name="Google Shape;15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840" y="4709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1737360" y="45262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Drawer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737360" y="50017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Navigation panel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297680" y="42519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572000" y="4526280"/>
            <a:ext cx="731520" cy="7315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ttomNavigationBar" id="159" name="Google Shape;15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4709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5486400" y="45262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BottomNavigationBar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5486400" y="50017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Bottom tabs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8046720" y="42519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8321040" y="4526280"/>
            <a:ext cx="731520" cy="73152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nackBar" id="164" name="Google Shape;16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3920" y="4709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 txBox="1"/>
          <p:nvPr/>
        </p:nvSpPr>
        <p:spPr>
          <a:xfrm>
            <a:off x="9235440" y="45262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SnackBar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9235440" y="50017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Short message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SCAFFOLD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Create the Scaffold project</a:t>
            </a:r>
            <a:endParaRPr sz="3200"/>
          </a:p>
        </p:txBody>
      </p:sp>
      <p:sp>
        <p:nvSpPr>
          <p:cNvPr id="175" name="Google Shape;175;p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8640" y="164592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 rot="2700000">
            <a:off x="749808" y="18288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603504" y="190195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508760" y="164592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Install the Flutter extension in VS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217920" y="164592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 rot="2700000">
            <a:off x="6419088" y="18288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6272784" y="190195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7178040" y="164592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Ctrl + Shift + P, then Flutter: New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48640" y="274320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 rot="2700000">
            <a:off x="749808" y="29260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603504" y="299923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1508760" y="27432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Choose Application and the Lesson_05 folder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217920" y="274320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 rot="2700000">
            <a:off x="6419088" y="29260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6272784" y="299923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7178040" y="27432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Project name: lab_03_lesson_05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48640" y="384048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 rot="2700000">
            <a:off x="749808" y="402336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603504" y="409651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1508760" y="384048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Platforms: Android and iOS (add Web for Chrome)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217920" y="384048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 rot="2700000">
            <a:off x="6419088" y="402336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6272784" y="409651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7178040" y="384048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 lib/main.dart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48640" y="493776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 rot="2700000">
            <a:off x="749808" y="512064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603504" y="519379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508760" y="493776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Paste the code and pick Chrome in the status bar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217920" y="493776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 rot="2700000">
            <a:off x="6419088" y="512064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6272784" y="519379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7178040" y="493776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Press F5 (Run and Debug)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SCAFFOLD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Scaffold: the app entry point</a:t>
            </a:r>
            <a:endParaRPr sz="3200"/>
          </a:p>
        </p:txBody>
      </p:sp>
      <p:sp>
        <p:nvSpPr>
          <p:cNvPr id="217" name="Google Shape;217;p10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48640" y="1554480"/>
            <a:ext cx="7680960" cy="4021531"/>
          </a:xfrm>
          <a:prstGeom prst="roundRect">
            <a:avLst>
              <a:gd fmla="val 272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777240" y="2011680"/>
            <a:ext cx="7315200" cy="34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'package:flutter/material.dart'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main()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runApp(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MyApp());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MyApp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MyApp({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This widget is the root of your application.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MaterialApp(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title: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'Scaffold Example'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theme: ThemeData(primarySwatch: Colors.blue),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home: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MyHomePage(),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8869680" y="1874520"/>
            <a:ext cx="2468880" cy="45720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886968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Scaffold Example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8961120" y="24688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Hello, world!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SCAFFOLD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Scaffold: AppBar, Body and Center</a:t>
            </a:r>
            <a:endParaRPr sz="3200"/>
          </a:p>
        </p:txBody>
      </p:sp>
      <p:sp>
        <p:nvSpPr>
          <p:cNvPr id="239" name="Google Shape;239;p1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48640" y="1554480"/>
            <a:ext cx="7680960" cy="3670402"/>
          </a:xfrm>
          <a:prstGeom prst="roundRect">
            <a:avLst>
              <a:gd fmla="val 299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777240" y="2011680"/>
            <a:ext cx="7315200" cy="312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Scaffold(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appBar: AppBar(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'This is App Bar'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centerTitle: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backgroundColor: Colors.blueAccent,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body: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'This is the Body'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8869680" y="1874520"/>
            <a:ext cx="2468880" cy="457200"/>
          </a:xfrm>
          <a:prstGeom prst="rect">
            <a:avLst/>
          </a:prstGeom>
          <a:solidFill>
            <a:srgbClr val="448AFF"/>
          </a:solidFill>
          <a:ln cap="flat" cmpd="sng" w="12700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886968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App Bar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8869680" y="36576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This is the Body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Image Widget</a:t>
            </a:r>
            <a:endParaRPr sz="3200"/>
          </a:p>
        </p:txBody>
      </p:sp>
      <p:sp>
        <p:nvSpPr>
          <p:cNvPr id="261" name="Google Shape;261;p1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Displays pictures in the app. Flutter supports JPEG, PNG, GIF, animated GIF, WebP, animated WebP, BMP and WBMP.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48640" y="2331720"/>
            <a:ext cx="5394960" cy="38404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822960" y="2606040"/>
            <a:ext cx="685800" cy="68580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network()" id="266" name="Google Shape;2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6" y="2779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 txBox="1"/>
          <p:nvPr/>
        </p:nvSpPr>
        <p:spPr>
          <a:xfrm>
            <a:off x="1691640" y="2587752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Image.network()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1691640" y="29992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Loads a picture from the internet.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914400" y="3566160"/>
            <a:ext cx="46634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Open the website with the picture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Right-click, Open image in new tab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Copy the URL from the address bar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Paste it inside Image.network()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217920" y="2331720"/>
            <a:ext cx="5394960" cy="38404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6492240" y="2606040"/>
            <a:ext cx="685800" cy="68580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asset()" id="272" name="Google Shape;2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5976" y="2779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 txBox="1"/>
          <p:nvPr/>
        </p:nvSpPr>
        <p:spPr>
          <a:xfrm>
            <a:off x="7360920" y="2587752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Image.asset()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7360920" y="29992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Loads a picture stored in the project.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6583680" y="3566160"/>
            <a:ext cx="46634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Create the folder assets/images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Copy your image file into 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Register the path in pubspec.yaml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Call Image.asset() with the path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Image.network()</a:t>
            </a:r>
            <a:endParaRPr sz="3200"/>
          </a:p>
        </p:txBody>
      </p:sp>
      <p:sp>
        <p:nvSpPr>
          <p:cNvPr id="284" name="Google Shape;284;p13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48640" y="1554480"/>
            <a:ext cx="7680960" cy="1563624"/>
          </a:xfrm>
          <a:prstGeom prst="roundRect">
            <a:avLst>
              <a:gd fmla="val 7018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777240" y="2011680"/>
            <a:ext cx="73152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Image.network(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'https: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//flutter.github.io/assets-for-api-docs/assets/widgets/owl.jpg',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placeholder"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480" y="32918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 txBox="1"/>
          <p:nvPr/>
        </p:nvSpPr>
        <p:spPr>
          <a:xfrm>
            <a:off x="8869680" y="4480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Image widget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Image.asset()</a:t>
            </a:r>
            <a:endParaRPr sz="3200"/>
          </a:p>
        </p:txBody>
      </p:sp>
      <p:sp>
        <p:nvSpPr>
          <p:cNvPr id="305" name="Google Shape;305;p14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548640" y="1554480"/>
            <a:ext cx="7680960" cy="1212494"/>
          </a:xfrm>
          <a:prstGeom prst="roundRect">
            <a:avLst>
              <a:gd fmla="val 905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pubspec.yaml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777240" y="2011680"/>
            <a:ext cx="7315200" cy="663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/images/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548640" y="3337560"/>
            <a:ext cx="7680960" cy="1914754"/>
          </a:xfrm>
          <a:prstGeom prst="roundRect">
            <a:avLst>
              <a:gd fmla="val 5731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749808" y="34930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950976" y="34930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1152144" y="34930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1463040" y="342900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777240" y="3794760"/>
            <a:ext cx="7315200" cy="13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Image.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'assets/images/logo.png'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width: 400,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height: 400,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placeholder" id="321" name="Google Shape;3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480" y="32918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4"/>
          <p:cNvSpPr txBox="1"/>
          <p:nvPr/>
        </p:nvSpPr>
        <p:spPr>
          <a:xfrm>
            <a:off x="8869680" y="4480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Image widget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Container Widget</a:t>
            </a:r>
            <a:endParaRPr sz="3200"/>
          </a:p>
        </p:txBody>
      </p:sp>
      <p:sp>
        <p:nvSpPr>
          <p:cNvPr id="332" name="Google Shape;332;p15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One of the most used widgets. It sizes, decorates and positions a single child widget.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" name="Google Shape;335;p15"/>
          <p:cNvGraphicFramePr/>
          <p:nvPr/>
        </p:nvGraphicFramePr>
        <p:xfrm>
          <a:off x="54864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{EB1BA30D-CF7F-47B8-AF26-146710331E0A}</a:tableStyleId>
              </a:tblPr>
              <a:tblGrid>
                <a:gridCol w="2103125"/>
                <a:gridCol w="457200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9E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9E8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width, height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Define the size of the container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color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Sets the background color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padding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space inside the container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margin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space outside the container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alignment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Positions the child widget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decoration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borders, rounded corners or background images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336" name="Google Shape;336;p15"/>
          <p:cNvSpPr/>
          <p:nvPr/>
        </p:nvSpPr>
        <p:spPr>
          <a:xfrm>
            <a:off x="7589520" y="2194560"/>
            <a:ext cx="4069080" cy="3584448"/>
          </a:xfrm>
          <a:prstGeom prst="roundRect">
            <a:avLst>
              <a:gd fmla="val 306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 txBox="1"/>
          <p:nvPr/>
        </p:nvSpPr>
        <p:spPr>
          <a:xfrm>
            <a:off x="7818120" y="23317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Container as the parent when you need to control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7818120" y="301752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Width and height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Background color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Padding and margin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Borders or shapes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Alignment of content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Container: size, margin and decoration</a:t>
            </a:r>
            <a:endParaRPr sz="3200"/>
          </a:p>
        </p:txBody>
      </p:sp>
      <p:sp>
        <p:nvSpPr>
          <p:cNvPr id="347" name="Google Shape;347;p16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548640" y="1554480"/>
            <a:ext cx="7680960" cy="3845966"/>
          </a:xfrm>
          <a:prstGeom prst="roundRect">
            <a:avLst>
              <a:gd fmla="val 285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 txBox="1"/>
          <p:nvPr/>
        </p:nvSpPr>
        <p:spPr>
          <a:xfrm>
            <a:off x="777240" y="2011680"/>
            <a:ext cx="7315200" cy="3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Container(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width: 200,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height: 100,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EdgeInsets.all(30),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margin: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EdgeInsets.only(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left: 20, top: 80, right: 20, bottom: 30,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alignment: 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decoration: BoxDecoration(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borderRadius: BorderRadius.circular(20),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border: Border.all(color: Colors.red, width: 6),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 Flutter!'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style: TextStyle(fontSize: 20, color: Colors.white),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9189720" y="2560320"/>
            <a:ext cx="1828800" cy="960120"/>
          </a:xfrm>
          <a:prstGeom prst="roundRect">
            <a:avLst>
              <a:gd fmla="val 19048" name="adj"/>
            </a:avLst>
          </a:prstGeom>
          <a:solidFill>
            <a:srgbClr val="2196F3"/>
          </a:solidFill>
          <a:ln cap="flat" cmpd="sng" w="508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 txBox="1"/>
          <p:nvPr/>
        </p:nvSpPr>
        <p:spPr>
          <a:xfrm>
            <a:off x="9189720" y="256032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Hello Flutter!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ROW AND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Row and Column Widgets</a:t>
            </a:r>
            <a:endParaRPr sz="3200"/>
          </a:p>
        </p:txBody>
      </p:sp>
      <p:sp>
        <p:nvSpPr>
          <p:cNvPr id="368" name="Google Shape;368;p1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Container holds one child. Row and Column hold many children and arrange them in a line.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548640" y="2240280"/>
            <a:ext cx="5440680" cy="38404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6217920" y="2240280"/>
            <a:ext cx="5440680" cy="38404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822960" y="288036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Horizontal. Arranges children from left to right.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1097280" y="4023360"/>
            <a:ext cx="1188720" cy="1188720"/>
          </a:xfrm>
          <a:prstGeom prst="roundRect">
            <a:avLst>
              <a:gd fmla="val 7692" name="adj"/>
            </a:avLst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1097280" y="402336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2560320" y="4023360"/>
            <a:ext cx="1188720" cy="1188720"/>
          </a:xfrm>
          <a:prstGeom prst="roundRect">
            <a:avLst>
              <a:gd fmla="val 7692" name="adj"/>
            </a:avLst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2560320" y="402336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4023360" y="4023360"/>
            <a:ext cx="1188720" cy="1188720"/>
          </a:xfrm>
          <a:prstGeom prst="roundRect">
            <a:avLst>
              <a:gd fmla="val 7692" name="adj"/>
            </a:avLst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4023360" y="402336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649224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 txBox="1"/>
          <p:nvPr/>
        </p:nvSpPr>
        <p:spPr>
          <a:xfrm>
            <a:off x="6492240" y="288036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Vertical. Arranges children from top to bottom.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8229600" y="3520440"/>
            <a:ext cx="1463040" cy="685800"/>
          </a:xfrm>
          <a:prstGeom prst="roundRect">
            <a:avLst>
              <a:gd fmla="val 13333" name="adj"/>
            </a:avLst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 txBox="1"/>
          <p:nvPr/>
        </p:nvSpPr>
        <p:spPr>
          <a:xfrm>
            <a:off x="8229600" y="352044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8229600" y="4343400"/>
            <a:ext cx="1463040" cy="685800"/>
          </a:xfrm>
          <a:prstGeom prst="roundRect">
            <a:avLst>
              <a:gd fmla="val 13333" name="adj"/>
            </a:avLst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 txBox="1"/>
          <p:nvPr/>
        </p:nvSpPr>
        <p:spPr>
          <a:xfrm>
            <a:off x="8229600" y="434340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8229600" y="5166360"/>
            <a:ext cx="1463040" cy="685800"/>
          </a:xfrm>
          <a:prstGeom prst="roundRect">
            <a:avLst>
              <a:gd fmla="val 13333" name="adj"/>
            </a:avLst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 txBox="1"/>
          <p:nvPr/>
        </p:nvSpPr>
        <p:spPr>
          <a:xfrm>
            <a:off x="8229600" y="51663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ROW AND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Column widget</a:t>
            </a:r>
            <a:endParaRPr sz="3200"/>
          </a:p>
        </p:txBody>
      </p:sp>
      <p:sp>
        <p:nvSpPr>
          <p:cNvPr id="397" name="Google Shape;397;p1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548640" y="1554480"/>
            <a:ext cx="7680960" cy="2265883"/>
          </a:xfrm>
          <a:prstGeom prst="roundRect">
            <a:avLst>
              <a:gd fmla="val 484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 txBox="1"/>
          <p:nvPr/>
        </p:nvSpPr>
        <p:spPr>
          <a:xfrm>
            <a:off x="777240" y="2011680"/>
            <a:ext cx="7315200" cy="1717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Column(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mainAxisAlignment: MainAxisAlignment.center,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crossAxisAlignment: CrossAxisAlignment.end,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'I am'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'A Column Widget!'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 txBox="1"/>
          <p:nvPr/>
        </p:nvSpPr>
        <p:spPr>
          <a:xfrm>
            <a:off x="8961120" y="33375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Hello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 txBox="1"/>
          <p:nvPr/>
        </p:nvSpPr>
        <p:spPr>
          <a:xfrm>
            <a:off x="8961120" y="3703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I 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 txBox="1"/>
          <p:nvPr/>
        </p:nvSpPr>
        <p:spPr>
          <a:xfrm>
            <a:off x="8961120" y="40690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A Column Widget!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ROW AND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Row widget</a:t>
            </a:r>
            <a:endParaRPr sz="3200"/>
          </a:p>
        </p:txBody>
      </p:sp>
      <p:sp>
        <p:nvSpPr>
          <p:cNvPr id="419" name="Google Shape;419;p1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548640" y="1554480"/>
            <a:ext cx="7680960" cy="2617013"/>
          </a:xfrm>
          <a:prstGeom prst="roundRect">
            <a:avLst>
              <a:gd fmla="val 419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9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 txBox="1"/>
          <p:nvPr/>
        </p:nvSpPr>
        <p:spPr>
          <a:xfrm>
            <a:off x="777240" y="2011680"/>
            <a:ext cx="7315200" cy="2068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Row(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mainAxisAlignment: MainAxisAlignment.center,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crossAxisAlignment: CrossAxisAlignment.center,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Icon(Icons.star, color: Colors.orange, size: 40),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SizedBox(width: 30),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'Row Widget'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SizedBox(width: 30),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Icon(Icons.home, color: Colors.blue, size: 40),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tar icon" id="429" name="Google Shape;4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0" y="36850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9"/>
          <p:cNvSpPr txBox="1"/>
          <p:nvPr/>
        </p:nvSpPr>
        <p:spPr>
          <a:xfrm>
            <a:off x="9326880" y="36576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Row Widget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me icon" id="431" name="Google Shape;4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7080" y="36850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9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ICON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Icon Widget</a:t>
            </a:r>
            <a:endParaRPr sz="3200"/>
          </a:p>
        </p:txBody>
      </p:sp>
      <p:sp>
        <p:nvSpPr>
          <p:cNvPr id="441" name="Google Shape;441;p20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0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isual meaning" id="444" name="Google Shape;4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8196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0"/>
          <p:cNvSpPr txBox="1"/>
          <p:nvPr/>
        </p:nvSpPr>
        <p:spPr>
          <a:xfrm>
            <a:off x="1234440" y="164592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Visual meaning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1234440" y="192024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Icons represent objects, actions or ideas.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aves space" id="448" name="Google Shape;4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29169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0"/>
          <p:cNvSpPr txBox="1"/>
          <p:nvPr/>
        </p:nvSpPr>
        <p:spPr>
          <a:xfrm>
            <a:off x="1234440" y="274320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Saves space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 txBox="1"/>
          <p:nvPr/>
        </p:nvSpPr>
        <p:spPr>
          <a:xfrm>
            <a:off x="1234440" y="301752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Clear and familiar without using much screen area.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sizes cleanly" id="452" name="Google Shape;45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0142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0"/>
          <p:cNvSpPr txBox="1"/>
          <p:nvPr/>
        </p:nvSpPr>
        <p:spPr>
          <a:xfrm>
            <a:off x="1234440" y="384048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Resizes cleanly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 txBox="1"/>
          <p:nvPr/>
        </p:nvSpPr>
        <p:spPr>
          <a:xfrm>
            <a:off x="1234440" y="411480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Keeps high quality at any size.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 the icon name" id="456" name="Google Shape;45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51114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0"/>
          <p:cNvSpPr txBox="1"/>
          <p:nvPr/>
        </p:nvSpPr>
        <p:spPr>
          <a:xfrm>
            <a:off x="1234440" y="493776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the icon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 txBox="1"/>
          <p:nvPr/>
        </p:nvSpPr>
        <p:spPr>
          <a:xfrm>
            <a:off x="1234440" y="521208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Icons.home, Icons.settings and more at fonts.google.com/icons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6126480" y="1645920"/>
            <a:ext cx="553212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pping_cart" id="460" name="Google Shape;46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2280" y="1874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0"/>
          <p:cNvSpPr txBox="1"/>
          <p:nvPr/>
        </p:nvSpPr>
        <p:spPr>
          <a:xfrm>
            <a:off x="6309360" y="246888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shopping_cart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arm" id="462" name="Google Shape;46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5360" y="1874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0"/>
          <p:cNvSpPr txBox="1"/>
          <p:nvPr/>
        </p:nvSpPr>
        <p:spPr>
          <a:xfrm>
            <a:off x="8092440" y="246888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alarm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ckup" id="464" name="Google Shape;46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78440" y="1874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0"/>
          <p:cNvSpPr txBox="1"/>
          <p:nvPr/>
        </p:nvSpPr>
        <p:spPr>
          <a:xfrm>
            <a:off x="9875520" y="246888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backup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ngerprint" id="466" name="Google Shape;46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12280" y="3154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0"/>
          <p:cNvSpPr txBox="1"/>
          <p:nvPr/>
        </p:nvSpPr>
        <p:spPr>
          <a:xfrm>
            <a:off x="6309360" y="37490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fingerprint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om" id="468" name="Google Shape;468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95360" y="3154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0"/>
          <p:cNvSpPr txBox="1"/>
          <p:nvPr/>
        </p:nvSpPr>
        <p:spPr>
          <a:xfrm>
            <a:off x="8092440" y="37490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room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ild" id="470" name="Google Shape;47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78440" y="3154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0"/>
          <p:cNvSpPr txBox="1"/>
          <p:nvPr/>
        </p:nvSpPr>
        <p:spPr>
          <a:xfrm>
            <a:off x="9875520" y="37490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6126480" y="4572000"/>
            <a:ext cx="5532120" cy="1600200"/>
          </a:xfrm>
          <a:prstGeom prst="roundRect">
            <a:avLst>
              <a:gd fmla="val 6857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6327648" y="472744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0"/>
          <p:cNvSpPr/>
          <p:nvPr/>
        </p:nvSpPr>
        <p:spPr>
          <a:xfrm>
            <a:off x="6528816" y="472744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0"/>
          <p:cNvSpPr/>
          <p:nvPr/>
        </p:nvSpPr>
        <p:spPr>
          <a:xfrm>
            <a:off x="6729984" y="472744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0"/>
          <p:cNvSpPr txBox="1"/>
          <p:nvPr/>
        </p:nvSpPr>
        <p:spPr>
          <a:xfrm>
            <a:off x="7040880" y="466344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 txBox="1"/>
          <p:nvPr/>
        </p:nvSpPr>
        <p:spPr>
          <a:xfrm>
            <a:off x="6355080" y="5029200"/>
            <a:ext cx="5166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Icon(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Icons.home,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size: 48,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Layout widgets</a:t>
            </a:r>
            <a:endParaRPr sz="3200"/>
          </a:p>
        </p:txBody>
      </p:sp>
      <p:sp>
        <p:nvSpPr>
          <p:cNvPr id="486" name="Google Shape;486;p2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verything is a widget" id="489" name="Google Shape;4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8196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1"/>
          <p:cNvSpPr txBox="1"/>
          <p:nvPr/>
        </p:nvSpPr>
        <p:spPr>
          <a:xfrm>
            <a:off x="1234440" y="16459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Everything is a widget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 txBox="1"/>
          <p:nvPr/>
        </p:nvSpPr>
        <p:spPr>
          <a:xfrm>
            <a:off x="1234440" y="192024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Text, Image and Icon are visible. Row, Column and Container control position.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ayout widgets are parents" id="493" name="Google Shape;4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323697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1"/>
          <p:cNvSpPr txBox="1"/>
          <p:nvPr/>
        </p:nvSpPr>
        <p:spPr>
          <a:xfrm>
            <a:off x="1234440" y="306324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Layout widgets are parents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 txBox="1"/>
          <p:nvPr/>
        </p:nvSpPr>
        <p:spPr>
          <a:xfrm>
            <a:off x="1234440" y="333756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They wrap and control one or more child widgets.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portant concept" id="497" name="Google Shape;4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6542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1"/>
          <p:cNvSpPr txBox="1"/>
          <p:nvPr/>
        </p:nvSpPr>
        <p:spPr>
          <a:xfrm>
            <a:off x="1234440" y="448056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Important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1234440" y="475488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Margin and alignment cannot be applied directly to Text, Image, Checkbox or Icon.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6492240" y="1645920"/>
            <a:ext cx="5166360" cy="4434840"/>
          </a:xfrm>
          <a:prstGeom prst="roundRect">
            <a:avLst>
              <a:gd fmla="val 247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1"/>
          <p:cNvSpPr txBox="1"/>
          <p:nvPr/>
        </p:nvSpPr>
        <p:spPr>
          <a:xfrm>
            <a:off x="6766560" y="17830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Wrap them in a parent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6858000" y="2423160"/>
            <a:ext cx="4434840" cy="3383280"/>
          </a:xfrm>
          <a:prstGeom prst="roundRect">
            <a:avLst>
              <a:gd fmla="val 3243" name="adj"/>
            </a:avLst>
          </a:prstGeom>
          <a:solidFill>
            <a:srgbClr val="D7EFEA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/>
          <p:cNvSpPr txBox="1"/>
          <p:nvPr/>
        </p:nvSpPr>
        <p:spPr>
          <a:xfrm>
            <a:off x="6995160" y="24871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8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E9E8F"/>
                </a:solidFill>
                <a:latin typeface="Courier New"/>
                <a:ea typeface="Courier New"/>
                <a:cs typeface="Courier New"/>
                <a:sym typeface="Courier New"/>
              </a:rPr>
              <a:t>Container / Row /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7360920" y="3017520"/>
            <a:ext cx="3429000" cy="246888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2700">
            <a:solidFill>
              <a:srgbClr val="9AA3C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"/>
          <p:cNvSpPr txBox="1"/>
          <p:nvPr/>
        </p:nvSpPr>
        <p:spPr>
          <a:xfrm>
            <a:off x="7452360" y="3063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7955280" y="3520440"/>
            <a:ext cx="2240280" cy="1417320"/>
          </a:xfrm>
          <a:prstGeom prst="roundRect">
            <a:avLst>
              <a:gd fmla="val 6452" name="adj"/>
            </a:avLst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1"/>
          <p:cNvSpPr txBox="1"/>
          <p:nvPr/>
        </p:nvSpPr>
        <p:spPr>
          <a:xfrm>
            <a:off x="7955280" y="3520440"/>
            <a:ext cx="22402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Text, Image, Icon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Padding and margin with EdgeInsets</a:t>
            </a:r>
            <a:endParaRPr sz="3200"/>
          </a:p>
        </p:txBody>
      </p:sp>
      <p:sp>
        <p:nvSpPr>
          <p:cNvPr id="516" name="Google Shape;516;p2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548640" y="1600200"/>
            <a:ext cx="3840480" cy="45262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822960" y="1965960"/>
            <a:ext cx="3291840" cy="292608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2"/>
          <p:cNvSpPr txBox="1"/>
          <p:nvPr/>
        </p:nvSpPr>
        <p:spPr>
          <a:xfrm>
            <a:off x="868680" y="1993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margin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1234440" y="2423160"/>
            <a:ext cx="2468880" cy="201168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2"/>
          <p:cNvSpPr txBox="1"/>
          <p:nvPr/>
        </p:nvSpPr>
        <p:spPr>
          <a:xfrm>
            <a:off x="1280160" y="24505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1691640" y="2880360"/>
            <a:ext cx="15544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"/>
          <p:cNvSpPr txBox="1"/>
          <p:nvPr/>
        </p:nvSpPr>
        <p:spPr>
          <a:xfrm>
            <a:off x="1691640" y="288036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 txBox="1"/>
          <p:nvPr/>
        </p:nvSpPr>
        <p:spPr>
          <a:xfrm>
            <a:off x="777240" y="502920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Margin is outside the border. Padding is inside, around the child.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6" name="Google Shape;526;p22"/>
          <p:cNvGraphicFramePr/>
          <p:nvPr/>
        </p:nvGraphicFramePr>
        <p:xfrm>
          <a:off x="46634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{EB1BA30D-CF7F-47B8-AF26-146710331E0A}</a:tableStyleId>
              </a:tblPr>
              <a:tblGrid>
                <a:gridCol w="3749050"/>
                <a:gridCol w="3246125"/>
              </a:tblGrid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9E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9E8F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EdgeInsets.all(20.0)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pixels on all four sides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EdgeInsets.only(left: 20, top: 20, right: 20, bottom: 20)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value for each side individually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EdgeInsets.symmetric(vertical: 20.0, horizontal: 20.0)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Vertical (top and bottom) and horizontal (left and right) set separately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7" name="Google Shape;527;p22"/>
          <p:cNvSpPr txBox="1"/>
          <p:nvPr/>
        </p:nvSpPr>
        <p:spPr>
          <a:xfrm>
            <a:off x="4663440" y="5806440"/>
            <a:ext cx="6995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Use these values with padding: or margin: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Margin and padding in a Container</a:t>
            </a:r>
            <a:endParaRPr sz="3200"/>
          </a:p>
        </p:txBody>
      </p:sp>
      <p:sp>
        <p:nvSpPr>
          <p:cNvPr id="536" name="Google Shape;536;p23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3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548640" y="1554480"/>
            <a:ext cx="7680960" cy="2265883"/>
          </a:xfrm>
          <a:prstGeom prst="roundRect">
            <a:avLst>
              <a:gd fmla="val 484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3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3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3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>
            <a:off x="777240" y="2011680"/>
            <a:ext cx="7315200" cy="1717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Container(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margin: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EdgeInsets.all(40), 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space around the widget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EdgeInsets.all(20),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space inside the 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'This text is inside a Container!'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style: TextStyle(fontSize: 20, color: Colors.white),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3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9144000" y="2103120"/>
            <a:ext cx="1920240" cy="100584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 txBox="1"/>
          <p:nvPr/>
        </p:nvSpPr>
        <p:spPr>
          <a:xfrm>
            <a:off x="9326880" y="22860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text is inside a Container!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The Padding widget</a:t>
            </a:r>
            <a:endParaRPr sz="3200"/>
          </a:p>
        </p:txBody>
      </p:sp>
      <p:sp>
        <p:nvSpPr>
          <p:cNvPr id="557" name="Google Shape;557;p24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548640" y="1554480"/>
            <a:ext cx="7680960" cy="2441448"/>
          </a:xfrm>
          <a:prstGeom prst="roundRect">
            <a:avLst>
              <a:gd fmla="val 4494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4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4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4"/>
          <p:cNvSpPr txBox="1"/>
          <p:nvPr/>
        </p:nvSpPr>
        <p:spPr>
          <a:xfrm>
            <a:off x="777240" y="2011680"/>
            <a:ext cx="7315200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Padding(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EdgeInsets.all(8.0),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Container(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child: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'This text is inside a Container!'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style: TextStyle(fontSize: 20, color: Colors.white),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8595360" y="1554480"/>
            <a:ext cx="306324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4"/>
          <p:cNvSpPr txBox="1"/>
          <p:nvPr/>
        </p:nvSpPr>
        <p:spPr>
          <a:xfrm>
            <a:off x="8823960" y="16916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Quick wrap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4"/>
          <p:cNvSpPr txBox="1"/>
          <p:nvPr/>
        </p:nvSpPr>
        <p:spPr>
          <a:xfrm>
            <a:off x="8823960" y="2148840"/>
            <a:ext cx="26517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Select the widget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Press Ctrl + . or click the yellow lightbulb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Choose Wrap with Padding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8 pixels are added around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5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mainAxisAlignment</a:t>
            </a:r>
            <a:endParaRPr sz="3200"/>
          </a:p>
        </p:txBody>
      </p:sp>
      <p:sp>
        <p:nvSpPr>
          <p:cNvPr id="576" name="Google Shape;576;p25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Controls how children are spaced along the main axis of a Row or Column.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548640" y="1965960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5"/>
          <p:cNvSpPr txBox="1"/>
          <p:nvPr/>
        </p:nvSpPr>
        <p:spPr>
          <a:xfrm>
            <a:off x="731520" y="196596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5"/>
          <p:cNvSpPr txBox="1"/>
          <p:nvPr/>
        </p:nvSpPr>
        <p:spPr>
          <a:xfrm>
            <a:off x="4526280" y="1965960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Places children at the start of the main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8366760" y="2075688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5"/>
          <p:cNvSpPr/>
          <p:nvPr/>
        </p:nvSpPr>
        <p:spPr>
          <a:xfrm>
            <a:off x="8366760" y="2130552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5"/>
          <p:cNvSpPr/>
          <p:nvPr/>
        </p:nvSpPr>
        <p:spPr>
          <a:xfrm>
            <a:off x="8714232" y="2130552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5"/>
          <p:cNvSpPr/>
          <p:nvPr/>
        </p:nvSpPr>
        <p:spPr>
          <a:xfrm>
            <a:off x="9061704" y="2130552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5"/>
          <p:cNvSpPr/>
          <p:nvPr/>
        </p:nvSpPr>
        <p:spPr>
          <a:xfrm>
            <a:off x="9409176" y="2130552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5"/>
          <p:cNvSpPr/>
          <p:nvPr/>
        </p:nvSpPr>
        <p:spPr>
          <a:xfrm>
            <a:off x="548640" y="2660904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5"/>
          <p:cNvSpPr txBox="1"/>
          <p:nvPr/>
        </p:nvSpPr>
        <p:spPr>
          <a:xfrm>
            <a:off x="731520" y="2660904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MainAxisAlignment.center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5"/>
          <p:cNvSpPr txBox="1"/>
          <p:nvPr/>
        </p:nvSpPr>
        <p:spPr>
          <a:xfrm>
            <a:off x="4526280" y="2660904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Centers children along the main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8366760" y="2770632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5"/>
          <p:cNvSpPr/>
          <p:nvPr/>
        </p:nvSpPr>
        <p:spPr>
          <a:xfrm>
            <a:off x="9262872" y="2825496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5"/>
          <p:cNvSpPr/>
          <p:nvPr/>
        </p:nvSpPr>
        <p:spPr>
          <a:xfrm>
            <a:off x="9610344" y="2825496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5"/>
          <p:cNvSpPr/>
          <p:nvPr/>
        </p:nvSpPr>
        <p:spPr>
          <a:xfrm>
            <a:off x="9957816" y="2825496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5"/>
          <p:cNvSpPr/>
          <p:nvPr/>
        </p:nvSpPr>
        <p:spPr>
          <a:xfrm>
            <a:off x="10305288" y="2825496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5"/>
          <p:cNvSpPr/>
          <p:nvPr/>
        </p:nvSpPr>
        <p:spPr>
          <a:xfrm>
            <a:off x="548640" y="3355848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5"/>
          <p:cNvSpPr txBox="1"/>
          <p:nvPr/>
        </p:nvSpPr>
        <p:spPr>
          <a:xfrm>
            <a:off x="731520" y="3355848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4526280" y="3355848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Places children at the end of the main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8366760" y="3465576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5"/>
          <p:cNvSpPr/>
          <p:nvPr/>
        </p:nvSpPr>
        <p:spPr>
          <a:xfrm>
            <a:off x="10158984" y="3520440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5"/>
          <p:cNvSpPr/>
          <p:nvPr/>
        </p:nvSpPr>
        <p:spPr>
          <a:xfrm>
            <a:off x="10506456" y="3520440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10853928" y="3520440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11201400" y="3520440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5"/>
          <p:cNvSpPr/>
          <p:nvPr/>
        </p:nvSpPr>
        <p:spPr>
          <a:xfrm>
            <a:off x="548640" y="4050792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5"/>
          <p:cNvSpPr txBox="1"/>
          <p:nvPr/>
        </p:nvSpPr>
        <p:spPr>
          <a:xfrm>
            <a:off x="731520" y="4050792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MainAxisAlignment.spaceBetween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5"/>
          <p:cNvSpPr txBox="1"/>
          <p:nvPr/>
        </p:nvSpPr>
        <p:spPr>
          <a:xfrm>
            <a:off x="4526280" y="4050792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Equal space between children, none at the ends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8366760" y="4160520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8366760" y="4215384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9311640" y="4215384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10256520" y="4215384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11201400" y="4215384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548640" y="4745736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 txBox="1"/>
          <p:nvPr/>
        </p:nvSpPr>
        <p:spPr>
          <a:xfrm>
            <a:off x="731520" y="4745736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MainAxisAlignment.spaceAround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5"/>
          <p:cNvSpPr txBox="1"/>
          <p:nvPr/>
        </p:nvSpPr>
        <p:spPr>
          <a:xfrm>
            <a:off x="4526280" y="4745736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Equal space around each child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5"/>
          <p:cNvSpPr/>
          <p:nvPr/>
        </p:nvSpPr>
        <p:spPr>
          <a:xfrm>
            <a:off x="8366760" y="4855464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5"/>
          <p:cNvSpPr/>
          <p:nvPr/>
        </p:nvSpPr>
        <p:spPr>
          <a:xfrm>
            <a:off x="8618220" y="4910328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9395460" y="4910328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5"/>
          <p:cNvSpPr/>
          <p:nvPr/>
        </p:nvSpPr>
        <p:spPr>
          <a:xfrm>
            <a:off x="10172700" y="4910328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10949940" y="4910328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5"/>
          <p:cNvSpPr/>
          <p:nvPr/>
        </p:nvSpPr>
        <p:spPr>
          <a:xfrm>
            <a:off x="548640" y="5440680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5"/>
          <p:cNvSpPr txBox="1"/>
          <p:nvPr/>
        </p:nvSpPr>
        <p:spPr>
          <a:xfrm>
            <a:off x="731520" y="544068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MainAxisAlignment.spaceEvenly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5"/>
          <p:cNvSpPr txBox="1"/>
          <p:nvPr/>
        </p:nvSpPr>
        <p:spPr>
          <a:xfrm>
            <a:off x="4526280" y="5440680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Equal space between and around children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8366760" y="5550408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5"/>
          <p:cNvSpPr/>
          <p:nvPr/>
        </p:nvSpPr>
        <p:spPr>
          <a:xfrm>
            <a:off x="8769096" y="5605272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"/>
          <p:cNvSpPr/>
          <p:nvPr/>
        </p:nvSpPr>
        <p:spPr>
          <a:xfrm>
            <a:off x="9445752" y="5605272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5"/>
          <p:cNvSpPr/>
          <p:nvPr/>
        </p:nvSpPr>
        <p:spPr>
          <a:xfrm>
            <a:off x="10122408" y="5605272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5"/>
          <p:cNvSpPr/>
          <p:nvPr/>
        </p:nvSpPr>
        <p:spPr>
          <a:xfrm>
            <a:off x="10799064" y="5605272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5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Aligning a Row of icons</a:t>
            </a:r>
            <a:endParaRPr sz="3200"/>
          </a:p>
        </p:txBody>
      </p:sp>
      <p:sp>
        <p:nvSpPr>
          <p:cNvPr id="635" name="Google Shape;635;p26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6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/>
          <p:nvPr/>
        </p:nvSpPr>
        <p:spPr>
          <a:xfrm>
            <a:off x="548640" y="1554480"/>
            <a:ext cx="7680960" cy="2265883"/>
          </a:xfrm>
          <a:prstGeom prst="roundRect">
            <a:avLst>
              <a:gd fmla="val 484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6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6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6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 txBox="1"/>
          <p:nvPr/>
        </p:nvSpPr>
        <p:spPr>
          <a:xfrm>
            <a:off x="777240" y="2011680"/>
            <a:ext cx="7315200" cy="1717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Row(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mainAxisAlignment: MainAxisAlignment.start,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Icon(Icons.home, size: 60),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Icon(Icons.person, size: 60),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Icon(Icons.menu, size: 60),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Icon(Icons.settings, size: 60),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6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" id="645" name="Google Shape;6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4272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" id="646" name="Google Shape;64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912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" id="647" name="Google Shape;64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31552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" id="648" name="Google Shape;64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80192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6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548640" y="4160520"/>
            <a:ext cx="7680960" cy="196596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6"/>
          <p:cNvSpPr txBox="1"/>
          <p:nvPr/>
        </p:nvSpPr>
        <p:spPr>
          <a:xfrm>
            <a:off x="777240" y="42702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each value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777240" y="475488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6"/>
          <p:cNvSpPr txBox="1"/>
          <p:nvPr/>
        </p:nvSpPr>
        <p:spPr>
          <a:xfrm>
            <a:off x="777240" y="47548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3246120" y="475488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6"/>
          <p:cNvSpPr txBox="1"/>
          <p:nvPr/>
        </p:nvSpPr>
        <p:spPr>
          <a:xfrm>
            <a:off x="3246120" y="47548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5715000" y="475488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6"/>
          <p:cNvSpPr txBox="1"/>
          <p:nvPr/>
        </p:nvSpPr>
        <p:spPr>
          <a:xfrm>
            <a:off x="5715000" y="47548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6"/>
          <p:cNvSpPr/>
          <p:nvPr/>
        </p:nvSpPr>
        <p:spPr>
          <a:xfrm>
            <a:off x="777240" y="539496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6"/>
          <p:cNvSpPr txBox="1"/>
          <p:nvPr/>
        </p:nvSpPr>
        <p:spPr>
          <a:xfrm>
            <a:off x="777240" y="5394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spaceBetween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3246120" y="539496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6"/>
          <p:cNvSpPr txBox="1"/>
          <p:nvPr/>
        </p:nvSpPr>
        <p:spPr>
          <a:xfrm>
            <a:off x="3246120" y="5394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spaceAround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5715000" y="539496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 txBox="1"/>
          <p:nvPr/>
        </p:nvSpPr>
        <p:spPr>
          <a:xfrm>
            <a:off x="5715000" y="5394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spaceEvenly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crossAxisAlignment</a:t>
            </a:r>
            <a:endParaRPr sz="3200"/>
          </a:p>
        </p:txBody>
      </p:sp>
      <p:sp>
        <p:nvSpPr>
          <p:cNvPr id="672" name="Google Shape;672;p2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Controls how children are aligned across the cross axis (the direction at 90° to the main axis).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548640" y="2011680"/>
            <a:ext cx="11109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7"/>
          <p:cNvSpPr txBox="1"/>
          <p:nvPr/>
        </p:nvSpPr>
        <p:spPr>
          <a:xfrm>
            <a:off x="731520" y="20116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CrossAxisAlignment.start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 txBox="1"/>
          <p:nvPr/>
        </p:nvSpPr>
        <p:spPr>
          <a:xfrm>
            <a:off x="4617720" y="20116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Aligns children to the start of the cross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8503920" y="2080260"/>
            <a:ext cx="2926080" cy="77724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7"/>
          <p:cNvSpPr/>
          <p:nvPr/>
        </p:nvSpPr>
        <p:spPr>
          <a:xfrm>
            <a:off x="8686800" y="2080260"/>
            <a:ext cx="457200" cy="41148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7"/>
          <p:cNvSpPr/>
          <p:nvPr/>
        </p:nvSpPr>
        <p:spPr>
          <a:xfrm>
            <a:off x="9372600" y="2080260"/>
            <a:ext cx="457200" cy="658368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7"/>
          <p:cNvSpPr/>
          <p:nvPr/>
        </p:nvSpPr>
        <p:spPr>
          <a:xfrm>
            <a:off x="10058400" y="2080260"/>
            <a:ext cx="457200" cy="288036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7"/>
          <p:cNvSpPr/>
          <p:nvPr/>
        </p:nvSpPr>
        <p:spPr>
          <a:xfrm>
            <a:off x="10744200" y="2080260"/>
            <a:ext cx="457200" cy="534924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7"/>
          <p:cNvSpPr/>
          <p:nvPr/>
        </p:nvSpPr>
        <p:spPr>
          <a:xfrm>
            <a:off x="548640" y="3035808"/>
            <a:ext cx="11109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7"/>
          <p:cNvSpPr txBox="1"/>
          <p:nvPr/>
        </p:nvSpPr>
        <p:spPr>
          <a:xfrm>
            <a:off x="731520" y="303580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CrossAxisAlignment.center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 txBox="1"/>
          <p:nvPr/>
        </p:nvSpPr>
        <p:spPr>
          <a:xfrm>
            <a:off x="4617720" y="303580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Aligns children to the center of the cross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7"/>
          <p:cNvSpPr/>
          <p:nvPr/>
        </p:nvSpPr>
        <p:spPr>
          <a:xfrm>
            <a:off x="8503920" y="3104388"/>
            <a:ext cx="2926080" cy="77724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7"/>
          <p:cNvSpPr/>
          <p:nvPr/>
        </p:nvSpPr>
        <p:spPr>
          <a:xfrm>
            <a:off x="8686800" y="3287268"/>
            <a:ext cx="457200" cy="41148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9372600" y="3163824"/>
            <a:ext cx="457200" cy="658368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10058400" y="3348990"/>
            <a:ext cx="457200" cy="288036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10744200" y="3225546"/>
            <a:ext cx="457200" cy="534924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548640" y="4059936"/>
            <a:ext cx="11109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7"/>
          <p:cNvSpPr txBox="1"/>
          <p:nvPr/>
        </p:nvSpPr>
        <p:spPr>
          <a:xfrm>
            <a:off x="731520" y="4059936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CrossAxisAlignment.end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7"/>
          <p:cNvSpPr txBox="1"/>
          <p:nvPr/>
        </p:nvSpPr>
        <p:spPr>
          <a:xfrm>
            <a:off x="4617720" y="4059936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Aligns children to the end of the cross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7"/>
          <p:cNvSpPr/>
          <p:nvPr/>
        </p:nvSpPr>
        <p:spPr>
          <a:xfrm>
            <a:off x="8503920" y="4128516"/>
            <a:ext cx="2926080" cy="77724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7"/>
          <p:cNvSpPr/>
          <p:nvPr/>
        </p:nvSpPr>
        <p:spPr>
          <a:xfrm>
            <a:off x="8686800" y="4494276"/>
            <a:ext cx="457200" cy="41148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9372600" y="4247388"/>
            <a:ext cx="457200" cy="658368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7"/>
          <p:cNvSpPr/>
          <p:nvPr/>
        </p:nvSpPr>
        <p:spPr>
          <a:xfrm>
            <a:off x="10058400" y="4617720"/>
            <a:ext cx="457200" cy="288036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7"/>
          <p:cNvSpPr/>
          <p:nvPr/>
        </p:nvSpPr>
        <p:spPr>
          <a:xfrm>
            <a:off x="10744200" y="4370832"/>
            <a:ext cx="457200" cy="534924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548640" y="5084064"/>
            <a:ext cx="11109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7"/>
          <p:cNvSpPr txBox="1"/>
          <p:nvPr/>
        </p:nvSpPr>
        <p:spPr>
          <a:xfrm>
            <a:off x="731520" y="5084064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CrossAxisAlignment.stretch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7"/>
          <p:cNvSpPr txBox="1"/>
          <p:nvPr/>
        </p:nvSpPr>
        <p:spPr>
          <a:xfrm>
            <a:off x="4617720" y="5084064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Expands children to fill the cross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7"/>
          <p:cNvSpPr/>
          <p:nvPr/>
        </p:nvSpPr>
        <p:spPr>
          <a:xfrm>
            <a:off x="8503920" y="5152644"/>
            <a:ext cx="2926080" cy="77724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7"/>
          <p:cNvSpPr/>
          <p:nvPr/>
        </p:nvSpPr>
        <p:spPr>
          <a:xfrm>
            <a:off x="8686800" y="5152644"/>
            <a:ext cx="457200" cy="77724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7"/>
          <p:cNvSpPr/>
          <p:nvPr/>
        </p:nvSpPr>
        <p:spPr>
          <a:xfrm>
            <a:off x="9372600" y="5152644"/>
            <a:ext cx="457200" cy="77724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7"/>
          <p:cNvSpPr/>
          <p:nvPr/>
        </p:nvSpPr>
        <p:spPr>
          <a:xfrm>
            <a:off x="10058400" y="5152644"/>
            <a:ext cx="457200" cy="77724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7"/>
          <p:cNvSpPr/>
          <p:nvPr/>
        </p:nvSpPr>
        <p:spPr>
          <a:xfrm>
            <a:off x="10744200" y="5152644"/>
            <a:ext cx="457200" cy="77724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03 · CARD WIDGET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Card Widget</a:t>
            </a:r>
            <a:endParaRPr sz="3200"/>
          </a:p>
        </p:txBody>
      </p:sp>
      <p:sp>
        <p:nvSpPr>
          <p:cNvPr id="715" name="Google Shape;715;p2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8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Material Design card that shows information in a concise, appealing format.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8"/>
          <p:cNvSpPr/>
          <p:nvPr/>
        </p:nvSpPr>
        <p:spPr>
          <a:xfrm>
            <a:off x="548640" y="224028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8"/>
          <p:cNvSpPr/>
          <p:nvPr/>
        </p:nvSpPr>
        <p:spPr>
          <a:xfrm>
            <a:off x="822960" y="2514600"/>
            <a:ext cx="685800" cy="68580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ounded corners" id="720" name="Google Shape;7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6" y="26883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28"/>
          <p:cNvSpPr txBox="1"/>
          <p:nvPr/>
        </p:nvSpPr>
        <p:spPr>
          <a:xfrm>
            <a:off x="1691640" y="2514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Rounded corners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8"/>
          <p:cNvSpPr txBox="1"/>
          <p:nvPr/>
        </p:nvSpPr>
        <p:spPr>
          <a:xfrm>
            <a:off x="1691640" y="29260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Slightly rounded edges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4297680" y="224028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8"/>
          <p:cNvSpPr/>
          <p:nvPr/>
        </p:nvSpPr>
        <p:spPr>
          <a:xfrm>
            <a:off x="4572000" y="2514600"/>
            <a:ext cx="685800" cy="68580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levation" id="725" name="Google Shape;7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5736" y="26883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28"/>
          <p:cNvSpPr txBox="1"/>
          <p:nvPr/>
        </p:nvSpPr>
        <p:spPr>
          <a:xfrm>
            <a:off x="5440680" y="2514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Elevation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8"/>
          <p:cNvSpPr txBox="1"/>
          <p:nvPr/>
        </p:nvSpPr>
        <p:spPr>
          <a:xfrm>
            <a:off x="5440680" y="29260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Shadow effect that lifts the card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8"/>
          <p:cNvSpPr/>
          <p:nvPr/>
        </p:nvSpPr>
        <p:spPr>
          <a:xfrm>
            <a:off x="8046720" y="224028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8"/>
          <p:cNvSpPr/>
          <p:nvPr/>
        </p:nvSpPr>
        <p:spPr>
          <a:xfrm>
            <a:off x="8321040" y="2514600"/>
            <a:ext cx="685800" cy="68580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mooth surface" id="730" name="Google Shape;73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4776" y="26883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28"/>
          <p:cNvSpPr txBox="1"/>
          <p:nvPr/>
        </p:nvSpPr>
        <p:spPr>
          <a:xfrm>
            <a:off x="9189720" y="2514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Smooth surface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8"/>
          <p:cNvSpPr txBox="1"/>
          <p:nvPr/>
        </p:nvSpPr>
        <p:spPr>
          <a:xfrm>
            <a:off x="9189720" y="29260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Clean Material surface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8"/>
          <p:cNvSpPr/>
          <p:nvPr/>
        </p:nvSpPr>
        <p:spPr>
          <a:xfrm>
            <a:off x="548640" y="4206240"/>
            <a:ext cx="1110996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8"/>
          <p:cNvSpPr txBox="1"/>
          <p:nvPr/>
        </p:nvSpPr>
        <p:spPr>
          <a:xfrm>
            <a:off x="822960" y="431596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Card is the parent of these children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8"/>
          <p:cNvSpPr/>
          <p:nvPr/>
        </p:nvSpPr>
        <p:spPr>
          <a:xfrm>
            <a:off x="822960" y="4937760"/>
            <a:ext cx="229743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8"/>
          <p:cNvSpPr txBox="1"/>
          <p:nvPr/>
        </p:nvSpPr>
        <p:spPr>
          <a:xfrm>
            <a:off x="896112" y="4937760"/>
            <a:ext cx="215112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Card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7" name="Google Shape;737;p28"/>
          <p:cNvCxnSpPr/>
          <p:nvPr/>
        </p:nvCxnSpPr>
        <p:spPr>
          <a:xfrm>
            <a:off x="3166110" y="53263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8" name="Google Shape;738;p28"/>
          <p:cNvSpPr/>
          <p:nvPr/>
        </p:nvSpPr>
        <p:spPr>
          <a:xfrm>
            <a:off x="3577590" y="4937760"/>
            <a:ext cx="229743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8"/>
          <p:cNvSpPr txBox="1"/>
          <p:nvPr/>
        </p:nvSpPr>
        <p:spPr>
          <a:xfrm>
            <a:off x="3650742" y="4937760"/>
            <a:ext cx="215112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0" name="Google Shape;740;p28"/>
          <p:cNvCxnSpPr/>
          <p:nvPr/>
        </p:nvCxnSpPr>
        <p:spPr>
          <a:xfrm>
            <a:off x="5920740" y="53263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28"/>
          <p:cNvSpPr/>
          <p:nvPr/>
        </p:nvSpPr>
        <p:spPr>
          <a:xfrm>
            <a:off x="6332220" y="4937760"/>
            <a:ext cx="229743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8"/>
          <p:cNvSpPr txBox="1"/>
          <p:nvPr/>
        </p:nvSpPr>
        <p:spPr>
          <a:xfrm>
            <a:off x="6405372" y="4937760"/>
            <a:ext cx="215112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Row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3" name="Google Shape;743;p28"/>
          <p:cNvCxnSpPr/>
          <p:nvPr/>
        </p:nvCxnSpPr>
        <p:spPr>
          <a:xfrm>
            <a:off x="8675370" y="53263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4" name="Google Shape;744;p28"/>
          <p:cNvSpPr/>
          <p:nvPr/>
        </p:nvSpPr>
        <p:spPr>
          <a:xfrm>
            <a:off x="9086850" y="4937760"/>
            <a:ext cx="2297430" cy="777240"/>
          </a:xfrm>
          <a:prstGeom prst="roundRect">
            <a:avLst>
              <a:gd fmla="val 14118" name="adj"/>
            </a:avLst>
          </a:prstGeom>
          <a:solidFill>
            <a:srgbClr val="2E9E8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8"/>
          <p:cNvSpPr txBox="1"/>
          <p:nvPr/>
        </p:nvSpPr>
        <p:spPr>
          <a:xfrm>
            <a:off x="9160002" y="4937760"/>
            <a:ext cx="215112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 +  SizedBox  +  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03 · CARD WIDGET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Card with an image and text</a:t>
            </a:r>
            <a:endParaRPr sz="3200"/>
          </a:p>
        </p:txBody>
      </p:sp>
      <p:sp>
        <p:nvSpPr>
          <p:cNvPr id="754" name="Google Shape;754;p2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9"/>
          <p:cNvSpPr/>
          <p:nvPr/>
        </p:nvSpPr>
        <p:spPr>
          <a:xfrm>
            <a:off x="548640" y="1508760"/>
            <a:ext cx="7863840" cy="4899355"/>
          </a:xfrm>
          <a:prstGeom prst="roundRect">
            <a:avLst>
              <a:gd fmla="val 224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9"/>
          <p:cNvSpPr/>
          <p:nvPr/>
        </p:nvSpPr>
        <p:spPr>
          <a:xfrm>
            <a:off x="749808" y="16642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9"/>
          <p:cNvSpPr/>
          <p:nvPr/>
        </p:nvSpPr>
        <p:spPr>
          <a:xfrm>
            <a:off x="950976" y="16642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9"/>
          <p:cNvSpPr/>
          <p:nvPr/>
        </p:nvSpPr>
        <p:spPr>
          <a:xfrm>
            <a:off x="1152144" y="16642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9"/>
          <p:cNvSpPr txBox="1"/>
          <p:nvPr/>
        </p:nvSpPr>
        <p:spPr>
          <a:xfrm>
            <a:off x="1463040" y="160020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9"/>
          <p:cNvSpPr txBox="1"/>
          <p:nvPr/>
        </p:nvSpPr>
        <p:spPr>
          <a:xfrm>
            <a:off x="777240" y="1965960"/>
            <a:ext cx="7498080" cy="4350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Card(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elevation: 5,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color: Colors.orange,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shape: RoundedRectangleBorder(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borderRadius: BorderRadius.circular(15),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Padding(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EdgeInsets.all(16.0),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child: Row(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children: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Image.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'assets/images/pizza.png'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width: 100, height: 100),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SizedBox(width: 20),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'Vegetable Pizza'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style: TextStyle(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fontSize: 30.0,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color: Colors.white,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fontWeight: FontWeight.bold,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9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9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9"/>
          <p:cNvSpPr/>
          <p:nvPr/>
        </p:nvSpPr>
        <p:spPr>
          <a:xfrm>
            <a:off x="9052560" y="329184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9"/>
          <p:cNvSpPr/>
          <p:nvPr/>
        </p:nvSpPr>
        <p:spPr>
          <a:xfrm>
            <a:off x="9189720" y="347472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9"/>
          <p:cNvSpPr txBox="1"/>
          <p:nvPr/>
        </p:nvSpPr>
        <p:spPr>
          <a:xfrm>
            <a:off x="9875520" y="347472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Vegetable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9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04 · APP ICONS FOR IOS AND ANDROID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0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Generate your app icon</a:t>
            </a:r>
            <a:endParaRPr sz="3200"/>
          </a:p>
        </p:txBody>
      </p:sp>
      <p:sp>
        <p:nvSpPr>
          <p:cNvPr id="776" name="Google Shape;776;p30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0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0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new Flutter app shows the Flutter logo. Replace it with your own PNG icon (PNG supports transparency, JPEG does not).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0"/>
          <p:cNvSpPr/>
          <p:nvPr/>
        </p:nvSpPr>
        <p:spPr>
          <a:xfrm>
            <a:off x="548640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0"/>
          <p:cNvSpPr txBox="1"/>
          <p:nvPr/>
        </p:nvSpPr>
        <p:spPr>
          <a:xfrm>
            <a:off x="621792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Design a PNG icon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30"/>
          <p:cNvCxnSpPr/>
          <p:nvPr/>
        </p:nvCxnSpPr>
        <p:spPr>
          <a:xfrm>
            <a:off x="2523744" y="3017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2" name="Google Shape;782;p30"/>
          <p:cNvSpPr/>
          <p:nvPr/>
        </p:nvSpPr>
        <p:spPr>
          <a:xfrm>
            <a:off x="2843784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0"/>
          <p:cNvSpPr txBox="1"/>
          <p:nvPr/>
        </p:nvSpPr>
        <p:spPr>
          <a:xfrm>
            <a:off x="2916936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Open appicon.co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4" name="Google Shape;784;p30"/>
          <p:cNvCxnSpPr/>
          <p:nvPr/>
        </p:nvCxnSpPr>
        <p:spPr>
          <a:xfrm>
            <a:off x="4818888" y="3017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5" name="Google Shape;785;p30"/>
          <p:cNvSpPr/>
          <p:nvPr/>
        </p:nvSpPr>
        <p:spPr>
          <a:xfrm>
            <a:off x="5138928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0"/>
          <p:cNvSpPr txBox="1"/>
          <p:nvPr/>
        </p:nvSpPr>
        <p:spPr>
          <a:xfrm>
            <a:off x="5212080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Upload the PNG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7" name="Google Shape;787;p30"/>
          <p:cNvCxnSpPr/>
          <p:nvPr/>
        </p:nvCxnSpPr>
        <p:spPr>
          <a:xfrm>
            <a:off x="7114032" y="3017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8" name="Google Shape;788;p30"/>
          <p:cNvSpPr/>
          <p:nvPr/>
        </p:nvSpPr>
        <p:spPr>
          <a:xfrm>
            <a:off x="7434072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0"/>
          <p:cNvSpPr txBox="1"/>
          <p:nvPr/>
        </p:nvSpPr>
        <p:spPr>
          <a:xfrm>
            <a:off x="7507224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Select iPhone and Android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0" name="Google Shape;790;p30"/>
          <p:cNvCxnSpPr/>
          <p:nvPr/>
        </p:nvCxnSpPr>
        <p:spPr>
          <a:xfrm>
            <a:off x="9409176" y="3017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1" name="Google Shape;791;p30"/>
          <p:cNvSpPr/>
          <p:nvPr/>
        </p:nvSpPr>
        <p:spPr>
          <a:xfrm>
            <a:off x="9729216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2E9E8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0"/>
          <p:cNvSpPr txBox="1"/>
          <p:nvPr/>
        </p:nvSpPr>
        <p:spPr>
          <a:xfrm>
            <a:off x="9802368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 and download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0"/>
          <p:cNvSpPr/>
          <p:nvPr/>
        </p:nvSpPr>
        <p:spPr>
          <a:xfrm>
            <a:off x="548640" y="3977640"/>
            <a:ext cx="11109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0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you receive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0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compressed AppIcons.zip file. Extract it into a folder such as C:\Icons. It contains two folders: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0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droid" id="797" name="Google Shape;7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52760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0"/>
          <p:cNvSpPr txBox="1"/>
          <p:nvPr/>
        </p:nvSpPr>
        <p:spPr>
          <a:xfrm>
            <a:off x="1645920" y="50749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android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0"/>
          <p:cNvSpPr txBox="1"/>
          <p:nvPr/>
        </p:nvSpPr>
        <p:spPr>
          <a:xfrm>
            <a:off x="1645920" y="5440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Android launcher icons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0"/>
          <p:cNvSpPr/>
          <p:nvPr/>
        </p:nvSpPr>
        <p:spPr>
          <a:xfrm>
            <a:off x="6217920" y="5120640"/>
            <a:ext cx="640080" cy="640080"/>
          </a:xfrm>
          <a:prstGeom prst="ellipse">
            <a:avLst/>
          </a:prstGeom>
          <a:solidFill>
            <a:srgbClr val="252C48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.xcassets" id="801" name="Google Shape;80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3368" y="52760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30"/>
          <p:cNvSpPr txBox="1"/>
          <p:nvPr/>
        </p:nvSpPr>
        <p:spPr>
          <a:xfrm>
            <a:off x="7040880" y="50749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Assets.xcassets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0"/>
          <p:cNvSpPr txBox="1"/>
          <p:nvPr/>
        </p:nvSpPr>
        <p:spPr>
          <a:xfrm>
            <a:off x="7040880" y="5440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iOS app icons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0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04 · APP ICONS FOR IOS AND ANDROID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Place the icons in the project</a:t>
            </a:r>
            <a:endParaRPr sz="3200"/>
          </a:p>
        </p:txBody>
      </p:sp>
      <p:sp>
        <p:nvSpPr>
          <p:cNvPr id="812" name="Google Shape;812;p3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1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1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droid" id="816" name="Google Shape;8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19385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31"/>
          <p:cNvSpPr txBox="1"/>
          <p:nvPr/>
        </p:nvSpPr>
        <p:spPr>
          <a:xfrm>
            <a:off x="1645920" y="17830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1"/>
          <p:cNvSpPr txBox="1"/>
          <p:nvPr/>
        </p:nvSpPr>
        <p:spPr>
          <a:xfrm>
            <a:off x="868680" y="2697480"/>
            <a:ext cx="4800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Go to </a:t>
            </a:r>
            <a:r>
              <a:rPr b="1" i="0" lang="en-US" sz="15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android / app / src / main / 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Delete the five mipmap folders (hdpi, mdpi, xhdpi, xxhdpi, xxxhdpi)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Copy the generated folders from C:\Icons\android into 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Optional: generate the icons automatically with the flutter_launcher_icons package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1"/>
          <p:cNvSpPr/>
          <p:nvPr/>
        </p:nvSpPr>
        <p:spPr>
          <a:xfrm>
            <a:off x="6217920" y="1600200"/>
            <a:ext cx="544068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1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252C48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OS" id="821" name="Google Shape;82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7688" y="19385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1"/>
          <p:cNvSpPr txBox="1"/>
          <p:nvPr/>
        </p:nvSpPr>
        <p:spPr>
          <a:xfrm>
            <a:off x="7315200" y="17830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1"/>
          <p:cNvSpPr txBox="1"/>
          <p:nvPr/>
        </p:nvSpPr>
        <p:spPr>
          <a:xfrm>
            <a:off x="6537960" y="2697480"/>
            <a:ext cx="4800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Go to </a:t>
            </a:r>
            <a:r>
              <a:rPr b="1" i="0" lang="en-US" sz="15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ios / Runner / Assets.xcassets / AppIcon.appiconset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Right-click AppIcon.appiconset, then Reveal in File Explorer (Reveal in Finder on Mac)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Replace the existing icon files with the generated iOS icons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Connect a phone and run the project to check the icon and app name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05 · HOT RELOAD AND HOT RESTART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Hot Reload vs Hot Restart</a:t>
            </a:r>
            <a:endParaRPr sz="3200"/>
          </a:p>
        </p:txBody>
      </p:sp>
      <p:sp>
        <p:nvSpPr>
          <p:cNvPr id="832" name="Google Shape;832;p3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2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2"/>
          <p:cNvSpPr/>
          <p:nvPr/>
        </p:nvSpPr>
        <p:spPr>
          <a:xfrm>
            <a:off x="548640" y="1600200"/>
            <a:ext cx="5440680" cy="1143000"/>
          </a:xfrm>
          <a:prstGeom prst="roundRect">
            <a:avLst>
              <a:gd fmla="val 96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2"/>
          <p:cNvSpPr/>
          <p:nvPr/>
        </p:nvSpPr>
        <p:spPr>
          <a:xfrm>
            <a:off x="548640" y="2286000"/>
            <a:ext cx="5440680" cy="45720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ot Reload" id="837" name="Google Shape;83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828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32"/>
          <p:cNvSpPr txBox="1"/>
          <p:nvPr/>
        </p:nvSpPr>
        <p:spPr>
          <a:xfrm>
            <a:off x="1554480" y="173736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 Reload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2"/>
          <p:cNvSpPr txBox="1"/>
          <p:nvPr/>
        </p:nvSpPr>
        <p:spPr>
          <a:xfrm>
            <a:off x="1554480" y="219456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Injects updated code into the running 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2"/>
          <p:cNvSpPr txBox="1"/>
          <p:nvPr/>
        </p:nvSpPr>
        <p:spPr>
          <a:xfrm>
            <a:off x="868680" y="2971800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Recompiles only the modified files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Rebuilds the widget tree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App state is preserved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Best for UI and small logic changes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Lightning bolt in the debug toolbar, or r in the terminal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2"/>
          <p:cNvSpPr/>
          <p:nvPr/>
        </p:nvSpPr>
        <p:spPr>
          <a:xfrm>
            <a:off x="6217920" y="1600200"/>
            <a:ext cx="544068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2"/>
          <p:cNvSpPr/>
          <p:nvPr/>
        </p:nvSpPr>
        <p:spPr>
          <a:xfrm>
            <a:off x="6217920" y="1600200"/>
            <a:ext cx="5440680" cy="1143000"/>
          </a:xfrm>
          <a:prstGeom prst="roundRect">
            <a:avLst>
              <a:gd fmla="val 96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2"/>
          <p:cNvSpPr/>
          <p:nvPr/>
        </p:nvSpPr>
        <p:spPr>
          <a:xfrm>
            <a:off x="6217920" y="2286000"/>
            <a:ext cx="5440680" cy="45720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ot Restart" id="844" name="Google Shape;8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1828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32"/>
          <p:cNvSpPr txBox="1"/>
          <p:nvPr/>
        </p:nvSpPr>
        <p:spPr>
          <a:xfrm>
            <a:off x="7223760" y="173736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 Restart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2"/>
          <p:cNvSpPr txBox="1"/>
          <p:nvPr/>
        </p:nvSpPr>
        <p:spPr>
          <a:xfrm>
            <a:off x="7223760" y="219456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Restarts the app, faster than a full rebuild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2"/>
          <p:cNvSpPr txBox="1"/>
          <p:nvPr/>
        </p:nvSpPr>
        <p:spPr>
          <a:xfrm>
            <a:off x="6537960" y="2971800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Rebuilds the widget tree from the start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App state is reset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Variables and navigation history are cleared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Needed for major changes and global variables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Green circular arrow in the debug toolbar, or R in the terminal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3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 · STATEFUL AND STATELESS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Understanding state</a:t>
            </a:r>
            <a:endParaRPr sz="3200"/>
          </a:p>
        </p:txBody>
      </p:sp>
      <p:sp>
        <p:nvSpPr>
          <p:cNvPr id="856" name="Google Shape;856;p33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3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3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State is data that can change while the app is running. When it changes, Flutter rebuilds the affected widgets.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3"/>
          <p:cNvSpPr/>
          <p:nvPr/>
        </p:nvSpPr>
        <p:spPr>
          <a:xfrm>
            <a:off x="548640" y="2331720"/>
            <a:ext cx="5440680" cy="3794760"/>
          </a:xfrm>
          <a:prstGeom prst="roundRect">
            <a:avLst>
              <a:gd fmla="val 28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3"/>
          <p:cNvSpPr/>
          <p:nvPr/>
        </p:nvSpPr>
        <p:spPr>
          <a:xfrm>
            <a:off x="822960" y="2560320"/>
            <a:ext cx="4892040" cy="594360"/>
          </a:xfrm>
          <a:prstGeom prst="roundRect">
            <a:avLst>
              <a:gd fmla="val 15385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3"/>
          <p:cNvSpPr txBox="1"/>
          <p:nvPr/>
        </p:nvSpPr>
        <p:spPr>
          <a:xfrm>
            <a:off x="822960" y="2560320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StatelessWidget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3"/>
          <p:cNvSpPr txBox="1"/>
          <p:nvPr/>
        </p:nvSpPr>
        <p:spPr>
          <a:xfrm>
            <a:off x="822960" y="32918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Does not hold or manage any state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3"/>
          <p:cNvSpPr txBox="1"/>
          <p:nvPr/>
        </p:nvSpPr>
        <p:spPr>
          <a:xfrm>
            <a:off x="822960" y="3794760"/>
            <a:ext cx="4892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Immutable once built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Fixed content: text, icons, images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change needs an outside rebuild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3"/>
          <p:cNvSpPr/>
          <p:nvPr/>
        </p:nvSpPr>
        <p:spPr>
          <a:xfrm>
            <a:off x="6217920" y="2331720"/>
            <a:ext cx="5440680" cy="3794760"/>
          </a:xfrm>
          <a:prstGeom prst="roundRect">
            <a:avLst>
              <a:gd fmla="val 28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3"/>
          <p:cNvSpPr/>
          <p:nvPr/>
        </p:nvSpPr>
        <p:spPr>
          <a:xfrm>
            <a:off x="6492240" y="2560320"/>
            <a:ext cx="4892040" cy="594360"/>
          </a:xfrm>
          <a:prstGeom prst="roundRect">
            <a:avLst>
              <a:gd fmla="val 15385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3"/>
          <p:cNvSpPr txBox="1"/>
          <p:nvPr/>
        </p:nvSpPr>
        <p:spPr>
          <a:xfrm>
            <a:off x="6492240" y="2560320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E2438"/>
                </a:solidFill>
                <a:latin typeface="Courier New"/>
                <a:ea typeface="Courier New"/>
                <a:cs typeface="Courier New"/>
                <a:sym typeface="Courier New"/>
              </a:rPr>
              <a:t>StatefulWidget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3"/>
          <p:cNvSpPr txBox="1"/>
          <p:nvPr/>
        </p:nvSpPr>
        <p:spPr>
          <a:xfrm>
            <a:off x="6492240" y="32918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Changes with user actions or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3"/>
          <p:cNvSpPr txBox="1"/>
          <p:nvPr/>
        </p:nvSpPr>
        <p:spPr>
          <a:xfrm>
            <a:off x="6492240" y="3794760"/>
            <a:ext cx="4892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Mutable data lives in a State class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Buttons, sliders, forms, text fields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setState() rebuilds the UI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3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4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 · STATEFUL AND STATELESS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Stateless widget</a:t>
            </a:r>
            <a:endParaRPr sz="3200"/>
          </a:p>
        </p:txBody>
      </p:sp>
      <p:sp>
        <p:nvSpPr>
          <p:cNvPr id="877" name="Google Shape;877;p34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4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4"/>
          <p:cNvSpPr/>
          <p:nvPr/>
        </p:nvSpPr>
        <p:spPr>
          <a:xfrm>
            <a:off x="548640" y="1554480"/>
            <a:ext cx="7863840" cy="3494837"/>
          </a:xfrm>
          <a:prstGeom prst="roundRect">
            <a:avLst>
              <a:gd fmla="val 314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4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4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4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4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4"/>
          <p:cNvSpPr txBox="1"/>
          <p:nvPr/>
        </p:nvSpPr>
        <p:spPr>
          <a:xfrm>
            <a:off x="777240" y="2011680"/>
            <a:ext cx="7498080" cy="2946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Scaffold(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appBar: AppBar(title: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'Stateless Widget Example'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body: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'Hello, I never change!'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style: TextStyle(fontSize: 20.0),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4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4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4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7E57C2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4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Stateless Widget Example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4"/>
          <p:cNvSpPr txBox="1"/>
          <p:nvPr/>
        </p:nvSpPr>
        <p:spPr>
          <a:xfrm>
            <a:off x="8915400" y="36576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Hello, I never change!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4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4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5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 · STATEFUL AND STATELESS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5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Stateful widget: structure</a:t>
            </a:r>
            <a:endParaRPr sz="3200"/>
          </a:p>
        </p:txBody>
      </p:sp>
      <p:sp>
        <p:nvSpPr>
          <p:cNvPr id="899" name="Google Shape;899;p35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5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5"/>
          <p:cNvSpPr/>
          <p:nvPr/>
        </p:nvSpPr>
        <p:spPr>
          <a:xfrm>
            <a:off x="548640" y="1554480"/>
            <a:ext cx="7863840" cy="2792578"/>
          </a:xfrm>
          <a:prstGeom prst="roundRect">
            <a:avLst>
              <a:gd fmla="val 392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5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5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5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5"/>
          <p:cNvSpPr txBox="1"/>
          <p:nvPr/>
        </p:nvSpPr>
        <p:spPr>
          <a:xfrm>
            <a:off x="777240" y="2011680"/>
            <a:ext cx="7498080" cy="2243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StatefulWidget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State&lt;MyHomePage&gt; createState() =&gt; _MyHomePageState();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_MyHomePageState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State&lt;MyHomePage&gt;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count = 0;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build() is shown on the next slide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5"/>
          <p:cNvSpPr/>
          <p:nvPr/>
        </p:nvSpPr>
        <p:spPr>
          <a:xfrm>
            <a:off x="8778240" y="1554480"/>
            <a:ext cx="2880360" cy="338328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5"/>
          <p:cNvSpPr txBox="1"/>
          <p:nvPr/>
        </p:nvSpPr>
        <p:spPr>
          <a:xfrm>
            <a:off x="9006840" y="16916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Two classes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 txBox="1"/>
          <p:nvPr/>
        </p:nvSpPr>
        <p:spPr>
          <a:xfrm>
            <a:off x="9006840" y="228600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ourier New"/>
              <a:buChar char="•"/>
            </a:pPr>
            <a:r>
              <a:rPr b="0" i="0" lang="en-US" sz="14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ourier New"/>
              <a:buChar char="•"/>
            </a:pPr>
            <a:r>
              <a:rPr b="0" i="0" lang="en-US" sz="14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_MyHomePageState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5"/>
          <p:cNvSpPr txBox="1"/>
          <p:nvPr/>
        </p:nvSpPr>
        <p:spPr>
          <a:xfrm>
            <a:off x="9006840" y="3383280"/>
            <a:ext cx="2468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 data (count) lives in the State class.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5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 · STATEFUL AND STATELESS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Stateful widget: setState()</a:t>
            </a:r>
            <a:endParaRPr sz="3200"/>
          </a:p>
        </p:txBody>
      </p:sp>
      <p:sp>
        <p:nvSpPr>
          <p:cNvPr id="919" name="Google Shape;919;p36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6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6"/>
          <p:cNvSpPr/>
          <p:nvPr/>
        </p:nvSpPr>
        <p:spPr>
          <a:xfrm>
            <a:off x="548640" y="1508760"/>
            <a:ext cx="7863840" cy="4372661"/>
          </a:xfrm>
          <a:prstGeom prst="roundRect">
            <a:avLst>
              <a:gd fmla="val 250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6"/>
          <p:cNvSpPr/>
          <p:nvPr/>
        </p:nvSpPr>
        <p:spPr>
          <a:xfrm>
            <a:off x="749808" y="16642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6"/>
          <p:cNvSpPr/>
          <p:nvPr/>
        </p:nvSpPr>
        <p:spPr>
          <a:xfrm>
            <a:off x="950976" y="16642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6"/>
          <p:cNvSpPr/>
          <p:nvPr/>
        </p:nvSpPr>
        <p:spPr>
          <a:xfrm>
            <a:off x="1152144" y="16642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6"/>
          <p:cNvSpPr txBox="1"/>
          <p:nvPr/>
        </p:nvSpPr>
        <p:spPr>
          <a:xfrm>
            <a:off x="1463040" y="160020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  (inside _MyHomePageState)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6"/>
          <p:cNvSpPr txBox="1"/>
          <p:nvPr/>
        </p:nvSpPr>
        <p:spPr>
          <a:xfrm>
            <a:off x="777240" y="1965960"/>
            <a:ext cx="7498080" cy="382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Scaffold(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appBar: AppBar(title: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'Stateful Widget Example'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Column(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mainAxisAlignment: MainAxisAlignment.center,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children: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'Button pressed $count times'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style: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TextStyle(fontSize: 20.0),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ElevatedButton(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onPressed: () =&gt; setState(() =&gt; count++),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child: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'Press Me'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6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6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6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7E57C2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6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Stateful Widget Example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6"/>
          <p:cNvSpPr txBox="1"/>
          <p:nvPr/>
        </p:nvSpPr>
        <p:spPr>
          <a:xfrm>
            <a:off x="8915400" y="32918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Button pressed 3 times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6"/>
          <p:cNvSpPr/>
          <p:nvPr/>
        </p:nvSpPr>
        <p:spPr>
          <a:xfrm>
            <a:off x="9509760" y="3794760"/>
            <a:ext cx="1280160" cy="457200"/>
          </a:xfrm>
          <a:prstGeom prst="roundRect">
            <a:avLst>
              <a:gd fmla="val 50000" name="adj"/>
            </a:avLst>
          </a:prstGeom>
          <a:solidFill>
            <a:srgbClr val="EDE7F6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6"/>
          <p:cNvSpPr txBox="1"/>
          <p:nvPr/>
        </p:nvSpPr>
        <p:spPr>
          <a:xfrm>
            <a:off x="9509760" y="379476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35B1"/>
                </a:solidFill>
                <a:latin typeface="Calibri"/>
                <a:ea typeface="Calibri"/>
                <a:cs typeface="Calibri"/>
                <a:sym typeface="Calibri"/>
              </a:rPr>
              <a:t>Press 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6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07 · USE A CUSTOM 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Use a custom font</a:t>
            </a:r>
            <a:endParaRPr sz="3200"/>
          </a:p>
        </p:txBody>
      </p:sp>
      <p:sp>
        <p:nvSpPr>
          <p:cNvPr id="943" name="Google Shape;943;p3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7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Fonts are added like images. A font can be applied to the whole app or to a single Text widget.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7"/>
          <p:cNvSpPr/>
          <p:nvPr/>
        </p:nvSpPr>
        <p:spPr>
          <a:xfrm>
            <a:off x="548640" y="2286000"/>
            <a:ext cx="33985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7"/>
          <p:cNvSpPr txBox="1"/>
          <p:nvPr/>
        </p:nvSpPr>
        <p:spPr>
          <a:xfrm>
            <a:off x="621792" y="2286000"/>
            <a:ext cx="32522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Import the font files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8" name="Google Shape;948;p37"/>
          <p:cNvCxnSpPr/>
          <p:nvPr/>
        </p:nvCxnSpPr>
        <p:spPr>
          <a:xfrm>
            <a:off x="3992880" y="27432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9" name="Google Shape;949;p37"/>
          <p:cNvSpPr/>
          <p:nvPr/>
        </p:nvSpPr>
        <p:spPr>
          <a:xfrm>
            <a:off x="4404360" y="2286000"/>
            <a:ext cx="33985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7"/>
          <p:cNvSpPr txBox="1"/>
          <p:nvPr/>
        </p:nvSpPr>
        <p:spPr>
          <a:xfrm>
            <a:off x="4477512" y="2286000"/>
            <a:ext cx="32522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Declare the font in pubspec.yaml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1" name="Google Shape;951;p37"/>
          <p:cNvCxnSpPr/>
          <p:nvPr/>
        </p:nvCxnSpPr>
        <p:spPr>
          <a:xfrm>
            <a:off x="7848600" y="27432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2" name="Google Shape;952;p37"/>
          <p:cNvSpPr/>
          <p:nvPr/>
        </p:nvSpPr>
        <p:spPr>
          <a:xfrm>
            <a:off x="8260080" y="2286000"/>
            <a:ext cx="3398520" cy="91440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7"/>
          <p:cNvSpPr txBox="1"/>
          <p:nvPr/>
        </p:nvSpPr>
        <p:spPr>
          <a:xfrm>
            <a:off x="8333232" y="2286000"/>
            <a:ext cx="32522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the font in a widget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7"/>
          <p:cNvSpPr/>
          <p:nvPr/>
        </p:nvSpPr>
        <p:spPr>
          <a:xfrm>
            <a:off x="548640" y="3520440"/>
            <a:ext cx="5440680" cy="260604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7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tion A: google_fonts package" id="956" name="Google Shape;9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3840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37"/>
          <p:cNvSpPr txBox="1"/>
          <p:nvPr/>
        </p:nvSpPr>
        <p:spPr>
          <a:xfrm>
            <a:off x="1554480" y="3703320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Option A: google_fonts package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7"/>
          <p:cNvSpPr txBox="1"/>
          <p:nvPr/>
        </p:nvSpPr>
        <p:spPr>
          <a:xfrm>
            <a:off x="914400" y="4434840"/>
            <a:ext cx="47091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Search Google Fonts on pub.dev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Run flutter pub add google_fonts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Run flutter pub 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Call GoogleFonts directly in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7"/>
          <p:cNvSpPr/>
          <p:nvPr/>
        </p:nvSpPr>
        <p:spPr>
          <a:xfrm>
            <a:off x="6217920" y="3520440"/>
            <a:ext cx="5440680" cy="260604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7"/>
          <p:cNvSpPr/>
          <p:nvPr/>
        </p:nvSpPr>
        <p:spPr>
          <a:xfrm>
            <a:off x="6492240" y="3703320"/>
            <a:ext cx="548640" cy="54864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tion B: font file" id="961" name="Google Shape;96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3840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37"/>
          <p:cNvSpPr txBox="1"/>
          <p:nvPr/>
        </p:nvSpPr>
        <p:spPr>
          <a:xfrm>
            <a:off x="7223760" y="3703320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Option B: font 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7"/>
          <p:cNvSpPr txBox="1"/>
          <p:nvPr/>
        </p:nvSpPr>
        <p:spPr>
          <a:xfrm>
            <a:off x="6583680" y="4434840"/>
            <a:ext cx="47091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Download the font and unzip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Add it to the project (assets/fonts)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Declare it in pubspec.yaml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Run flutter pub 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07 · USE A CUSTOM 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Font file: declare and use</a:t>
            </a:r>
            <a:endParaRPr sz="3200"/>
          </a:p>
        </p:txBody>
      </p:sp>
      <p:sp>
        <p:nvSpPr>
          <p:cNvPr id="972" name="Google Shape;972;p3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8"/>
          <p:cNvSpPr/>
          <p:nvPr/>
        </p:nvSpPr>
        <p:spPr>
          <a:xfrm>
            <a:off x="548640" y="1554480"/>
            <a:ext cx="7863840" cy="1563624"/>
          </a:xfrm>
          <a:prstGeom prst="roundRect">
            <a:avLst>
              <a:gd fmla="val 7018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8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8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8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8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pubspec.yaml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8"/>
          <p:cNvSpPr txBox="1"/>
          <p:nvPr/>
        </p:nvSpPr>
        <p:spPr>
          <a:xfrm>
            <a:off x="777240" y="2011680"/>
            <a:ext cx="749808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fonts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family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MomoSignature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fonts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fonts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/MomoSignature-Regular.ttf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8"/>
          <p:cNvSpPr/>
          <p:nvPr/>
        </p:nvSpPr>
        <p:spPr>
          <a:xfrm>
            <a:off x="548640" y="3291840"/>
            <a:ext cx="7863840" cy="2441448"/>
          </a:xfrm>
          <a:prstGeom prst="roundRect">
            <a:avLst>
              <a:gd fmla="val 4494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8"/>
          <p:cNvSpPr/>
          <p:nvPr/>
        </p:nvSpPr>
        <p:spPr>
          <a:xfrm>
            <a:off x="749808" y="344728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8"/>
          <p:cNvSpPr/>
          <p:nvPr/>
        </p:nvSpPr>
        <p:spPr>
          <a:xfrm>
            <a:off x="950976" y="344728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8"/>
          <p:cNvSpPr/>
          <p:nvPr/>
        </p:nvSpPr>
        <p:spPr>
          <a:xfrm>
            <a:off x="1152144" y="344728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8"/>
          <p:cNvSpPr txBox="1"/>
          <p:nvPr/>
        </p:nvSpPr>
        <p:spPr>
          <a:xfrm>
            <a:off x="1463040" y="338328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8"/>
          <p:cNvSpPr txBox="1"/>
          <p:nvPr/>
        </p:nvSpPr>
        <p:spPr>
          <a:xfrm>
            <a:off x="777240" y="3749040"/>
            <a:ext cx="7498080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 Flutter!'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style: TextStyle(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fontSize: 44.0,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fontFamily: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'MomoSignature'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8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8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8"/>
          <p:cNvSpPr txBox="1"/>
          <p:nvPr/>
        </p:nvSpPr>
        <p:spPr>
          <a:xfrm>
            <a:off x="8915400" y="33832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000"/>
              <a:buFont typeface="Cambria"/>
              <a:buNone/>
            </a:pPr>
            <a:r>
              <a:rPr b="0" i="1" lang="en-US" sz="3000" u="none" cap="none" strike="noStrike">
                <a:solidFill>
                  <a:srgbClr val="1E88E5"/>
                </a:solidFill>
                <a:latin typeface="Cambria"/>
                <a:ea typeface="Cambria"/>
                <a:cs typeface="Cambria"/>
                <a:sym typeface="Cambria"/>
              </a:rPr>
              <a:t>Hello Flutter!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8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07 · USE A CUSTOM 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google_fonts package</a:t>
            </a:r>
            <a:endParaRPr sz="3200"/>
          </a:p>
        </p:txBody>
      </p:sp>
      <p:sp>
        <p:nvSpPr>
          <p:cNvPr id="998" name="Google Shape;998;p3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9"/>
          <p:cNvSpPr/>
          <p:nvPr/>
        </p:nvSpPr>
        <p:spPr>
          <a:xfrm>
            <a:off x="548640" y="1554480"/>
            <a:ext cx="7863840" cy="1036930"/>
          </a:xfrm>
          <a:prstGeom prst="roundRect">
            <a:avLst>
              <a:gd fmla="val 10582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9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9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9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9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9"/>
          <p:cNvSpPr txBox="1"/>
          <p:nvPr/>
        </p:nvSpPr>
        <p:spPr>
          <a:xfrm>
            <a:off x="777240" y="2011680"/>
            <a:ext cx="7498080" cy="4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 add google_fonts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 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9"/>
          <p:cNvSpPr/>
          <p:nvPr/>
        </p:nvSpPr>
        <p:spPr>
          <a:xfrm>
            <a:off x="548640" y="2880360"/>
            <a:ext cx="7863840" cy="2090318"/>
          </a:xfrm>
          <a:prstGeom prst="roundRect">
            <a:avLst>
              <a:gd fmla="val 524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39"/>
          <p:cNvSpPr/>
          <p:nvPr/>
        </p:nvSpPr>
        <p:spPr>
          <a:xfrm>
            <a:off x="749808" y="30358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9"/>
          <p:cNvSpPr/>
          <p:nvPr/>
        </p:nvSpPr>
        <p:spPr>
          <a:xfrm>
            <a:off x="950976" y="30358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9"/>
          <p:cNvSpPr/>
          <p:nvPr/>
        </p:nvSpPr>
        <p:spPr>
          <a:xfrm>
            <a:off x="1152144" y="30358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9"/>
          <p:cNvSpPr txBox="1"/>
          <p:nvPr/>
        </p:nvSpPr>
        <p:spPr>
          <a:xfrm>
            <a:off x="1463040" y="297180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9"/>
          <p:cNvSpPr txBox="1"/>
          <p:nvPr/>
        </p:nvSpPr>
        <p:spPr>
          <a:xfrm>
            <a:off x="777240" y="3337560"/>
            <a:ext cx="7498080" cy="1541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'package:google_fonts/google_fonts.dart'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 Flutter!'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style: GoogleFonts.lato(fontSize: 44.0, color: Colors.blue),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9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9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9"/>
          <p:cNvSpPr txBox="1"/>
          <p:nvPr/>
        </p:nvSpPr>
        <p:spPr>
          <a:xfrm>
            <a:off x="8915400" y="33832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88E5"/>
                </a:solidFill>
                <a:latin typeface="Arial"/>
                <a:ea typeface="Arial"/>
                <a:cs typeface="Arial"/>
                <a:sym typeface="Arial"/>
              </a:rPr>
              <a:t>Hello Flutter!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9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0"/>
          <p:cNvSpPr txBox="1"/>
          <p:nvPr>
            <p:ph type="title"/>
          </p:nvPr>
        </p:nvSpPr>
        <p:spPr>
          <a:xfrm>
            <a:off x="822960" y="201168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GitHub &amp; CI/CD (Part 3)</a:t>
            </a:r>
            <a:endParaRPr sz="4400"/>
          </a:p>
        </p:txBody>
      </p:sp>
      <p:sp>
        <p:nvSpPr>
          <p:cNvPr id="1023" name="Google Shape;1023;p40"/>
          <p:cNvSpPr/>
          <p:nvPr/>
        </p:nvSpPr>
        <p:spPr>
          <a:xfrm rot="2700000">
            <a:off x="8138160" y="822960"/>
            <a:ext cx="4023360" cy="4023360"/>
          </a:xfrm>
          <a:prstGeom prst="roundRect">
            <a:avLst>
              <a:gd fmla="val 12000" name="adj"/>
            </a:avLst>
          </a:prstGeom>
          <a:solidFill>
            <a:srgbClr val="2E9E8F">
              <a:alpha val="80000"/>
            </a:srgbClr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0"/>
          <p:cNvSpPr/>
          <p:nvPr/>
        </p:nvSpPr>
        <p:spPr>
          <a:xfrm rot="2700000">
            <a:off x="8503920" y="1188720"/>
            <a:ext cx="3291840" cy="3291840"/>
          </a:xfrm>
          <a:prstGeom prst="roundRect">
            <a:avLst>
              <a:gd fmla="val 12000" name="adj"/>
            </a:avLst>
          </a:prstGeom>
          <a:solidFill>
            <a:srgbClr val="3CC48A">
              <a:alpha val="30196"/>
            </a:srgbClr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itHub logo" id="1025" name="Google Shape;10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0" y="201168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40"/>
          <p:cNvSpPr txBox="1"/>
          <p:nvPr/>
        </p:nvSpPr>
        <p:spPr>
          <a:xfrm>
            <a:off x="822960" y="146304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DE0B5"/>
                </a:solidFill>
                <a:latin typeface="Calibri"/>
                <a:ea typeface="Calibri"/>
                <a:cs typeface="Calibri"/>
                <a:sym typeface="Calibri"/>
              </a:rPr>
              <a:t>WEEK 5 · LAB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0"/>
          <p:cNvSpPr txBox="1"/>
          <p:nvPr/>
        </p:nvSpPr>
        <p:spPr>
          <a:xfrm>
            <a:off x="822960" y="374904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6EAF5"/>
                </a:solidFill>
                <a:latin typeface="Calibri"/>
                <a:ea typeface="Calibri"/>
                <a:cs typeface="Calibri"/>
                <a:sym typeface="Calibri"/>
              </a:rPr>
              <a:t>Code Quality and the First CI Workflow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STATIC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Static analysis with flutter analyze</a:t>
            </a:r>
            <a:endParaRPr sz="3200"/>
          </a:p>
        </p:txBody>
      </p:sp>
      <p:sp>
        <p:nvSpPr>
          <p:cNvPr id="1035" name="Google Shape;1035;p4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1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 analyzer reads your code without running it and reports errors, warnings and style problems. Rules come from analysis_options.yaml with the flutter_lints package.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1"/>
          <p:cNvSpPr/>
          <p:nvPr/>
        </p:nvSpPr>
        <p:spPr>
          <a:xfrm>
            <a:off x="548640" y="2377440"/>
            <a:ext cx="5394960" cy="1212494"/>
          </a:xfrm>
          <a:prstGeom prst="roundRect">
            <a:avLst>
              <a:gd fmla="val 905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1"/>
          <p:cNvSpPr/>
          <p:nvPr/>
        </p:nvSpPr>
        <p:spPr>
          <a:xfrm>
            <a:off x="749808" y="253288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1"/>
          <p:cNvSpPr/>
          <p:nvPr/>
        </p:nvSpPr>
        <p:spPr>
          <a:xfrm>
            <a:off x="950976" y="253288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1"/>
          <p:cNvSpPr/>
          <p:nvPr/>
        </p:nvSpPr>
        <p:spPr>
          <a:xfrm>
            <a:off x="1152144" y="253288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1"/>
          <p:cNvSpPr txBox="1"/>
          <p:nvPr/>
        </p:nvSpPr>
        <p:spPr>
          <a:xfrm>
            <a:off x="1463040" y="24688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1"/>
          <p:cNvSpPr txBox="1"/>
          <p:nvPr/>
        </p:nvSpPr>
        <p:spPr>
          <a:xfrm>
            <a:off x="777240" y="2834640"/>
            <a:ext cx="5029200" cy="663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# add the lint rules, then run the analyzer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 add --dev flutter_lints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analyze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1"/>
          <p:cNvSpPr/>
          <p:nvPr/>
        </p:nvSpPr>
        <p:spPr>
          <a:xfrm>
            <a:off x="6263640" y="2377440"/>
            <a:ext cx="5394960" cy="1739189"/>
          </a:xfrm>
          <a:prstGeom prst="roundRect">
            <a:avLst>
              <a:gd fmla="val 630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41"/>
          <p:cNvSpPr/>
          <p:nvPr/>
        </p:nvSpPr>
        <p:spPr>
          <a:xfrm>
            <a:off x="6464808" y="253288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1"/>
          <p:cNvSpPr/>
          <p:nvPr/>
        </p:nvSpPr>
        <p:spPr>
          <a:xfrm>
            <a:off x="6665976" y="253288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1"/>
          <p:cNvSpPr/>
          <p:nvPr/>
        </p:nvSpPr>
        <p:spPr>
          <a:xfrm>
            <a:off x="6867144" y="253288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1"/>
          <p:cNvSpPr txBox="1"/>
          <p:nvPr/>
        </p:nvSpPr>
        <p:spPr>
          <a:xfrm>
            <a:off x="7178040" y="24688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analysis_options.yaml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1"/>
          <p:cNvSpPr txBox="1"/>
          <p:nvPr/>
        </p:nvSpPr>
        <p:spPr>
          <a:xfrm>
            <a:off x="6492240" y="2834640"/>
            <a:ext cx="5029200" cy="119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package:flutter_lints/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.yaml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linter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rules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prefer_const_constructors: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avoid_print: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41"/>
          <p:cNvSpPr/>
          <p:nvPr/>
        </p:nvSpPr>
        <p:spPr>
          <a:xfrm>
            <a:off x="548640" y="4480560"/>
            <a:ext cx="11109960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41"/>
          <p:cNvSpPr/>
          <p:nvPr/>
        </p:nvSpPr>
        <p:spPr>
          <a:xfrm>
            <a:off x="822960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1"/>
          <p:cNvSpPr txBox="1"/>
          <p:nvPr/>
        </p:nvSpPr>
        <p:spPr>
          <a:xfrm>
            <a:off x="896112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Write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3" name="Google Shape;1053;p41"/>
          <p:cNvCxnSpPr/>
          <p:nvPr/>
        </p:nvCxnSpPr>
        <p:spPr>
          <a:xfrm>
            <a:off x="2688336" y="5303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4" name="Google Shape;1054;p41"/>
          <p:cNvSpPr/>
          <p:nvPr/>
        </p:nvSpPr>
        <p:spPr>
          <a:xfrm>
            <a:off x="3008376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1"/>
          <p:cNvSpPr txBox="1"/>
          <p:nvPr/>
        </p:nvSpPr>
        <p:spPr>
          <a:xfrm>
            <a:off x="3081528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flutter analyze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6" name="Google Shape;1056;p41"/>
          <p:cNvCxnSpPr/>
          <p:nvPr/>
        </p:nvCxnSpPr>
        <p:spPr>
          <a:xfrm>
            <a:off x="4873752" y="5303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7" name="Google Shape;1057;p41"/>
          <p:cNvSpPr/>
          <p:nvPr/>
        </p:nvSpPr>
        <p:spPr>
          <a:xfrm>
            <a:off x="5193792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1"/>
          <p:cNvSpPr txBox="1"/>
          <p:nvPr/>
        </p:nvSpPr>
        <p:spPr>
          <a:xfrm>
            <a:off x="5266944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Read the issues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9" name="Google Shape;1059;p41"/>
          <p:cNvCxnSpPr/>
          <p:nvPr/>
        </p:nvCxnSpPr>
        <p:spPr>
          <a:xfrm>
            <a:off x="7059168" y="5303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0" name="Google Shape;1060;p41"/>
          <p:cNvSpPr/>
          <p:nvPr/>
        </p:nvSpPr>
        <p:spPr>
          <a:xfrm>
            <a:off x="7379208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1"/>
          <p:cNvSpPr txBox="1"/>
          <p:nvPr/>
        </p:nvSpPr>
        <p:spPr>
          <a:xfrm>
            <a:off x="7452360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Fix them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2" name="Google Shape;1062;p41"/>
          <p:cNvCxnSpPr/>
          <p:nvPr/>
        </p:nvCxnSpPr>
        <p:spPr>
          <a:xfrm>
            <a:off x="9244584" y="5303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3" name="Google Shape;1063;p41"/>
          <p:cNvSpPr/>
          <p:nvPr/>
        </p:nvSpPr>
        <p:spPr>
          <a:xfrm>
            <a:off x="9564624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3CC48A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41"/>
          <p:cNvSpPr txBox="1"/>
          <p:nvPr/>
        </p:nvSpPr>
        <p:spPr>
          <a:xfrm>
            <a:off x="9637776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issues found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4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4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CODE STYLE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Consistent code style with dart format</a:t>
            </a:r>
            <a:endParaRPr sz="3200"/>
          </a:p>
        </p:txBody>
      </p:sp>
      <p:sp>
        <p:nvSpPr>
          <p:cNvPr id="1073" name="Google Shape;1073;p4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4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2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dart format rewrites code into the standard Dart layout (indentation, line breaks, trailing commas) so the whole team writes the same style.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2"/>
          <p:cNvSpPr/>
          <p:nvPr/>
        </p:nvSpPr>
        <p:spPr>
          <a:xfrm>
            <a:off x="548640" y="2377440"/>
            <a:ext cx="6766560" cy="1920240"/>
          </a:xfrm>
          <a:prstGeom prst="roundRect">
            <a:avLst>
              <a:gd fmla="val 5714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42"/>
          <p:cNvSpPr/>
          <p:nvPr/>
        </p:nvSpPr>
        <p:spPr>
          <a:xfrm>
            <a:off x="749808" y="253288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42"/>
          <p:cNvSpPr/>
          <p:nvPr/>
        </p:nvSpPr>
        <p:spPr>
          <a:xfrm>
            <a:off x="950976" y="253288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42"/>
          <p:cNvSpPr/>
          <p:nvPr/>
        </p:nvSpPr>
        <p:spPr>
          <a:xfrm>
            <a:off x="1152144" y="253288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42"/>
          <p:cNvSpPr txBox="1"/>
          <p:nvPr/>
        </p:nvSpPr>
        <p:spPr>
          <a:xfrm>
            <a:off x="1463040" y="2468880"/>
            <a:ext cx="5577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2"/>
          <p:cNvSpPr txBox="1"/>
          <p:nvPr/>
        </p:nvSpPr>
        <p:spPr>
          <a:xfrm>
            <a:off x="777240" y="283464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# format every Dart file in the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dart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format 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# only check, and fail if a file needs formatting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dart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format --output=none --set-exit-if-changed 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2"/>
          <p:cNvSpPr/>
          <p:nvPr/>
        </p:nvSpPr>
        <p:spPr>
          <a:xfrm>
            <a:off x="7635240" y="2377440"/>
            <a:ext cx="402336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42"/>
          <p:cNvSpPr txBox="1"/>
          <p:nvPr/>
        </p:nvSpPr>
        <p:spPr>
          <a:xfrm>
            <a:off x="7863840" y="248716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Where it is used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2"/>
          <p:cNvSpPr txBox="1"/>
          <p:nvPr/>
        </p:nvSpPr>
        <p:spPr>
          <a:xfrm>
            <a:off x="7863840" y="292608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Locally before every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In CI as a format check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2"/>
          <p:cNvSpPr/>
          <p:nvPr/>
        </p:nvSpPr>
        <p:spPr>
          <a:xfrm>
            <a:off x="548640" y="4754880"/>
            <a:ext cx="243459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42"/>
          <p:cNvSpPr txBox="1"/>
          <p:nvPr/>
        </p:nvSpPr>
        <p:spPr>
          <a:xfrm>
            <a:off x="621792" y="4754880"/>
            <a:ext cx="228828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Edit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7" name="Google Shape;1087;p42"/>
          <p:cNvCxnSpPr/>
          <p:nvPr/>
        </p:nvCxnSpPr>
        <p:spPr>
          <a:xfrm>
            <a:off x="3028950" y="52578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8" name="Google Shape;1088;p42"/>
          <p:cNvSpPr/>
          <p:nvPr/>
        </p:nvSpPr>
        <p:spPr>
          <a:xfrm>
            <a:off x="3440430" y="4754880"/>
            <a:ext cx="243459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42"/>
          <p:cNvSpPr txBox="1"/>
          <p:nvPr/>
        </p:nvSpPr>
        <p:spPr>
          <a:xfrm>
            <a:off x="3513582" y="4754880"/>
            <a:ext cx="228828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dart format 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0" name="Google Shape;1090;p42"/>
          <p:cNvCxnSpPr/>
          <p:nvPr/>
        </p:nvCxnSpPr>
        <p:spPr>
          <a:xfrm>
            <a:off x="5920740" y="52578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1" name="Google Shape;1091;p42"/>
          <p:cNvSpPr/>
          <p:nvPr/>
        </p:nvSpPr>
        <p:spPr>
          <a:xfrm>
            <a:off x="6332220" y="4754880"/>
            <a:ext cx="243459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42"/>
          <p:cNvSpPr txBox="1"/>
          <p:nvPr/>
        </p:nvSpPr>
        <p:spPr>
          <a:xfrm>
            <a:off x="6405372" y="4754880"/>
            <a:ext cx="228828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flutter analyze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3" name="Google Shape;1093;p42"/>
          <p:cNvCxnSpPr/>
          <p:nvPr/>
        </p:nvCxnSpPr>
        <p:spPr>
          <a:xfrm>
            <a:off x="8812530" y="52578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4" name="Google Shape;1094;p42"/>
          <p:cNvSpPr/>
          <p:nvPr/>
        </p:nvSpPr>
        <p:spPr>
          <a:xfrm>
            <a:off x="9224010" y="4754880"/>
            <a:ext cx="2434590" cy="1005840"/>
          </a:xfrm>
          <a:prstGeom prst="roundRect">
            <a:avLst>
              <a:gd fmla="val 10909" name="adj"/>
            </a:avLst>
          </a:prstGeom>
          <a:solidFill>
            <a:srgbClr val="2E9E8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2"/>
          <p:cNvSpPr txBox="1"/>
          <p:nvPr/>
        </p:nvSpPr>
        <p:spPr>
          <a:xfrm>
            <a:off x="9297162" y="4754880"/>
            <a:ext cx="228828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43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CONCEPTS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Introduction to CI/CD and GitHub Actions</a:t>
            </a:r>
            <a:endParaRPr sz="3200"/>
          </a:p>
        </p:txBody>
      </p:sp>
      <p:sp>
        <p:nvSpPr>
          <p:cNvPr id="1104" name="Google Shape;1104;p43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3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3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Continuous Integration builds and checks every change automatically. GitHub Actions runs those checks on GitHub.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3"/>
          <p:cNvSpPr/>
          <p:nvPr/>
        </p:nvSpPr>
        <p:spPr>
          <a:xfrm>
            <a:off x="548640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43"/>
          <p:cNvSpPr/>
          <p:nvPr/>
        </p:nvSpPr>
        <p:spPr>
          <a:xfrm>
            <a:off x="1257300" y="2651760"/>
            <a:ext cx="640080" cy="64008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orkflow" id="1109" name="Google Shape;110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892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43"/>
          <p:cNvSpPr txBox="1"/>
          <p:nvPr/>
        </p:nvSpPr>
        <p:spPr>
          <a:xfrm>
            <a:off x="640080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3"/>
          <p:cNvSpPr txBox="1"/>
          <p:nvPr/>
        </p:nvSpPr>
        <p:spPr>
          <a:xfrm>
            <a:off x="685800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YAML file in .github/workflows that defines the automation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3"/>
          <p:cNvSpPr/>
          <p:nvPr/>
        </p:nvSpPr>
        <p:spPr>
          <a:xfrm>
            <a:off x="2798064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43"/>
          <p:cNvSpPr/>
          <p:nvPr/>
        </p:nvSpPr>
        <p:spPr>
          <a:xfrm>
            <a:off x="3506724" y="2651760"/>
            <a:ext cx="640080" cy="64008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vent" id="1114" name="Google Shape;111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1316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43"/>
          <p:cNvSpPr txBox="1"/>
          <p:nvPr/>
        </p:nvSpPr>
        <p:spPr>
          <a:xfrm>
            <a:off x="2889504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43"/>
          <p:cNvSpPr txBox="1"/>
          <p:nvPr/>
        </p:nvSpPr>
        <p:spPr>
          <a:xfrm>
            <a:off x="2935224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What starts it: push or pull_request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3"/>
          <p:cNvSpPr/>
          <p:nvPr/>
        </p:nvSpPr>
        <p:spPr>
          <a:xfrm>
            <a:off x="5047488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43"/>
          <p:cNvSpPr/>
          <p:nvPr/>
        </p:nvSpPr>
        <p:spPr>
          <a:xfrm>
            <a:off x="5756148" y="2651760"/>
            <a:ext cx="640080" cy="64008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Job" id="1119" name="Google Shape;111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0740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43"/>
          <p:cNvSpPr txBox="1"/>
          <p:nvPr/>
        </p:nvSpPr>
        <p:spPr>
          <a:xfrm>
            <a:off x="5138928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Job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3"/>
          <p:cNvSpPr txBox="1"/>
          <p:nvPr/>
        </p:nvSpPr>
        <p:spPr>
          <a:xfrm>
            <a:off x="5184648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group of steps that run together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3"/>
          <p:cNvSpPr/>
          <p:nvPr/>
        </p:nvSpPr>
        <p:spPr>
          <a:xfrm>
            <a:off x="7296912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3"/>
          <p:cNvSpPr/>
          <p:nvPr/>
        </p:nvSpPr>
        <p:spPr>
          <a:xfrm>
            <a:off x="8005572" y="2651760"/>
            <a:ext cx="640080" cy="64008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tep" id="1124" name="Google Shape;112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0164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43"/>
          <p:cNvSpPr txBox="1"/>
          <p:nvPr/>
        </p:nvSpPr>
        <p:spPr>
          <a:xfrm>
            <a:off x="7388352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3"/>
          <p:cNvSpPr txBox="1"/>
          <p:nvPr/>
        </p:nvSpPr>
        <p:spPr>
          <a:xfrm>
            <a:off x="7434072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One command or action inside a job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3"/>
          <p:cNvSpPr/>
          <p:nvPr/>
        </p:nvSpPr>
        <p:spPr>
          <a:xfrm>
            <a:off x="9546336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43"/>
          <p:cNvSpPr/>
          <p:nvPr/>
        </p:nvSpPr>
        <p:spPr>
          <a:xfrm>
            <a:off x="10254996" y="2651760"/>
            <a:ext cx="640080" cy="64008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unner" id="1129" name="Google Shape;1129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19588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43"/>
          <p:cNvSpPr txBox="1"/>
          <p:nvPr/>
        </p:nvSpPr>
        <p:spPr>
          <a:xfrm>
            <a:off x="9637776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Runner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3"/>
          <p:cNvSpPr txBox="1"/>
          <p:nvPr/>
        </p:nvSpPr>
        <p:spPr>
          <a:xfrm>
            <a:off x="9683496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 virtual machine that executes the job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3"/>
          <p:cNvSpPr txBox="1"/>
          <p:nvPr/>
        </p:nvSpPr>
        <p:spPr>
          <a:xfrm>
            <a:off x="548640" y="544068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Event  →  Workflow  →  Job (on a runner)  → 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3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44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WORKFLOW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4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Creating .github/workflows/ci.yml</a:t>
            </a:r>
            <a:endParaRPr sz="3200"/>
          </a:p>
        </p:txBody>
      </p:sp>
      <p:sp>
        <p:nvSpPr>
          <p:cNvPr id="1141" name="Google Shape;1141;p44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44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4"/>
          <p:cNvSpPr/>
          <p:nvPr/>
        </p:nvSpPr>
        <p:spPr>
          <a:xfrm>
            <a:off x="548640" y="1508760"/>
            <a:ext cx="7680960" cy="4021531"/>
          </a:xfrm>
          <a:prstGeom prst="roundRect">
            <a:avLst>
              <a:gd fmla="val 272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44"/>
          <p:cNvSpPr/>
          <p:nvPr/>
        </p:nvSpPr>
        <p:spPr>
          <a:xfrm>
            <a:off x="749808" y="16642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44"/>
          <p:cNvSpPr/>
          <p:nvPr/>
        </p:nvSpPr>
        <p:spPr>
          <a:xfrm>
            <a:off x="950976" y="16642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44"/>
          <p:cNvSpPr/>
          <p:nvPr/>
        </p:nvSpPr>
        <p:spPr>
          <a:xfrm>
            <a:off x="1152144" y="16642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4"/>
          <p:cNvSpPr txBox="1"/>
          <p:nvPr/>
        </p:nvSpPr>
        <p:spPr>
          <a:xfrm>
            <a:off x="1463040" y="160020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.github/workflows/ci.yml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4"/>
          <p:cNvSpPr txBox="1"/>
          <p:nvPr/>
        </p:nvSpPr>
        <p:spPr>
          <a:xfrm>
            <a:off x="777240" y="1965960"/>
            <a:ext cx="7315200" cy="34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CI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branches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[main]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pull_request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branches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[main]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jobs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build: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runs-on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ubuntu-latest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steps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uses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actions/checkout@v4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uses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subosito/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-action@v2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channel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stable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 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dart format --output=none --set-exit-if-changed 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analyze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44"/>
          <p:cNvSpPr/>
          <p:nvPr/>
        </p:nvSpPr>
        <p:spPr>
          <a:xfrm>
            <a:off x="8595360" y="1508760"/>
            <a:ext cx="3063240" cy="457200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44"/>
          <p:cNvSpPr txBox="1"/>
          <p:nvPr/>
        </p:nvSpPr>
        <p:spPr>
          <a:xfrm>
            <a:off x="8823960" y="1645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Pipeline order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44"/>
          <p:cNvSpPr/>
          <p:nvPr/>
        </p:nvSpPr>
        <p:spPr>
          <a:xfrm>
            <a:off x="8823960" y="2194560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44"/>
          <p:cNvSpPr txBox="1"/>
          <p:nvPr/>
        </p:nvSpPr>
        <p:spPr>
          <a:xfrm>
            <a:off x="8823960" y="219456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checkout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3" name="Google Shape;1153;p44"/>
          <p:cNvCxnSpPr/>
          <p:nvPr/>
        </p:nvCxnSpPr>
        <p:spPr>
          <a:xfrm>
            <a:off x="10126980" y="2743200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4" name="Google Shape;1154;p44"/>
          <p:cNvSpPr/>
          <p:nvPr/>
        </p:nvSpPr>
        <p:spPr>
          <a:xfrm>
            <a:off x="8823960" y="2962656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44"/>
          <p:cNvSpPr txBox="1"/>
          <p:nvPr/>
        </p:nvSpPr>
        <p:spPr>
          <a:xfrm>
            <a:off x="8823960" y="2962656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set up Flutter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6" name="Google Shape;1156;p44"/>
          <p:cNvCxnSpPr/>
          <p:nvPr/>
        </p:nvCxnSpPr>
        <p:spPr>
          <a:xfrm>
            <a:off x="10126980" y="3511296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7" name="Google Shape;1157;p44"/>
          <p:cNvSpPr/>
          <p:nvPr/>
        </p:nvSpPr>
        <p:spPr>
          <a:xfrm>
            <a:off x="8823960" y="3730752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44"/>
          <p:cNvSpPr txBox="1"/>
          <p:nvPr/>
        </p:nvSpPr>
        <p:spPr>
          <a:xfrm>
            <a:off x="8823960" y="3730752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flutter pub 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9" name="Google Shape;1159;p44"/>
          <p:cNvCxnSpPr/>
          <p:nvPr/>
        </p:nvCxnSpPr>
        <p:spPr>
          <a:xfrm>
            <a:off x="10126980" y="4279392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0" name="Google Shape;1160;p44"/>
          <p:cNvSpPr/>
          <p:nvPr/>
        </p:nvSpPr>
        <p:spPr>
          <a:xfrm>
            <a:off x="8823960" y="4498848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44"/>
          <p:cNvSpPr txBox="1"/>
          <p:nvPr/>
        </p:nvSpPr>
        <p:spPr>
          <a:xfrm>
            <a:off x="8823960" y="4498848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format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2" name="Google Shape;1162;p44"/>
          <p:cNvCxnSpPr/>
          <p:nvPr/>
        </p:nvCxnSpPr>
        <p:spPr>
          <a:xfrm>
            <a:off x="10126980" y="5047488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3" name="Google Shape;1163;p44"/>
          <p:cNvSpPr/>
          <p:nvPr/>
        </p:nvSpPr>
        <p:spPr>
          <a:xfrm>
            <a:off x="8823960" y="5266944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44"/>
          <p:cNvSpPr txBox="1"/>
          <p:nvPr/>
        </p:nvSpPr>
        <p:spPr>
          <a:xfrm>
            <a:off x="8823960" y="5266944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4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45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RUNNING CI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45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Triggering CI and fixing a failing check</a:t>
            </a:r>
            <a:endParaRPr sz="3200"/>
          </a:p>
        </p:txBody>
      </p:sp>
      <p:sp>
        <p:nvSpPr>
          <p:cNvPr id="1173" name="Google Shape;1173;p45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45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5"/>
          <p:cNvSpPr/>
          <p:nvPr/>
        </p:nvSpPr>
        <p:spPr>
          <a:xfrm>
            <a:off x="548640" y="1645920"/>
            <a:ext cx="2468880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45"/>
          <p:cNvSpPr txBox="1"/>
          <p:nvPr/>
        </p:nvSpPr>
        <p:spPr>
          <a:xfrm>
            <a:off x="621792" y="1645920"/>
            <a:ext cx="232257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git push or open a Pull Request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7" name="Google Shape;1177;p45"/>
          <p:cNvCxnSpPr/>
          <p:nvPr/>
        </p:nvCxnSpPr>
        <p:spPr>
          <a:xfrm>
            <a:off x="3063240" y="219456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8" name="Google Shape;1178;p45"/>
          <p:cNvSpPr/>
          <p:nvPr/>
        </p:nvSpPr>
        <p:spPr>
          <a:xfrm>
            <a:off x="3429000" y="1645920"/>
            <a:ext cx="2468880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45"/>
          <p:cNvSpPr txBox="1"/>
          <p:nvPr/>
        </p:nvSpPr>
        <p:spPr>
          <a:xfrm>
            <a:off x="3502152" y="1645920"/>
            <a:ext cx="232257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GitHub Actions starts the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0" name="Google Shape;1180;p45"/>
          <p:cNvCxnSpPr/>
          <p:nvPr/>
        </p:nvCxnSpPr>
        <p:spPr>
          <a:xfrm>
            <a:off x="5943600" y="219456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1" name="Google Shape;1181;p45"/>
          <p:cNvSpPr/>
          <p:nvPr/>
        </p:nvSpPr>
        <p:spPr>
          <a:xfrm>
            <a:off x="6309360" y="1645920"/>
            <a:ext cx="2468880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45"/>
          <p:cNvSpPr txBox="1"/>
          <p:nvPr/>
        </p:nvSpPr>
        <p:spPr>
          <a:xfrm>
            <a:off x="6382512" y="1645920"/>
            <a:ext cx="232257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Checks run on the runner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3" name="Google Shape;1183;p45"/>
          <p:cNvCxnSpPr/>
          <p:nvPr/>
        </p:nvCxnSpPr>
        <p:spPr>
          <a:xfrm>
            <a:off x="8823960" y="219456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4" name="Google Shape;1184;p45"/>
          <p:cNvSpPr/>
          <p:nvPr/>
        </p:nvSpPr>
        <p:spPr>
          <a:xfrm>
            <a:off x="9189720" y="1645920"/>
            <a:ext cx="2468880" cy="1097280"/>
          </a:xfrm>
          <a:prstGeom prst="roundRect">
            <a:avLst>
              <a:gd fmla="val 10000" name="adj"/>
            </a:avLst>
          </a:prstGeom>
          <a:solidFill>
            <a:srgbClr val="3CC48A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45"/>
          <p:cNvSpPr txBox="1"/>
          <p:nvPr/>
        </p:nvSpPr>
        <p:spPr>
          <a:xfrm>
            <a:off x="9262872" y="1645920"/>
            <a:ext cx="232257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Green tick or red cross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5"/>
          <p:cNvSpPr/>
          <p:nvPr/>
        </p:nvSpPr>
        <p:spPr>
          <a:xfrm>
            <a:off x="548640" y="3063240"/>
            <a:ext cx="544068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45"/>
          <p:cNvSpPr/>
          <p:nvPr/>
        </p:nvSpPr>
        <p:spPr>
          <a:xfrm>
            <a:off x="6217920" y="3063240"/>
            <a:ext cx="544068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arch" id="1188" name="Google Shape;118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2918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45"/>
          <p:cNvSpPr txBox="1"/>
          <p:nvPr/>
        </p:nvSpPr>
        <p:spPr>
          <a:xfrm>
            <a:off x="1371600" y="32461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Read the workflow log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5"/>
          <p:cNvSpPr txBox="1"/>
          <p:nvPr/>
        </p:nvSpPr>
        <p:spPr>
          <a:xfrm>
            <a:off x="822960" y="3931920"/>
            <a:ext cx="4937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Open the Actions tab or the PR checks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Click the failed job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Expand the red step to see the message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x" id="1191" name="Google Shape;119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32918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45"/>
          <p:cNvSpPr txBox="1"/>
          <p:nvPr/>
        </p:nvSpPr>
        <p:spPr>
          <a:xfrm>
            <a:off x="7040880" y="32461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Fix a failing check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45"/>
          <p:cNvSpPr txBox="1"/>
          <p:nvPr/>
        </p:nvSpPr>
        <p:spPr>
          <a:xfrm>
            <a:off x="6492240" y="3931920"/>
            <a:ext cx="4937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Reproduce it locally: dart format . and flutter analyze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Correct the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Commit and push again; CI reruns automatically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5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4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PROJECT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Project evidence: M1 submission</a:t>
            </a:r>
            <a:endParaRPr sz="3200"/>
          </a:p>
        </p:txBody>
      </p:sp>
      <p:sp>
        <p:nvSpPr>
          <p:cNvPr id="1202" name="Google Shape;1202;p46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46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4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oposal" id="1205" name="Google Shape;120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9110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46"/>
          <p:cNvSpPr txBox="1"/>
          <p:nvPr/>
        </p:nvSpPr>
        <p:spPr>
          <a:xfrm>
            <a:off x="1234440" y="17373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Proposal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46"/>
          <p:cNvSpPr txBox="1"/>
          <p:nvPr/>
        </p:nvSpPr>
        <p:spPr>
          <a:xfrm>
            <a:off x="1234440" y="201168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Stored in the /docs folder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46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itial SRS" id="1209" name="Google Shape;120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32826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46"/>
          <p:cNvSpPr txBox="1"/>
          <p:nvPr/>
        </p:nvSpPr>
        <p:spPr>
          <a:xfrm>
            <a:off x="1234440" y="31089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Initial SRS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6"/>
          <p:cNvSpPr txBox="1"/>
          <p:nvPr/>
        </p:nvSpPr>
        <p:spPr>
          <a:xfrm>
            <a:off x="1234440" y="338328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Stored in the /docs folder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6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I workflow file" id="1213" name="Google Shape;1213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6542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46"/>
          <p:cNvSpPr txBox="1"/>
          <p:nvPr/>
        </p:nvSpPr>
        <p:spPr>
          <a:xfrm>
            <a:off x="1234440" y="44805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CI workflow 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6"/>
          <p:cNvSpPr txBox="1"/>
          <p:nvPr/>
        </p:nvSpPr>
        <p:spPr>
          <a:xfrm>
            <a:off x="1234440" y="475488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Present in the repository at .github/workflows/ci.yml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6"/>
          <p:cNvSpPr/>
          <p:nvPr/>
        </p:nvSpPr>
        <p:spPr>
          <a:xfrm>
            <a:off x="6309360" y="1600200"/>
            <a:ext cx="5349240" cy="3840480"/>
          </a:xfrm>
          <a:prstGeom prst="roundRect">
            <a:avLst>
              <a:gd fmla="val 2857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6"/>
          <p:cNvSpPr/>
          <p:nvPr/>
        </p:nvSpPr>
        <p:spPr>
          <a:xfrm>
            <a:off x="6510528" y="175564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6"/>
          <p:cNvSpPr/>
          <p:nvPr/>
        </p:nvSpPr>
        <p:spPr>
          <a:xfrm>
            <a:off x="6711696" y="175564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46"/>
          <p:cNvSpPr/>
          <p:nvPr/>
        </p:nvSpPr>
        <p:spPr>
          <a:xfrm>
            <a:off x="6912864" y="175564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6"/>
          <p:cNvSpPr txBox="1"/>
          <p:nvPr/>
        </p:nvSpPr>
        <p:spPr>
          <a:xfrm>
            <a:off x="7223760" y="1691640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46"/>
          <p:cNvSpPr txBox="1"/>
          <p:nvPr/>
        </p:nvSpPr>
        <p:spPr>
          <a:xfrm>
            <a:off x="6537960" y="2057400"/>
            <a:ext cx="4983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project-root/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├──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.github/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└── workflows/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└── ci.yml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├──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docs/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├── proposal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└── SRS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├──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lib/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└── main.dart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└──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pubspec.yaml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4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4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Exercise 3.1: Creating a Restaurant Menu</a:t>
            </a:r>
            <a:endParaRPr sz="3200"/>
          </a:p>
        </p:txBody>
      </p:sp>
      <p:sp>
        <p:nvSpPr>
          <p:cNvPr id="1230" name="Google Shape;1230;p4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4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47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Build the menu screen through a Pull Request that must pass the CI checks before merge.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47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ne screen" id="1234" name="Google Shape;123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23682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47"/>
          <p:cNvSpPr txBox="1"/>
          <p:nvPr/>
        </p:nvSpPr>
        <p:spPr>
          <a:xfrm>
            <a:off x="1234440" y="219456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screen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7"/>
          <p:cNvSpPr txBox="1"/>
          <p:nvPr/>
        </p:nvSpPr>
        <p:spPr>
          <a:xfrm>
            <a:off x="1234440" y="2468880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Column holding three Card widgets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4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ach card is a food" id="1238" name="Google Shape;123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33741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47"/>
          <p:cNvSpPr txBox="1"/>
          <p:nvPr/>
        </p:nvSpPr>
        <p:spPr>
          <a:xfrm>
            <a:off x="1234440" y="320040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Each card is a food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47"/>
          <p:cNvSpPr txBox="1"/>
          <p:nvPr/>
        </p:nvSpPr>
        <p:spPr>
          <a:xfrm>
            <a:off x="1234440" y="3474720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Image and Text inside a Row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47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" id="1242" name="Google Shape;124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37997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47"/>
          <p:cNvSpPr txBox="1"/>
          <p:nvPr/>
        </p:nvSpPr>
        <p:spPr>
          <a:xfrm>
            <a:off x="1234440" y="420624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Assets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7"/>
          <p:cNvSpPr txBox="1"/>
          <p:nvPr/>
        </p:nvSpPr>
        <p:spPr>
          <a:xfrm>
            <a:off x="1234440" y="4480560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VegetablePZ.png, cheesePZ.png, Fries.png declared in pubspec.yaml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47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ot Reload" id="1246" name="Google Shape;124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53858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47"/>
          <p:cNvSpPr txBox="1"/>
          <p:nvPr/>
        </p:nvSpPr>
        <p:spPr>
          <a:xfrm>
            <a:off x="1234440" y="521208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Hot Reload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7"/>
          <p:cNvSpPr txBox="1"/>
          <p:nvPr/>
        </p:nvSpPr>
        <p:spPr>
          <a:xfrm>
            <a:off x="1234440" y="5486400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Press it after each card to check the result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47"/>
          <p:cNvSpPr/>
          <p:nvPr/>
        </p:nvSpPr>
        <p:spPr>
          <a:xfrm>
            <a:off x="6766560" y="2194560"/>
            <a:ext cx="4892040" cy="393192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47"/>
          <p:cNvSpPr txBox="1"/>
          <p:nvPr/>
        </p:nvSpPr>
        <p:spPr>
          <a:xfrm>
            <a:off x="6995160" y="228600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Pull Request 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47"/>
          <p:cNvSpPr/>
          <p:nvPr/>
        </p:nvSpPr>
        <p:spPr>
          <a:xfrm>
            <a:off x="6995160" y="283464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47"/>
          <p:cNvSpPr txBox="1"/>
          <p:nvPr/>
        </p:nvSpPr>
        <p:spPr>
          <a:xfrm>
            <a:off x="6995160" y="283464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Create a feature branch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47"/>
          <p:cNvSpPr/>
          <p:nvPr/>
        </p:nvSpPr>
        <p:spPr>
          <a:xfrm>
            <a:off x="6995160" y="347472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47"/>
          <p:cNvSpPr txBox="1"/>
          <p:nvPr/>
        </p:nvSpPr>
        <p:spPr>
          <a:xfrm>
            <a:off x="6995160" y="347472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Commit the menu screen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47"/>
          <p:cNvSpPr/>
          <p:nvPr/>
        </p:nvSpPr>
        <p:spPr>
          <a:xfrm>
            <a:off x="6995160" y="411480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47"/>
          <p:cNvSpPr txBox="1"/>
          <p:nvPr/>
        </p:nvSpPr>
        <p:spPr>
          <a:xfrm>
            <a:off x="6995160" y="411480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Push and open a PR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7"/>
          <p:cNvSpPr/>
          <p:nvPr/>
        </p:nvSpPr>
        <p:spPr>
          <a:xfrm>
            <a:off x="6995160" y="475488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47"/>
          <p:cNvSpPr txBox="1"/>
          <p:nvPr/>
        </p:nvSpPr>
        <p:spPr>
          <a:xfrm>
            <a:off x="6995160" y="475488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 passes (green)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47"/>
          <p:cNvSpPr/>
          <p:nvPr/>
        </p:nvSpPr>
        <p:spPr>
          <a:xfrm>
            <a:off x="6995160" y="539496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7"/>
          <p:cNvSpPr txBox="1"/>
          <p:nvPr/>
        </p:nvSpPr>
        <p:spPr>
          <a:xfrm>
            <a:off x="6995160" y="539496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Merge into main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4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4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4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3.1: app entry point</a:t>
            </a:r>
            <a:endParaRPr sz="3200"/>
          </a:p>
        </p:txBody>
      </p:sp>
      <p:sp>
        <p:nvSpPr>
          <p:cNvPr id="1269" name="Google Shape;1269;p4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48"/>
          <p:cNvSpPr/>
          <p:nvPr/>
        </p:nvSpPr>
        <p:spPr>
          <a:xfrm>
            <a:off x="548640" y="1554480"/>
            <a:ext cx="7863840" cy="3670402"/>
          </a:xfrm>
          <a:prstGeom prst="roundRect">
            <a:avLst>
              <a:gd fmla="val 299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48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48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48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48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48"/>
          <p:cNvSpPr txBox="1"/>
          <p:nvPr/>
        </p:nvSpPr>
        <p:spPr>
          <a:xfrm>
            <a:off x="777240" y="2011680"/>
            <a:ext cx="7498080" cy="312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'package:flutter/material.dart'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main()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runApp(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RestaurantMenuApp());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RestaurantMenuApp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RestaurantMenuApp({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MaterialApp(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debugShowCheckedModeBanner: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home: MenuScreen(),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48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48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48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48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Restaurant Menu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48"/>
          <p:cNvSpPr/>
          <p:nvPr/>
        </p:nvSpPr>
        <p:spPr>
          <a:xfrm>
            <a:off x="9052560" y="256032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48"/>
          <p:cNvSpPr/>
          <p:nvPr/>
        </p:nvSpPr>
        <p:spPr>
          <a:xfrm>
            <a:off x="9189720" y="274320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48"/>
          <p:cNvSpPr txBox="1"/>
          <p:nvPr/>
        </p:nvSpPr>
        <p:spPr>
          <a:xfrm>
            <a:off x="9875520" y="274320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Vegetable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48"/>
          <p:cNvSpPr/>
          <p:nvPr/>
        </p:nvSpPr>
        <p:spPr>
          <a:xfrm>
            <a:off x="9052560" y="374904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48"/>
          <p:cNvSpPr/>
          <p:nvPr/>
        </p:nvSpPr>
        <p:spPr>
          <a:xfrm>
            <a:off x="9189720" y="393192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48"/>
          <p:cNvSpPr txBox="1"/>
          <p:nvPr/>
        </p:nvSpPr>
        <p:spPr>
          <a:xfrm>
            <a:off x="9875520" y="393192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Cheese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8"/>
          <p:cNvSpPr/>
          <p:nvPr/>
        </p:nvSpPr>
        <p:spPr>
          <a:xfrm>
            <a:off x="9052560" y="493776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48"/>
          <p:cNvSpPr/>
          <p:nvPr/>
        </p:nvSpPr>
        <p:spPr>
          <a:xfrm>
            <a:off x="9189720" y="512064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48"/>
          <p:cNvSpPr txBox="1"/>
          <p:nvPr/>
        </p:nvSpPr>
        <p:spPr>
          <a:xfrm>
            <a:off x="9875520" y="512064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Box of Fries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8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4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4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4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3.1: the menu screen</a:t>
            </a:r>
            <a:endParaRPr sz="3200"/>
          </a:p>
        </p:txBody>
      </p:sp>
      <p:sp>
        <p:nvSpPr>
          <p:cNvPr id="1299" name="Google Shape;1299;p4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4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9"/>
          <p:cNvSpPr/>
          <p:nvPr/>
        </p:nvSpPr>
        <p:spPr>
          <a:xfrm>
            <a:off x="548640" y="1554480"/>
            <a:ext cx="7863840" cy="4548226"/>
          </a:xfrm>
          <a:prstGeom prst="roundRect">
            <a:avLst>
              <a:gd fmla="val 241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49"/>
          <p:cNvSpPr txBox="1"/>
          <p:nvPr/>
        </p:nvSpPr>
        <p:spPr>
          <a:xfrm>
            <a:off x="777240" y="2011680"/>
            <a:ext cx="7498080" cy="3999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MenuScreen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MenuScreen({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Scaffold(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appBar: AppBar(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'Restaurant Menu'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backgroundColor: Colors.deepOrange,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body: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SafeArea(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Column(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children: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MenuCard(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'VegetablePZ.png'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'Vegetable Pizza'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MenuCard(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'cheesePZ.png'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'Cheese Pizza'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MenuCard(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'Fries.png'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'Box of Fries'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49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49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49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49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Restaurant Menu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49"/>
          <p:cNvSpPr/>
          <p:nvPr/>
        </p:nvSpPr>
        <p:spPr>
          <a:xfrm>
            <a:off x="9052560" y="256032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49"/>
          <p:cNvSpPr/>
          <p:nvPr/>
        </p:nvSpPr>
        <p:spPr>
          <a:xfrm>
            <a:off x="9189720" y="274320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49"/>
          <p:cNvSpPr txBox="1"/>
          <p:nvPr/>
        </p:nvSpPr>
        <p:spPr>
          <a:xfrm>
            <a:off x="9875520" y="274320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Vegetable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49"/>
          <p:cNvSpPr/>
          <p:nvPr/>
        </p:nvSpPr>
        <p:spPr>
          <a:xfrm>
            <a:off x="9052560" y="374904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49"/>
          <p:cNvSpPr/>
          <p:nvPr/>
        </p:nvSpPr>
        <p:spPr>
          <a:xfrm>
            <a:off x="9189720" y="393192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49"/>
          <p:cNvSpPr txBox="1"/>
          <p:nvPr/>
        </p:nvSpPr>
        <p:spPr>
          <a:xfrm>
            <a:off x="9875520" y="393192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Cheese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49"/>
          <p:cNvSpPr/>
          <p:nvPr/>
        </p:nvSpPr>
        <p:spPr>
          <a:xfrm>
            <a:off x="9052560" y="493776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49"/>
          <p:cNvSpPr/>
          <p:nvPr/>
        </p:nvSpPr>
        <p:spPr>
          <a:xfrm>
            <a:off x="9189720" y="512064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49"/>
          <p:cNvSpPr txBox="1"/>
          <p:nvPr/>
        </p:nvSpPr>
        <p:spPr>
          <a:xfrm>
            <a:off x="9875520" y="512064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Box of Fries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49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4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5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50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3.1: MenuCard (part 1)</a:t>
            </a:r>
            <a:endParaRPr sz="3200"/>
          </a:p>
        </p:txBody>
      </p:sp>
      <p:sp>
        <p:nvSpPr>
          <p:cNvPr id="1329" name="Google Shape;1329;p50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50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0"/>
          <p:cNvSpPr/>
          <p:nvPr/>
        </p:nvSpPr>
        <p:spPr>
          <a:xfrm>
            <a:off x="548640" y="1554480"/>
            <a:ext cx="11109960" cy="3670402"/>
          </a:xfrm>
          <a:prstGeom prst="roundRect">
            <a:avLst>
              <a:gd fmla="val 299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50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50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50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0"/>
          <p:cNvSpPr txBox="1"/>
          <p:nvPr/>
        </p:nvSpPr>
        <p:spPr>
          <a:xfrm>
            <a:off x="1463040" y="1645920"/>
            <a:ext cx="9921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50"/>
          <p:cNvSpPr txBox="1"/>
          <p:nvPr/>
        </p:nvSpPr>
        <p:spPr>
          <a:xfrm>
            <a:off x="777240" y="2011680"/>
            <a:ext cx="10744200" cy="312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MenuCard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MenuCard(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.file,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file;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Card(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elevation: 5,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color: Colors.orange,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margin: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EdgeInsets.all(12),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shape: RoundedRectangleBorder(borderRadius: BorderRadius.circular(15)),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child: ...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continues on the next slide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50"/>
          <p:cNvSpPr/>
          <p:nvPr/>
        </p:nvSpPr>
        <p:spPr>
          <a:xfrm>
            <a:off x="548640" y="5257800"/>
            <a:ext cx="11109960" cy="868680"/>
          </a:xfrm>
          <a:prstGeom prst="roundRect">
            <a:avLst>
              <a:gd fmla="val 1263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0"/>
          <p:cNvSpPr txBox="1"/>
          <p:nvPr/>
        </p:nvSpPr>
        <p:spPr>
          <a:xfrm>
            <a:off x="777240" y="5257800"/>
            <a:ext cx="10698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Reusable widget: the same Card layout is used for all three foods, only the image file and name change.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50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5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5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3.1: MenuCard (part 2)</a:t>
            </a:r>
            <a:endParaRPr sz="3200"/>
          </a:p>
        </p:txBody>
      </p:sp>
      <p:sp>
        <p:nvSpPr>
          <p:cNvPr id="1347" name="Google Shape;1347;p5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5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51"/>
          <p:cNvSpPr/>
          <p:nvPr/>
        </p:nvSpPr>
        <p:spPr>
          <a:xfrm>
            <a:off x="548640" y="1554480"/>
            <a:ext cx="7863840" cy="3670402"/>
          </a:xfrm>
          <a:prstGeom prst="roundRect">
            <a:avLst>
              <a:gd fmla="val 299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51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51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51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51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  (child of Card)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51"/>
          <p:cNvSpPr txBox="1"/>
          <p:nvPr/>
        </p:nvSpPr>
        <p:spPr>
          <a:xfrm>
            <a:off x="777240" y="2011680"/>
            <a:ext cx="7498080" cy="312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child: Padding(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EdgeInsets.all(16),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Row(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children: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Image.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'assets/images/$file'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width: 100, height: 100),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SizedBox(width: 20),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style: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TextStyle(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fontSize: 30,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color: Colors.white,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fontWeight: FontWeight.bold,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51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51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51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51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Restaurant Menu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51"/>
          <p:cNvSpPr/>
          <p:nvPr/>
        </p:nvSpPr>
        <p:spPr>
          <a:xfrm>
            <a:off x="9052560" y="256032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51"/>
          <p:cNvSpPr/>
          <p:nvPr/>
        </p:nvSpPr>
        <p:spPr>
          <a:xfrm>
            <a:off x="9189720" y="274320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51"/>
          <p:cNvSpPr txBox="1"/>
          <p:nvPr/>
        </p:nvSpPr>
        <p:spPr>
          <a:xfrm>
            <a:off x="9875520" y="274320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Vegetable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51"/>
          <p:cNvSpPr/>
          <p:nvPr/>
        </p:nvSpPr>
        <p:spPr>
          <a:xfrm>
            <a:off x="9052560" y="374904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51"/>
          <p:cNvSpPr/>
          <p:nvPr/>
        </p:nvSpPr>
        <p:spPr>
          <a:xfrm>
            <a:off x="9189720" y="393192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51"/>
          <p:cNvSpPr txBox="1"/>
          <p:nvPr/>
        </p:nvSpPr>
        <p:spPr>
          <a:xfrm>
            <a:off x="9875520" y="393192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Cheese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51"/>
          <p:cNvSpPr/>
          <p:nvPr/>
        </p:nvSpPr>
        <p:spPr>
          <a:xfrm>
            <a:off x="9052560" y="493776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51"/>
          <p:cNvSpPr/>
          <p:nvPr/>
        </p:nvSpPr>
        <p:spPr>
          <a:xfrm>
            <a:off x="9189720" y="512064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51"/>
          <p:cNvSpPr txBox="1"/>
          <p:nvPr/>
        </p:nvSpPr>
        <p:spPr>
          <a:xfrm>
            <a:off x="9875520" y="512064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Box of Fries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51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5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5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5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Before you open the Pull Request</a:t>
            </a:r>
            <a:endParaRPr sz="3200"/>
          </a:p>
        </p:txBody>
      </p:sp>
      <p:sp>
        <p:nvSpPr>
          <p:cNvPr id="1377" name="Google Shape;1377;p5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5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52"/>
          <p:cNvSpPr/>
          <p:nvPr/>
        </p:nvSpPr>
        <p:spPr>
          <a:xfrm>
            <a:off x="548640" y="1600200"/>
            <a:ext cx="111099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52"/>
          <p:cNvSpPr/>
          <p:nvPr/>
        </p:nvSpPr>
        <p:spPr>
          <a:xfrm rot="2700000">
            <a:off x="777240" y="1709928"/>
            <a:ext cx="548640" cy="54864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52"/>
          <p:cNvSpPr txBox="1"/>
          <p:nvPr/>
        </p:nvSpPr>
        <p:spPr>
          <a:xfrm>
            <a:off x="640080" y="1773936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52"/>
          <p:cNvSpPr txBox="1"/>
          <p:nvPr/>
        </p:nvSpPr>
        <p:spPr>
          <a:xfrm>
            <a:off x="1691640" y="1600200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dart format 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52"/>
          <p:cNvSpPr txBox="1"/>
          <p:nvPr/>
        </p:nvSpPr>
        <p:spPr>
          <a:xfrm>
            <a:off x="7498080" y="160020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Format every 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52"/>
          <p:cNvSpPr/>
          <p:nvPr/>
        </p:nvSpPr>
        <p:spPr>
          <a:xfrm>
            <a:off x="548640" y="2496312"/>
            <a:ext cx="111099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52"/>
          <p:cNvSpPr/>
          <p:nvPr/>
        </p:nvSpPr>
        <p:spPr>
          <a:xfrm rot="2700000">
            <a:off x="777240" y="2606040"/>
            <a:ext cx="548640" cy="54864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52"/>
          <p:cNvSpPr txBox="1"/>
          <p:nvPr/>
        </p:nvSpPr>
        <p:spPr>
          <a:xfrm>
            <a:off x="640080" y="2670048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52"/>
          <p:cNvSpPr txBox="1"/>
          <p:nvPr/>
        </p:nvSpPr>
        <p:spPr>
          <a:xfrm>
            <a:off x="1691640" y="2496312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flutter analyze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52"/>
          <p:cNvSpPr txBox="1"/>
          <p:nvPr/>
        </p:nvSpPr>
        <p:spPr>
          <a:xfrm>
            <a:off x="7498080" y="249631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Must report: No issues found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52"/>
          <p:cNvSpPr/>
          <p:nvPr/>
        </p:nvSpPr>
        <p:spPr>
          <a:xfrm>
            <a:off x="548640" y="3392424"/>
            <a:ext cx="111099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52"/>
          <p:cNvSpPr/>
          <p:nvPr/>
        </p:nvSpPr>
        <p:spPr>
          <a:xfrm rot="2700000">
            <a:off x="777240" y="3502152"/>
            <a:ext cx="548640" cy="548640"/>
          </a:xfrm>
          <a:prstGeom prst="roundRect">
            <a:avLst>
              <a:gd fmla="val 120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52"/>
          <p:cNvSpPr txBox="1"/>
          <p:nvPr/>
        </p:nvSpPr>
        <p:spPr>
          <a:xfrm>
            <a:off x="640080" y="3566160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2"/>
          <p:cNvSpPr txBox="1"/>
          <p:nvPr/>
        </p:nvSpPr>
        <p:spPr>
          <a:xfrm>
            <a:off x="1691640" y="3392424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 -b feature/menu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52"/>
          <p:cNvSpPr txBox="1"/>
          <p:nvPr/>
        </p:nvSpPr>
        <p:spPr>
          <a:xfrm>
            <a:off x="7498080" y="3392424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Work on a feature branch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52"/>
          <p:cNvSpPr/>
          <p:nvPr/>
        </p:nvSpPr>
        <p:spPr>
          <a:xfrm>
            <a:off x="548640" y="4288536"/>
            <a:ext cx="111099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52"/>
          <p:cNvSpPr/>
          <p:nvPr/>
        </p:nvSpPr>
        <p:spPr>
          <a:xfrm rot="2700000">
            <a:off x="777240" y="4398264"/>
            <a:ext cx="548640" cy="548640"/>
          </a:xfrm>
          <a:prstGeom prst="roundRect">
            <a:avLst>
              <a:gd fmla="val 120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52"/>
          <p:cNvSpPr txBox="1"/>
          <p:nvPr/>
        </p:nvSpPr>
        <p:spPr>
          <a:xfrm>
            <a:off x="640080" y="4462272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52"/>
          <p:cNvSpPr txBox="1"/>
          <p:nvPr/>
        </p:nvSpPr>
        <p:spPr>
          <a:xfrm>
            <a:off x="1691640" y="4288536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git push -u origin feature/menu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52"/>
          <p:cNvSpPr txBox="1"/>
          <p:nvPr/>
        </p:nvSpPr>
        <p:spPr>
          <a:xfrm>
            <a:off x="7498080" y="4288536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Then open the PR on GitHub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52"/>
          <p:cNvSpPr/>
          <p:nvPr/>
        </p:nvSpPr>
        <p:spPr>
          <a:xfrm>
            <a:off x="548640" y="5440680"/>
            <a:ext cx="243459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52"/>
          <p:cNvSpPr txBox="1"/>
          <p:nvPr/>
        </p:nvSpPr>
        <p:spPr>
          <a:xfrm>
            <a:off x="621792" y="5440680"/>
            <a:ext cx="228828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Open PR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1" name="Google Shape;1401;p52"/>
          <p:cNvCxnSpPr/>
          <p:nvPr/>
        </p:nvCxnSpPr>
        <p:spPr>
          <a:xfrm>
            <a:off x="3028950" y="57835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2" name="Google Shape;1402;p52"/>
          <p:cNvSpPr/>
          <p:nvPr/>
        </p:nvSpPr>
        <p:spPr>
          <a:xfrm>
            <a:off x="3440430" y="5440680"/>
            <a:ext cx="243459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2"/>
          <p:cNvSpPr txBox="1"/>
          <p:nvPr/>
        </p:nvSpPr>
        <p:spPr>
          <a:xfrm>
            <a:off x="3513582" y="5440680"/>
            <a:ext cx="228828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CI runs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4" name="Google Shape;1404;p52"/>
          <p:cNvCxnSpPr/>
          <p:nvPr/>
        </p:nvCxnSpPr>
        <p:spPr>
          <a:xfrm>
            <a:off x="5920740" y="57835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5" name="Google Shape;1405;p52"/>
          <p:cNvSpPr/>
          <p:nvPr/>
        </p:nvSpPr>
        <p:spPr>
          <a:xfrm>
            <a:off x="6332220" y="5440680"/>
            <a:ext cx="243459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2"/>
          <p:cNvSpPr txBox="1"/>
          <p:nvPr/>
        </p:nvSpPr>
        <p:spPr>
          <a:xfrm>
            <a:off x="6405372" y="5440680"/>
            <a:ext cx="228828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Checks green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7" name="Google Shape;1407;p52"/>
          <p:cNvCxnSpPr/>
          <p:nvPr/>
        </p:nvCxnSpPr>
        <p:spPr>
          <a:xfrm>
            <a:off x="8812530" y="57835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8" name="Google Shape;1408;p52"/>
          <p:cNvSpPr/>
          <p:nvPr/>
        </p:nvSpPr>
        <p:spPr>
          <a:xfrm>
            <a:off x="9224010" y="5440680"/>
            <a:ext cx="2434590" cy="685800"/>
          </a:xfrm>
          <a:prstGeom prst="roundRect">
            <a:avLst>
              <a:gd fmla="val 16000" name="adj"/>
            </a:avLst>
          </a:prstGeom>
          <a:solidFill>
            <a:srgbClr val="3CC48A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2"/>
          <p:cNvSpPr txBox="1"/>
          <p:nvPr/>
        </p:nvSpPr>
        <p:spPr>
          <a:xfrm>
            <a:off x="9297162" y="5440680"/>
            <a:ext cx="228828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5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53"/>
          <p:cNvSpPr txBox="1"/>
          <p:nvPr>
            <p:ph type="title"/>
          </p:nvPr>
        </p:nvSpPr>
        <p:spPr>
          <a:xfrm>
            <a:off x="822960" y="201168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Any Questions?</a:t>
            </a:r>
            <a:endParaRPr sz="4400"/>
          </a:p>
        </p:txBody>
      </p:sp>
      <p:sp>
        <p:nvSpPr>
          <p:cNvPr id="1417" name="Google Shape;1417;p53"/>
          <p:cNvSpPr/>
          <p:nvPr/>
        </p:nvSpPr>
        <p:spPr>
          <a:xfrm rot="2700000">
            <a:off x="7955280" y="822960"/>
            <a:ext cx="4206240" cy="4206240"/>
          </a:xfrm>
          <a:prstGeom prst="roundRect">
            <a:avLst>
              <a:gd fmla="val 12000" name="adj"/>
            </a:avLst>
          </a:prstGeom>
          <a:solidFill>
            <a:srgbClr val="2E9E8F">
              <a:alpha val="80000"/>
            </a:srgbClr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53"/>
          <p:cNvSpPr/>
          <p:nvPr/>
        </p:nvSpPr>
        <p:spPr>
          <a:xfrm rot="2700000">
            <a:off x="8366760" y="1234440"/>
            <a:ext cx="3383280" cy="3383280"/>
          </a:xfrm>
          <a:prstGeom prst="roundRect">
            <a:avLst>
              <a:gd fmla="val 12000" name="adj"/>
            </a:avLst>
          </a:prstGeom>
          <a:solidFill>
            <a:srgbClr val="3CC48A">
              <a:alpha val="30196"/>
            </a:srgbClr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Question mark" id="1419" name="Google Shape;141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0" y="233172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53"/>
          <p:cNvSpPr txBox="1"/>
          <p:nvPr/>
        </p:nvSpPr>
        <p:spPr>
          <a:xfrm>
            <a:off x="822960" y="365760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DE0B5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53"/>
          <p:cNvSpPr txBox="1"/>
          <p:nvPr/>
        </p:nvSpPr>
        <p:spPr>
          <a:xfrm>
            <a:off x="822960" y="429768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Mr. Raynold Anak Kabai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53"/>
          <p:cNvSpPr txBox="1"/>
          <p:nvPr/>
        </p:nvSpPr>
        <p:spPr>
          <a:xfrm>
            <a:off x="822960" y="475488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2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9B2CF"/>
                </a:solidFill>
                <a:latin typeface="Calibri"/>
                <a:ea typeface="Calibri"/>
                <a:cs typeface="Calibri"/>
                <a:sym typeface="Calibri"/>
              </a:rPr>
              <a:t>TMA3084 – Software Engineering Laboratory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art Up Teal">
  <a:themeElements>
    <a:clrScheme name="Start Up Teal">
      <a:dk1>
        <a:srgbClr val="1E2438"/>
      </a:dk1>
      <a:lt1>
        <a:srgbClr val="FFFFFF"/>
      </a:lt1>
      <a:dk2>
        <a:srgbClr val="252C48"/>
      </a:dk2>
      <a:lt2>
        <a:srgbClr val="F2F4F7"/>
      </a:lt2>
      <a:accent1>
        <a:srgbClr val="2E9E8F"/>
      </a:accent1>
      <a:accent2>
        <a:srgbClr val="3CC48A"/>
      </a:accent2>
      <a:accent3>
        <a:srgbClr val="F2B134"/>
      </a:accent3>
      <a:accent4>
        <a:srgbClr val="E8604C"/>
      </a:accent4>
      <a:accent5>
        <a:srgbClr val="5B6BC0"/>
      </a:accent5>
      <a:accent6>
        <a:srgbClr val="6B7390"/>
      </a:accent6>
      <a:hlink>
        <a:srgbClr val="2E9E8F"/>
      </a:hlink>
      <a:folHlink>
        <a:srgbClr val="6B739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art Up Teal">
  <a:themeElements>
    <a:clrScheme name="Start Up Teal">
      <a:dk1>
        <a:srgbClr val="1E2438"/>
      </a:dk1>
      <a:lt1>
        <a:srgbClr val="FFFFFF"/>
      </a:lt1>
      <a:dk2>
        <a:srgbClr val="252C48"/>
      </a:dk2>
      <a:lt2>
        <a:srgbClr val="F2F4F7"/>
      </a:lt2>
      <a:accent1>
        <a:srgbClr val="2E9E8F"/>
      </a:accent1>
      <a:accent2>
        <a:srgbClr val="3CC48A"/>
      </a:accent2>
      <a:accent3>
        <a:srgbClr val="F2B134"/>
      </a:accent3>
      <a:accent4>
        <a:srgbClr val="E8604C"/>
      </a:accent4>
      <a:accent5>
        <a:srgbClr val="5B6BC0"/>
      </a:accent5>
      <a:accent6>
        <a:srgbClr val="6B7390"/>
      </a:accent6>
      <a:hlink>
        <a:srgbClr val="2E9E8F"/>
      </a:hlink>
      <a:folHlink>
        <a:srgbClr val="6B739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