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9034F9B4-AA43-78C7-455A-F69A45B8E8E5}">
          <p14:sldIdLst>
            <p14:sldId id="256"/>
            <p14:sldId id="257"/>
          </p14:sldIdLst>
        </p14:section>
        <p14:section name="Flutter" id="{CE39D23C-6A77-7294-46D8-CDC7F328935D}">
          <p14:sldIdLst>
            <p14:sldId id="258"/>
            <p14:sldId id="259"/>
          </p14:sldIdLst>
        </p14:section>
        <p14:section name="Dart" id="{282CF6C9-2D1A-19E2-FE62-5A7DDA68746B}">
          <p14:sldIdLst>
            <p14:sldId id="260"/>
            <p14:sldId id="261"/>
          </p14:sldIdLst>
        </p14:section>
        <p14:section name="Dart SDK" id="{BEDB36BB-C170-C119-12FD-65E59CD72E14}">
          <p14:sldIdLst>
            <p14:sldId id="262"/>
            <p14:sldId id="263"/>
            <p14:sldId id="264"/>
            <p14:sldId id="265"/>
            <p14:sldId id="266"/>
          </p14:sldIdLst>
        </p14:section>
        <p14:section name="VS Code" id="{E8FF7479-715A-C898-E861-44BDAEACB886}">
          <p14:sldIdLst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Dart to VSC" id="{92162677-2046-CFB8-3EE1-99C222C20785}">
          <p14:sldIdLst>
            <p14:sldId id="273"/>
            <p14:sldId id="274"/>
            <p14:sldId id="275"/>
            <p14:sldId id="276"/>
          </p14:sldIdLst>
        </p14:section>
        <p14:section name="Run VS Code" id="{6D01E5D0-44E6-AEB9-8C2A-374ACAAD90D7}">
          <p14:sldIdLst>
            <p14:sldId id="277"/>
            <p14:sldId id="278"/>
            <p14:sldId id="279"/>
            <p14:sldId id="280"/>
            <p14:sldId id="281"/>
            <p14:sldId id="282"/>
          </p14:sldIdLst>
        </p14:section>
        <p14:section name="GitHub and CI/CD" id="{F8CB1DF8-C21F-2C8B-798C-7259D9318906}">
          <p14:sldIdLst>
            <p14:sldId id="283"/>
            <p14:sldId id="284"/>
            <p14:sldId id="285"/>
            <p14:sldId id="286"/>
          </p14:sldIdLst>
        </p14:section>
        <p14:section name="Closing" id="{E6EDC73F-4159-FCF7-7E34-60FA7EB143FD}">
          <p14:sldIdLst>
            <p14:sldId id="287"/>
            <p14:sldId id="28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8350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-pi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11480"/>
            <a:ext cx="2606040" cy="676656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1783080"/>
            <a:ext cx="612648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-pi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4272" y="274320"/>
            <a:ext cx="2606040" cy="676656"/>
          </a:xfrm>
          <a:prstGeom prst="rect">
            <a:avLst/>
          </a:prstGeom>
        </p:spPr>
      </p:pic>
      <p:pic>
        <p:nvPicPr>
          <p:cNvPr id="3" name="Image 1" descr="/home/claude/assets/diamond-du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347472"/>
            <a:ext cx="731520" cy="7315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>
                    <a:alpha val="65000"/>
                  </a:schemeClr>
                </a:solidFill>
              </a:rPr>
              <a:t>TMA3084 · Software Engineering Laboratory</a:t>
            </a:r>
            <a:endParaRPr lang="en-US" sz="1000" dirty="0"/>
          </a:p>
        </p:txBody>
      </p:sp>
      <p:sp>
        <p:nvSpPr>
          <p:cNvPr id="5" name="Text 1"/>
          <p:cNvSpPr>
            <a:spLocks noGrp="1"/>
          </p:cNvSpPr>
          <p:nvPr>
            <p:ph type="title" idx="103" hasCustomPrompt="1"/>
          </p:nvPr>
        </p:nvSpPr>
        <p:spPr>
          <a:xfrm>
            <a:off x="1371600" y="365760"/>
            <a:ext cx="749808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C9CCE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2"/>
          </a:solidFill>
          <a:ln/>
        </p:spPr>
      </p:sp>
      <p:pic>
        <p:nvPicPr>
          <p:cNvPr id="3" name="Image 0" descr="/home/claude/assets/diamond-du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347472"/>
            <a:ext cx="731520" cy="731520"/>
          </a:xfrm>
          <a:prstGeom prst="rect">
            <a:avLst/>
          </a:prstGeom>
        </p:spPr>
      </p:pic>
      <p:pic>
        <p:nvPicPr>
          <p:cNvPr id="4" name="Image 1" descr="/home/claude/media/s1_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1160" y="301752"/>
            <a:ext cx="2377440" cy="52120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TMA3084 · Software Engineering Laboratory</a:t>
            </a:r>
            <a:endParaRPr lang="en-US" sz="1000" dirty="0"/>
          </a:p>
        </p:txBody>
      </p:sp>
      <p:sp>
        <p:nvSpPr>
          <p:cNvPr id="6" name="Text 2"/>
          <p:cNvSpPr>
            <a:spLocks noGrp="1"/>
          </p:cNvSpPr>
          <p:nvPr>
            <p:ph type="title" idx="104" hasCustomPrompt="1"/>
          </p:nvPr>
        </p:nvSpPr>
        <p:spPr>
          <a:xfrm>
            <a:off x="1371600" y="365760"/>
            <a:ext cx="768096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A60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-pi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4272" y="274320"/>
            <a:ext cx="2606040" cy="676656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3630168" y="2834640"/>
            <a:ext cx="49377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marL="0" indent="0" algn="ctr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C9CCE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jp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0.png"/><Relationship Id="rId5" Type="http://schemas.openxmlformats.org/officeDocument/2006/relationships/hyperlink" Target="https://dartpad.dev" TargetMode="Externa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1bwBnE3ouTo" TargetMode="External"/><Relationship Id="rId3" Type="http://schemas.openxmlformats.org/officeDocument/2006/relationships/image" Target="../media/image21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gekorm.com/dart-windows" TargetMode="External"/><Relationship Id="rId5" Type="http://schemas.openxmlformats.org/officeDocument/2006/relationships/hyperlink" Target="https://dart.dev/get-dart" TargetMode="External"/><Relationship Id="rId4" Type="http://schemas.openxmlformats.org/officeDocument/2006/relationships/hyperlink" Target="https://dart.dev" TargetMode="External"/><Relationship Id="rId9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code.visualstudio.com/download" TargetMode="External"/><Relationship Id="rId5" Type="http://schemas.openxmlformats.org/officeDocument/2006/relationships/image" Target="../media/image21.png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-scm.com/install/windows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hyperlink" Target="https://www.youtube.com/watch?v=1bwBnE3ouTo" TargetMode="Externa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1325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chemeClr val="accent2"/>
                </a:solidFill>
              </a:rPr>
              <a:t>LESSON 1</a:t>
            </a:r>
            <a:endParaRPr lang="en-US" sz="16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1783080"/>
            <a:ext cx="6126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INTRODUCTION TO </a:t>
            </a:r>
            <a:r>
              <a:rPr lang="en-US" sz="3400" b="1" dirty="0">
                <a:solidFill>
                  <a:schemeClr val="accent2"/>
                </a:solidFill>
              </a:rPr>
              <a:t>FLUTTER</a:t>
            </a:r>
            <a:r>
              <a:rPr lang="en-US" sz="3400" b="1" dirty="0">
                <a:solidFill>
                  <a:schemeClr val="bg1"/>
                </a:solidFill>
              </a:rPr>
              <a:t> AND </a:t>
            </a:r>
            <a:r>
              <a:rPr lang="en-US" sz="3400" b="1" dirty="0">
                <a:solidFill>
                  <a:schemeClr val="accent2"/>
                </a:solidFill>
              </a:rPr>
              <a:t>DART</a:t>
            </a:r>
            <a:r>
              <a:rPr lang="en-US" sz="3400" b="1" dirty="0">
                <a:solidFill>
                  <a:schemeClr val="bg1"/>
                </a:solidFill>
              </a:rPr>
              <a:t> PROGRAMMING LANGUAGE</a:t>
            </a:r>
            <a:endParaRPr lang="en-US" sz="3400" dirty="0"/>
          </a:p>
        </p:txBody>
      </p:sp>
      <p:sp>
        <p:nvSpPr>
          <p:cNvPr id="4" name="Course"/>
          <p:cNvSpPr txBox="1"/>
          <p:nvPr/>
        </p:nvSpPr>
        <p:spPr>
          <a:xfrm>
            <a:off x="548640" y="397764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2"/>
                </a:solidFill>
              </a:rPr>
              <a:t>TMA3084 - Software Engineering Laboratory</a:t>
            </a:r>
            <a:endParaRPr lang="en-US" sz="1800" dirty="0"/>
          </a:p>
        </p:txBody>
      </p:sp>
      <p:sp>
        <p:nvSpPr>
          <p:cNvPr id="5" name="Bullet"/>
          <p:cNvSpPr/>
          <p:nvPr/>
        </p:nvSpPr>
        <p:spPr>
          <a:xfrm rot="2700000">
            <a:off x="616245" y="5041941"/>
            <a:ext cx="193974" cy="193974"/>
          </a:xfrm>
          <a:prstGeom prst="roundRect">
            <a:avLst>
              <a:gd name="adj" fmla="val 16000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" name="Lab demo"/>
          <p:cNvSpPr txBox="1"/>
          <p:nvPr/>
        </p:nvSpPr>
        <p:spPr>
          <a:xfrm>
            <a:off x="1005840" y="49560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Lab Demo: </a:t>
            </a:r>
            <a:r>
              <a:rPr lang="en-US" sz="1700" b="1" dirty="0">
                <a:solidFill>
                  <a:schemeClr val="bg1"/>
                </a:solidFill>
              </a:rPr>
              <a:t>Mr. Raynold Anak </a:t>
            </a:r>
            <a:r>
              <a:rPr lang="en-US" sz="1700" b="1" dirty="0" err="1">
                <a:solidFill>
                  <a:schemeClr val="bg1"/>
                </a:solidFill>
              </a:rPr>
              <a:t>Kabai</a:t>
            </a:r>
            <a:endParaRPr lang="en-US" sz="1700" dirty="0"/>
          </a:p>
        </p:txBody>
      </p:sp>
      <p:sp>
        <p:nvSpPr>
          <p:cNvPr id="7" name="Bullet"/>
          <p:cNvSpPr/>
          <p:nvPr/>
        </p:nvSpPr>
        <p:spPr>
          <a:xfrm rot="2700000">
            <a:off x="616245" y="5544861"/>
            <a:ext cx="193974" cy="193974"/>
          </a:xfrm>
          <a:prstGeom prst="roundRect">
            <a:avLst>
              <a:gd name="adj" fmla="val 16000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8" name="Lecturer"/>
          <p:cNvSpPr txBox="1"/>
          <p:nvPr/>
        </p:nvSpPr>
        <p:spPr>
          <a:xfrm>
            <a:off x="1005840" y="545896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Lecturer: </a:t>
            </a:r>
            <a:r>
              <a:rPr lang="en-US" sz="1700" dirty="0">
                <a:solidFill>
                  <a:schemeClr val="bg1"/>
                </a:solidFill>
              </a:rPr>
              <a:t>Madam Nurfauza Binti Jali</a:t>
            </a:r>
            <a:endParaRPr lang="en-US" sz="1700" dirty="0"/>
          </a:p>
        </p:txBody>
      </p:sp>
      <p:sp>
        <p:nvSpPr>
          <p:cNvPr id="9" name="Diamond label"/>
          <p:cNvSpPr txBox="1"/>
          <p:nvPr/>
        </p:nvSpPr>
        <p:spPr>
          <a:xfrm>
            <a:off x="7955280" y="2606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kern="0" spc="600" dirty="0">
                <a:solidFill>
                  <a:schemeClr val="bg1"/>
                </a:solidFill>
              </a:rPr>
              <a:t>LESSON</a:t>
            </a:r>
            <a:endParaRPr lang="en-US" sz="1600" dirty="0"/>
          </a:p>
        </p:txBody>
      </p:sp>
      <p:sp>
        <p:nvSpPr>
          <p:cNvPr id="10" name="Diamond number"/>
          <p:cNvSpPr txBox="1"/>
          <p:nvPr/>
        </p:nvSpPr>
        <p:spPr>
          <a:xfrm>
            <a:off x="7955280" y="292608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chemeClr val="bg1"/>
                </a:solidFill>
              </a:rPr>
              <a:t>01</a:t>
            </a:r>
            <a:endParaRPr lang="en-US" sz="8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3" hasCustomPrompt="1"/>
          </p:nvPr>
        </p:nvSpPr>
        <p:spPr>
          <a:xfrm>
            <a:off x="1371600" y="36576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TABLE OF </a:t>
            </a:r>
            <a:r>
              <a:rPr lang="en-US" sz="3200" b="1" dirty="0">
                <a:solidFill>
                  <a:schemeClr val="accent2"/>
                </a:solidFill>
              </a:rPr>
              <a:t>CONTENTS</a:t>
            </a:r>
            <a:endParaRPr lang="en-US" sz="3200" dirty="0"/>
          </a:p>
        </p:txBody>
      </p:sp>
      <p:sp>
        <p:nvSpPr>
          <p:cNvPr id="3" name="Number badge 1"/>
          <p:cNvSpPr/>
          <p:nvPr/>
        </p:nvSpPr>
        <p:spPr>
          <a:xfrm rot="2700000">
            <a:off x="913924" y="1736884"/>
            <a:ext cx="549592" cy="549592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" name="Number 1"/>
          <p:cNvSpPr txBox="1"/>
          <p:nvPr/>
        </p:nvSpPr>
        <p:spPr>
          <a:xfrm>
            <a:off x="877824" y="170078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OC item 1"/>
          <p:cNvSpPr txBox="1"/>
          <p:nvPr/>
        </p:nvSpPr>
        <p:spPr>
          <a:xfrm>
            <a:off x="1783080" y="17373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</a:rPr>
              <a:t>Introduction</a:t>
            </a:r>
            <a:endParaRPr lang="en-US" sz="2200" dirty="0"/>
          </a:p>
        </p:txBody>
      </p:sp>
      <p:sp>
        <p:nvSpPr>
          <p:cNvPr id="6" name="Number badge 2"/>
          <p:cNvSpPr/>
          <p:nvPr/>
        </p:nvSpPr>
        <p:spPr>
          <a:xfrm rot="2700000">
            <a:off x="913924" y="2925604"/>
            <a:ext cx="549592" cy="549592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7" name="Number 2"/>
          <p:cNvSpPr txBox="1"/>
          <p:nvPr/>
        </p:nvSpPr>
        <p:spPr>
          <a:xfrm>
            <a:off x="877824" y="288950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8" name="TOC item 2"/>
          <p:cNvSpPr txBox="1"/>
          <p:nvPr/>
        </p:nvSpPr>
        <p:spPr>
          <a:xfrm>
            <a:off x="1783080" y="29260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</a:rPr>
              <a:t>Importance of Flutter</a:t>
            </a:r>
            <a:endParaRPr lang="en-US" sz="2200" dirty="0"/>
          </a:p>
        </p:txBody>
      </p:sp>
      <p:sp>
        <p:nvSpPr>
          <p:cNvPr id="9" name="Number badge 3"/>
          <p:cNvSpPr/>
          <p:nvPr/>
        </p:nvSpPr>
        <p:spPr>
          <a:xfrm rot="2700000">
            <a:off x="913924" y="4114324"/>
            <a:ext cx="549592" cy="549592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0" name="Number 3"/>
          <p:cNvSpPr txBox="1"/>
          <p:nvPr/>
        </p:nvSpPr>
        <p:spPr>
          <a:xfrm>
            <a:off x="877824" y="407822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1" name="TOC item 3"/>
          <p:cNvSpPr txBox="1"/>
          <p:nvPr/>
        </p:nvSpPr>
        <p:spPr>
          <a:xfrm>
            <a:off x="1783080" y="41148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</a:rPr>
              <a:t>Introduction to Dart</a:t>
            </a:r>
            <a:endParaRPr lang="en-US" sz="2200" dirty="0"/>
          </a:p>
        </p:txBody>
      </p:sp>
      <p:sp>
        <p:nvSpPr>
          <p:cNvPr id="12" name="Number badge 4"/>
          <p:cNvSpPr/>
          <p:nvPr/>
        </p:nvSpPr>
        <p:spPr>
          <a:xfrm rot="2700000">
            <a:off x="913924" y="5303044"/>
            <a:ext cx="549592" cy="549592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3" name="Number 4"/>
          <p:cNvSpPr txBox="1"/>
          <p:nvPr/>
        </p:nvSpPr>
        <p:spPr>
          <a:xfrm>
            <a:off x="877824" y="526694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4" name="TOC item 4"/>
          <p:cNvSpPr txBox="1"/>
          <p:nvPr/>
        </p:nvSpPr>
        <p:spPr>
          <a:xfrm>
            <a:off x="1783080" y="53035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</a:rPr>
              <a:t>Introduction to DartPad</a:t>
            </a:r>
            <a:endParaRPr lang="en-US" sz="2200" dirty="0"/>
          </a:p>
        </p:txBody>
      </p:sp>
      <p:sp>
        <p:nvSpPr>
          <p:cNvPr id="15" name="Number badge 5"/>
          <p:cNvSpPr/>
          <p:nvPr/>
        </p:nvSpPr>
        <p:spPr>
          <a:xfrm rot="2700000">
            <a:off x="6491764" y="1736884"/>
            <a:ext cx="549592" cy="549592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6" name="Number 5"/>
          <p:cNvSpPr txBox="1"/>
          <p:nvPr/>
        </p:nvSpPr>
        <p:spPr>
          <a:xfrm>
            <a:off x="6455664" y="170078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17" name="TOC item 5"/>
          <p:cNvSpPr txBox="1"/>
          <p:nvPr/>
        </p:nvSpPr>
        <p:spPr>
          <a:xfrm>
            <a:off x="7360920" y="17373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</a:rPr>
              <a:t>Installing Dart SDK</a:t>
            </a:r>
            <a:endParaRPr lang="en-US" sz="2200" dirty="0"/>
          </a:p>
        </p:txBody>
      </p:sp>
      <p:sp>
        <p:nvSpPr>
          <p:cNvPr id="18" name="Number badge 6"/>
          <p:cNvSpPr/>
          <p:nvPr/>
        </p:nvSpPr>
        <p:spPr>
          <a:xfrm rot="2700000">
            <a:off x="6491764" y="2925604"/>
            <a:ext cx="549592" cy="549592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9" name="Number 6"/>
          <p:cNvSpPr txBox="1"/>
          <p:nvPr/>
        </p:nvSpPr>
        <p:spPr>
          <a:xfrm>
            <a:off x="6455664" y="288950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6</a:t>
            </a:r>
            <a:endParaRPr lang="en-US" sz="1800" dirty="0"/>
          </a:p>
        </p:txBody>
      </p:sp>
      <p:sp>
        <p:nvSpPr>
          <p:cNvPr id="20" name="TOC item 6"/>
          <p:cNvSpPr txBox="1"/>
          <p:nvPr/>
        </p:nvSpPr>
        <p:spPr>
          <a:xfrm>
            <a:off x="7360920" y="272491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</a:rPr>
              <a:t>Dart to VSC / VSC to Dart</a:t>
            </a:r>
            <a:endParaRPr lang="en-US" sz="2200" dirty="0"/>
          </a:p>
        </p:txBody>
      </p:sp>
      <p:sp>
        <p:nvSpPr>
          <p:cNvPr id="21" name="TOC lab note"/>
          <p:cNvSpPr txBox="1"/>
          <p:nvPr/>
        </p:nvSpPr>
        <p:spPr>
          <a:xfrm>
            <a:off x="7360920" y="321868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</a:rPr>
              <a:t>Lab 1: Installing Dart IDE and writing Dart program</a:t>
            </a:r>
            <a:endParaRPr lang="en-US" sz="1400" dirty="0"/>
          </a:p>
        </p:txBody>
      </p:sp>
      <p:sp>
        <p:nvSpPr>
          <p:cNvPr id="22" name="Number badge 7"/>
          <p:cNvSpPr/>
          <p:nvPr/>
        </p:nvSpPr>
        <p:spPr>
          <a:xfrm rot="2700000">
            <a:off x="6491764" y="4114324"/>
            <a:ext cx="549592" cy="549592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3" name="Number 7"/>
          <p:cNvSpPr txBox="1"/>
          <p:nvPr/>
        </p:nvSpPr>
        <p:spPr>
          <a:xfrm>
            <a:off x="6455664" y="407822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7</a:t>
            </a:r>
            <a:endParaRPr lang="en-US" sz="1800" dirty="0"/>
          </a:p>
        </p:txBody>
      </p:sp>
      <p:sp>
        <p:nvSpPr>
          <p:cNvPr id="24" name="TOC item 7"/>
          <p:cNvSpPr txBox="1"/>
          <p:nvPr/>
        </p:nvSpPr>
        <p:spPr>
          <a:xfrm>
            <a:off x="7360920" y="41148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</a:rPr>
              <a:t>GitHub &amp; CI/CD (Part 1)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C9CCE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4" hasCustomPrompt="1"/>
          </p:nvPr>
        </p:nvSpPr>
        <p:spPr>
          <a:xfrm>
            <a:off x="1371600" y="36576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INTRODUCTION TO </a:t>
            </a:r>
            <a:r>
              <a:rPr lang="en-US" sz="3200" b="1" dirty="0">
                <a:solidFill>
                  <a:schemeClr val="accent1"/>
                </a:solidFill>
              </a:rPr>
              <a:t>FLUTTER</a:t>
            </a:r>
            <a:endParaRPr lang="en-US" sz="3200" dirty="0"/>
          </a:p>
        </p:txBody>
      </p:sp>
      <p:sp>
        <p:nvSpPr>
          <p:cNvPr id="3" name="What is Flutter card"/>
          <p:cNvSpPr/>
          <p:nvPr/>
        </p:nvSpPr>
        <p:spPr>
          <a:xfrm>
            <a:off x="548640" y="1463040"/>
            <a:ext cx="6949440" cy="2514600"/>
          </a:xfrm>
          <a:prstGeom prst="roundRect">
            <a:avLst>
              <a:gd name="adj" fmla="val 5091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1F2236">
                <a:alpha val="14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4" name="Icon circle"/>
          <p:cNvSpPr/>
          <p:nvPr/>
        </p:nvSpPr>
        <p:spPr>
          <a:xfrm>
            <a:off x="822960" y="16916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5" name="Image 0" descr="phone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1805940"/>
            <a:ext cx="228600" cy="228600"/>
          </a:xfrm>
          <a:prstGeom prst="rect">
            <a:avLst/>
          </a:prstGeom>
        </p:spPr>
      </p:pic>
      <p:sp>
        <p:nvSpPr>
          <p:cNvPr id="6" name="Heading What is Flutter?"/>
          <p:cNvSpPr txBox="1"/>
          <p:nvPr/>
        </p:nvSpPr>
        <p:spPr>
          <a:xfrm>
            <a:off x="1463040" y="1691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What is Flutter?</a:t>
            </a:r>
            <a:endParaRPr lang="en-US" sz="2000" dirty="0"/>
          </a:p>
        </p:txBody>
      </p:sp>
      <p:sp>
        <p:nvSpPr>
          <p:cNvPr id="7" name="Flutter bullets"/>
          <p:cNvSpPr txBox="1"/>
          <p:nvPr/>
        </p:nvSpPr>
        <p:spPr>
          <a:xfrm>
            <a:off x="868680" y="237744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Flutter is an </a:t>
            </a:r>
            <a:r>
              <a:rPr lang="en-US" sz="1500" b="1" dirty="0">
                <a:solidFill>
                  <a:schemeClr val="tx1"/>
                </a:solidFill>
              </a:rPr>
              <a:t>open-source UI toolkit</a:t>
            </a:r>
            <a:r>
              <a:rPr lang="en-US" sz="1500" dirty="0">
                <a:solidFill>
                  <a:schemeClr val="tx1"/>
                </a:solidFill>
              </a:rPr>
              <a:t> created by </a:t>
            </a:r>
            <a:r>
              <a:rPr lang="en-US" sz="1500" b="1" dirty="0">
                <a:solidFill>
                  <a:schemeClr val="tx1"/>
                </a:solidFill>
              </a:rPr>
              <a:t>Google</a:t>
            </a:r>
            <a:r>
              <a:rPr lang="en-US" sz="1500" dirty="0">
                <a:solidFill>
                  <a:schemeClr val="tx1"/>
                </a:solidFill>
              </a:rPr>
              <a:t>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It allows </a:t>
            </a:r>
            <a:r>
              <a:rPr lang="en-US" sz="1500" b="1" dirty="0">
                <a:solidFill>
                  <a:schemeClr val="tx1"/>
                </a:solidFill>
              </a:rPr>
              <a:t>cross-platform app development</a:t>
            </a:r>
            <a:r>
              <a:rPr lang="en-US" sz="1500" dirty="0">
                <a:solidFill>
                  <a:schemeClr val="tx1"/>
                </a:solidFill>
              </a:rPr>
              <a:t> using a </a:t>
            </a:r>
            <a:r>
              <a:rPr lang="en-US" sz="1500" b="1" dirty="0">
                <a:solidFill>
                  <a:schemeClr val="tx1"/>
                </a:solidFill>
              </a:rPr>
              <a:t>single codebase</a:t>
            </a:r>
            <a:r>
              <a:rPr lang="en-US" sz="1500" dirty="0">
                <a:solidFill>
                  <a:schemeClr val="tx1"/>
                </a:solidFill>
              </a:rPr>
              <a:t>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Apps are compiled </a:t>
            </a:r>
            <a:r>
              <a:rPr lang="en-US" sz="1500" b="1" dirty="0">
                <a:solidFill>
                  <a:schemeClr val="tx1"/>
                </a:solidFill>
              </a:rPr>
              <a:t>natively</a:t>
            </a:r>
            <a:r>
              <a:rPr lang="en-US" sz="1500" dirty="0">
                <a:solidFill>
                  <a:schemeClr val="tx1"/>
                </a:solidFill>
              </a:rPr>
              <a:t> for Android, iOS, web, desktop, etc.</a:t>
            </a:r>
            <a:endParaRPr lang="en-US" sz="1500" dirty="0"/>
          </a:p>
        </p:txBody>
      </p:sp>
      <p:pic>
        <p:nvPicPr>
          <p:cNvPr id="8" name="Image 1" descr="Flutter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2331720"/>
            <a:ext cx="1508760" cy="1130114"/>
          </a:xfrm>
          <a:prstGeom prst="rect">
            <a:avLst/>
          </a:prstGeom>
        </p:spPr>
      </p:pic>
      <p:sp>
        <p:nvSpPr>
          <p:cNvPr id="9" name="Course purpose card"/>
          <p:cNvSpPr/>
          <p:nvPr/>
        </p:nvSpPr>
        <p:spPr>
          <a:xfrm>
            <a:off x="548640" y="4160520"/>
            <a:ext cx="6949440" cy="2011680"/>
          </a:xfrm>
          <a:prstGeom prst="roundRect">
            <a:avLst>
              <a:gd name="adj" fmla="val 6364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1F2236">
                <a:alpha val="14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0" name="Icon circle"/>
          <p:cNvSpPr/>
          <p:nvPr/>
        </p:nvSpPr>
        <p:spPr>
          <a:xfrm>
            <a:off x="822960" y="43891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1" name="Image 2" descr="target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60" y="4503420"/>
            <a:ext cx="228600" cy="228600"/>
          </a:xfrm>
          <a:prstGeom prst="rect">
            <a:avLst/>
          </a:prstGeom>
        </p:spPr>
      </p:pic>
      <p:sp>
        <p:nvSpPr>
          <p:cNvPr id="12" name="Heading Course Purpose?"/>
          <p:cNvSpPr txBox="1"/>
          <p:nvPr/>
        </p:nvSpPr>
        <p:spPr>
          <a:xfrm>
            <a:off x="1463040" y="4389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Course Purpose?</a:t>
            </a:r>
            <a:endParaRPr lang="en-US" sz="2000" dirty="0"/>
          </a:p>
        </p:txBody>
      </p:sp>
      <p:sp>
        <p:nvSpPr>
          <p:cNvPr id="13" name="Course purpose text"/>
          <p:cNvSpPr txBox="1"/>
          <p:nvPr/>
        </p:nvSpPr>
        <p:spPr>
          <a:xfrm>
            <a:off x="868680" y="5029200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The purpose of this course is to enable developers to create high-performance and attractive apps that feel natural on iOS &amp; Android devices.</a:t>
            </a:r>
            <a:endParaRPr lang="en-US" sz="1700" dirty="0"/>
          </a:p>
        </p:txBody>
      </p:sp>
      <p:sp>
        <p:nvSpPr>
          <p:cNvPr id="14" name="Popularity card"/>
          <p:cNvSpPr/>
          <p:nvPr/>
        </p:nvSpPr>
        <p:spPr>
          <a:xfrm>
            <a:off x="7772400" y="1463040"/>
            <a:ext cx="3867912" cy="4709160"/>
          </a:xfrm>
          <a:prstGeom prst="roundRect">
            <a:avLst>
              <a:gd name="adj" fmla="val 3310"/>
            </a:avLst>
          </a:prstGeom>
          <a:solidFill>
            <a:schemeClr val="tx2"/>
          </a:solidFill>
          <a:ln/>
          <a:effectLst>
            <a:outerShdw blurRad="127000" dist="38100" dir="5400000" algn="bl" rotWithShape="0">
              <a:srgbClr val="1F2236">
                <a:alpha val="14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5" name="Icon circle"/>
          <p:cNvSpPr/>
          <p:nvPr/>
        </p:nvSpPr>
        <p:spPr>
          <a:xfrm>
            <a:off x="8046720" y="16916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6" name="Image 3" descr="chart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1020" y="1805940"/>
            <a:ext cx="228600" cy="228600"/>
          </a:xfrm>
          <a:prstGeom prst="rect">
            <a:avLst/>
          </a:prstGeom>
        </p:spPr>
      </p:pic>
      <p:sp>
        <p:nvSpPr>
          <p:cNvPr id="17" name="Heading Flutter&amp;apos;s Popularity?"/>
          <p:cNvSpPr txBox="1"/>
          <p:nvPr/>
        </p:nvSpPr>
        <p:spPr>
          <a:xfrm>
            <a:off x="8686800" y="1691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Flutter's Popularity?</a:t>
            </a:r>
            <a:endParaRPr lang="en-US" sz="1900" dirty="0"/>
          </a:p>
        </p:txBody>
      </p:sp>
      <p:sp>
        <p:nvSpPr>
          <p:cNvPr id="18" name="Popularity text"/>
          <p:cNvSpPr txBox="1"/>
          <p:nvPr/>
        </p:nvSpPr>
        <p:spPr>
          <a:xfrm>
            <a:off x="8092440" y="2377440"/>
            <a:ext cx="3246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Flutter is used by companies around the world including Alibaba, Capital One, and Groupon for apps that touch hundreds of millions of users.</a:t>
            </a:r>
            <a:endParaRPr lang="en-US" sz="1400" dirty="0"/>
          </a:p>
        </p:txBody>
      </p:sp>
      <p:sp>
        <p:nvSpPr>
          <p:cNvPr id="19" name="Logo tile"/>
          <p:cNvSpPr/>
          <p:nvPr/>
        </p:nvSpPr>
        <p:spPr>
          <a:xfrm>
            <a:off x="8092440" y="3840480"/>
            <a:ext cx="3246120" cy="640080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20" name="Image 4" descr="Capital One 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37142" y="3950208"/>
            <a:ext cx="1156716" cy="420624"/>
          </a:xfrm>
          <a:prstGeom prst="rect">
            <a:avLst/>
          </a:prstGeom>
        </p:spPr>
      </p:pic>
      <p:sp>
        <p:nvSpPr>
          <p:cNvPr id="21" name="Logo tile"/>
          <p:cNvSpPr/>
          <p:nvPr/>
        </p:nvSpPr>
        <p:spPr>
          <a:xfrm>
            <a:off x="8092440" y="4617720"/>
            <a:ext cx="3246120" cy="640080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22" name="Image 5" descr="Groupon logo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18220" y="4745736"/>
            <a:ext cx="2194560" cy="384048"/>
          </a:xfrm>
          <a:prstGeom prst="rect">
            <a:avLst/>
          </a:prstGeom>
        </p:spPr>
      </p:pic>
      <p:sp>
        <p:nvSpPr>
          <p:cNvPr id="23" name="Logo tile"/>
          <p:cNvSpPr/>
          <p:nvPr/>
        </p:nvSpPr>
        <p:spPr>
          <a:xfrm>
            <a:off x="8092440" y="5394960"/>
            <a:ext cx="3246120" cy="640080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24" name="Image 6" descr="Alibaba Group logo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49039" y="5504688"/>
            <a:ext cx="932922" cy="42062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A60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4" hasCustomPrompt="1"/>
          </p:nvPr>
        </p:nvSpPr>
        <p:spPr>
          <a:xfrm>
            <a:off x="1371600" y="36576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IMPORTANCE OF </a:t>
            </a:r>
            <a:r>
              <a:rPr lang="en-US" sz="3200" b="1" dirty="0">
                <a:solidFill>
                  <a:schemeClr val="accent1"/>
                </a:solidFill>
              </a:rPr>
              <a:t>FLUTTER</a:t>
            </a:r>
            <a:endParaRPr lang="en-US" sz="3200" dirty="0"/>
          </a:p>
        </p:txBody>
      </p:sp>
      <p:sp>
        <p:nvSpPr>
          <p:cNvPr id="3" name="Lead card"/>
          <p:cNvSpPr/>
          <p:nvPr/>
        </p:nvSpPr>
        <p:spPr>
          <a:xfrm>
            <a:off x="548640" y="1417320"/>
            <a:ext cx="8229600" cy="1691640"/>
          </a:xfrm>
          <a:prstGeom prst="roundRect">
            <a:avLst>
              <a:gd name="adj" fmla="val 7568"/>
            </a:avLst>
          </a:prstGeom>
          <a:solidFill>
            <a:schemeClr val="tx2"/>
          </a:solidFill>
          <a:ln/>
          <a:effectLst>
            <a:outerShdw blurRad="127000" dist="38100" dir="5400000" algn="bl" rotWithShape="0">
              <a:srgbClr val="1F2236">
                <a:alpha val="14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4" name="Lead text"/>
          <p:cNvSpPr txBox="1"/>
          <p:nvPr/>
        </p:nvSpPr>
        <p:spPr>
          <a:xfrm>
            <a:off x="868680" y="1600200"/>
            <a:ext cx="7589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With Flutter, anyone can build native iOS and Android apps using a single codebase. No need to learn Swift, Objective-C, Java, or Kotlin. Just use Dart and you're ready to create high-performance apps for both platforms.</a:t>
            </a:r>
            <a:endParaRPr lang="en-US" sz="1800" dirty="0"/>
          </a:p>
        </p:txBody>
      </p:sp>
      <p:sp>
        <p:nvSpPr>
          <p:cNvPr id="5" name="Illustration frame"/>
          <p:cNvSpPr/>
          <p:nvPr/>
        </p:nvSpPr>
        <p:spPr>
          <a:xfrm>
            <a:off x="9052560" y="1417320"/>
            <a:ext cx="2587752" cy="1691640"/>
          </a:xfrm>
          <a:prstGeom prst="roundRect">
            <a:avLst>
              <a:gd name="adj" fmla="val 7568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1F2236">
                <a:alpha val="14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6" name="Image 0" descr="Flutter rendering to iOS and Android from one codeba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5357" y="1508760"/>
            <a:ext cx="2022157" cy="1508760"/>
          </a:xfrm>
          <a:prstGeom prst="rect">
            <a:avLst/>
          </a:prstGeom>
        </p:spPr>
      </p:pic>
      <p:sp>
        <p:nvSpPr>
          <p:cNvPr id="7" name="Benefit card 1"/>
          <p:cNvSpPr/>
          <p:nvPr/>
        </p:nvSpPr>
        <p:spPr>
          <a:xfrm>
            <a:off x="548640" y="3337560"/>
            <a:ext cx="3520440" cy="2834640"/>
          </a:xfrm>
          <a:prstGeom prst="roundRect">
            <a:avLst>
              <a:gd name="adj" fmla="val 4516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1F2236">
                <a:alpha val="14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8" name="Number badge 1"/>
          <p:cNvSpPr/>
          <p:nvPr/>
        </p:nvSpPr>
        <p:spPr>
          <a:xfrm rot="2700000">
            <a:off x="854813" y="3689453"/>
            <a:ext cx="484934" cy="484934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9" name="Number 1"/>
          <p:cNvSpPr txBox="1"/>
          <p:nvPr/>
        </p:nvSpPr>
        <p:spPr>
          <a:xfrm>
            <a:off x="82296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10" name="Benefit title 1"/>
          <p:cNvSpPr txBox="1"/>
          <p:nvPr/>
        </p:nvSpPr>
        <p:spPr>
          <a:xfrm>
            <a:off x="1600200" y="36118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Cross-Platform Development</a:t>
            </a:r>
            <a:endParaRPr lang="en-US" sz="1700" dirty="0"/>
          </a:p>
        </p:txBody>
      </p:sp>
      <p:sp>
        <p:nvSpPr>
          <p:cNvPr id="11" name="Benefit bullets 1"/>
          <p:cNvSpPr txBox="1"/>
          <p:nvPr/>
        </p:nvSpPr>
        <p:spPr>
          <a:xfrm>
            <a:off x="822960" y="452628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Build apps for </a:t>
            </a:r>
            <a:r>
              <a:rPr lang="en-US" sz="1500" b="1" dirty="0">
                <a:solidFill>
                  <a:schemeClr val="tx1"/>
                </a:solidFill>
              </a:rPr>
              <a:t>Android</a:t>
            </a:r>
            <a:r>
              <a:rPr lang="en-US" sz="1500" dirty="0">
                <a:solidFill>
                  <a:schemeClr val="tx1"/>
                </a:solidFill>
              </a:rPr>
              <a:t>, </a:t>
            </a:r>
            <a:r>
              <a:rPr lang="en-US" sz="1500" b="1" dirty="0">
                <a:solidFill>
                  <a:schemeClr val="tx1"/>
                </a:solidFill>
              </a:rPr>
              <a:t>iOS</a:t>
            </a:r>
            <a:r>
              <a:rPr lang="en-US" sz="1500" dirty="0">
                <a:solidFill>
                  <a:schemeClr val="tx1"/>
                </a:solidFill>
              </a:rPr>
              <a:t>, </a:t>
            </a:r>
            <a:r>
              <a:rPr lang="en-US" sz="1500" b="1" dirty="0">
                <a:solidFill>
                  <a:schemeClr val="tx1"/>
                </a:solidFill>
              </a:rPr>
              <a:t>Web</a:t>
            </a:r>
            <a:r>
              <a:rPr lang="en-US" sz="1500" dirty="0">
                <a:solidFill>
                  <a:schemeClr val="tx1"/>
                </a:solidFill>
              </a:rPr>
              <a:t>, and </a:t>
            </a:r>
            <a:r>
              <a:rPr lang="en-US" sz="1500" b="1" dirty="0">
                <a:solidFill>
                  <a:schemeClr val="tx1"/>
                </a:solidFill>
              </a:rPr>
              <a:t>Desktop</a:t>
            </a:r>
            <a:r>
              <a:rPr lang="en-US" sz="1500" dirty="0">
                <a:solidFill>
                  <a:schemeClr val="tx1"/>
                </a:solidFill>
              </a:rPr>
              <a:t>, </a:t>
            </a:r>
            <a:r>
              <a:rPr lang="en-US" sz="1500" b="1" dirty="0">
                <a:solidFill>
                  <a:schemeClr val="tx1"/>
                </a:solidFill>
              </a:rPr>
              <a:t>all from one codebase</a:t>
            </a:r>
            <a:r>
              <a:rPr lang="en-US" sz="1500" dirty="0">
                <a:solidFill>
                  <a:schemeClr val="tx1"/>
                </a:solidFill>
              </a:rPr>
              <a:t>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Saves time and effort compared to maintaining separate apps for each platform.</a:t>
            </a:r>
            <a:endParaRPr lang="en-US" sz="1500" dirty="0"/>
          </a:p>
        </p:txBody>
      </p:sp>
      <p:sp>
        <p:nvSpPr>
          <p:cNvPr id="12" name="Benefit card 2"/>
          <p:cNvSpPr/>
          <p:nvPr/>
        </p:nvSpPr>
        <p:spPr>
          <a:xfrm>
            <a:off x="4366260" y="3337560"/>
            <a:ext cx="3520440" cy="2834640"/>
          </a:xfrm>
          <a:prstGeom prst="roundRect">
            <a:avLst>
              <a:gd name="adj" fmla="val 4516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1F2236">
                <a:alpha val="14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3" name="Number badge 2"/>
          <p:cNvSpPr/>
          <p:nvPr/>
        </p:nvSpPr>
        <p:spPr>
          <a:xfrm rot="2700000">
            <a:off x="4672433" y="3689453"/>
            <a:ext cx="484934" cy="484934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4" name="Number 2"/>
          <p:cNvSpPr txBox="1"/>
          <p:nvPr/>
        </p:nvSpPr>
        <p:spPr>
          <a:xfrm>
            <a:off x="464058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5" name="Benefit title 2"/>
          <p:cNvSpPr txBox="1"/>
          <p:nvPr/>
        </p:nvSpPr>
        <p:spPr>
          <a:xfrm>
            <a:off x="5417820" y="36118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Fast Development Cycle</a:t>
            </a:r>
            <a:endParaRPr lang="en-US" sz="1700" dirty="0"/>
          </a:p>
        </p:txBody>
      </p:sp>
      <p:sp>
        <p:nvSpPr>
          <p:cNvPr id="16" name="Benefit bullets 2"/>
          <p:cNvSpPr txBox="1"/>
          <p:nvPr/>
        </p:nvSpPr>
        <p:spPr>
          <a:xfrm>
            <a:off x="4640580" y="452628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</a:rPr>
              <a:t>Hot Reload</a:t>
            </a:r>
            <a:r>
              <a:rPr lang="en-US" sz="1500" dirty="0">
                <a:solidFill>
                  <a:schemeClr val="tx1"/>
                </a:solidFill>
              </a:rPr>
              <a:t> lets developers see code changes instantly.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Boosts productivity and encourages experimentation during lab work and real-world projects.</a:t>
            </a:r>
            <a:endParaRPr lang="en-US" sz="1500" dirty="0"/>
          </a:p>
        </p:txBody>
      </p:sp>
      <p:sp>
        <p:nvSpPr>
          <p:cNvPr id="17" name="Benefit card 3"/>
          <p:cNvSpPr/>
          <p:nvPr/>
        </p:nvSpPr>
        <p:spPr>
          <a:xfrm>
            <a:off x="8183880" y="3337560"/>
            <a:ext cx="3520440" cy="2834640"/>
          </a:xfrm>
          <a:prstGeom prst="roundRect">
            <a:avLst>
              <a:gd name="adj" fmla="val 4516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1F2236">
                <a:alpha val="14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8" name="Number badge 3"/>
          <p:cNvSpPr/>
          <p:nvPr/>
        </p:nvSpPr>
        <p:spPr>
          <a:xfrm rot="2700000">
            <a:off x="8490053" y="3689453"/>
            <a:ext cx="484934" cy="484934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9" name="Number 3"/>
          <p:cNvSpPr txBox="1"/>
          <p:nvPr/>
        </p:nvSpPr>
        <p:spPr>
          <a:xfrm>
            <a:off x="845820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20" name="Benefit title 3"/>
          <p:cNvSpPr txBox="1"/>
          <p:nvPr/>
        </p:nvSpPr>
        <p:spPr>
          <a:xfrm>
            <a:off x="9235440" y="36118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Customizable &amp; Beautiful UI</a:t>
            </a:r>
            <a:endParaRPr lang="en-US" sz="1700" dirty="0"/>
          </a:p>
        </p:txBody>
      </p:sp>
      <p:sp>
        <p:nvSpPr>
          <p:cNvPr id="21" name="Benefit bullets 3"/>
          <p:cNvSpPr txBox="1"/>
          <p:nvPr/>
        </p:nvSpPr>
        <p:spPr>
          <a:xfrm>
            <a:off x="8458200" y="452628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Flutter comes with a wide range of </a:t>
            </a:r>
            <a:r>
              <a:rPr lang="en-US" sz="1500" b="1" dirty="0">
                <a:solidFill>
                  <a:schemeClr val="tx1"/>
                </a:solidFill>
              </a:rPr>
              <a:t>pre-built widgets</a:t>
            </a:r>
            <a:r>
              <a:rPr lang="en-US" sz="1500" dirty="0">
                <a:solidFill>
                  <a:schemeClr val="tx1"/>
                </a:solidFill>
              </a:rPr>
              <a:t>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Enables creation of </a:t>
            </a:r>
            <a:r>
              <a:rPr lang="en-US" sz="1500" b="1" dirty="0">
                <a:solidFill>
                  <a:schemeClr val="tx1"/>
                </a:solidFill>
              </a:rPr>
              <a:t>visually attractive and modern UIs</a:t>
            </a:r>
            <a:r>
              <a:rPr lang="en-US" sz="1500" dirty="0">
                <a:solidFill>
                  <a:schemeClr val="tx1"/>
                </a:solidFill>
              </a:rPr>
              <a:t> easily.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A60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4" hasCustomPrompt="1"/>
          </p:nvPr>
        </p:nvSpPr>
        <p:spPr>
          <a:xfrm>
            <a:off x="1371600" y="36576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INTRODUCTION TO </a:t>
            </a:r>
            <a:r>
              <a:rPr lang="en-US" sz="3200" b="1" dirty="0">
                <a:solidFill>
                  <a:schemeClr val="accent1"/>
                </a:solidFill>
              </a:rPr>
              <a:t>DART</a:t>
            </a:r>
            <a:endParaRPr lang="en-US" sz="3200" dirty="0"/>
          </a:p>
        </p:txBody>
      </p:sp>
      <p:sp>
        <p:nvSpPr>
          <p:cNvPr id="3" name="Lead card"/>
          <p:cNvSpPr/>
          <p:nvPr/>
        </p:nvSpPr>
        <p:spPr>
          <a:xfrm>
            <a:off x="548640" y="1417320"/>
            <a:ext cx="11091672" cy="1325880"/>
          </a:xfrm>
          <a:prstGeom prst="roundRect">
            <a:avLst>
              <a:gd name="adj" fmla="val 9655"/>
            </a:avLst>
          </a:prstGeom>
          <a:solidFill>
            <a:schemeClr val="tx2"/>
          </a:solidFill>
          <a:ln/>
          <a:effectLst>
            <a:outerShdw blurRad="127000" dist="38100" dir="5400000" algn="bl" rotWithShape="0">
              <a:srgbClr val="1F2236">
                <a:alpha val="14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4" name="Lead text"/>
          <p:cNvSpPr txBox="1"/>
          <p:nvPr/>
        </p:nvSpPr>
        <p:spPr>
          <a:xfrm>
            <a:off x="868680" y="155448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2"/>
                </a:solidFill>
              </a:rPr>
              <a:t>Dart</a:t>
            </a:r>
            <a:r>
              <a:rPr lang="en-US" sz="1900" dirty="0">
                <a:solidFill>
                  <a:schemeClr val="bg1"/>
                </a:solidFill>
              </a:rPr>
              <a:t> is an </a:t>
            </a:r>
            <a:r>
              <a:rPr lang="en-US" sz="1900" b="1" dirty="0">
                <a:solidFill>
                  <a:schemeClr val="accent2"/>
                </a:solidFill>
              </a:rPr>
              <a:t>open-source, general-purpose programming language</a:t>
            </a:r>
            <a:r>
              <a:rPr lang="en-US" sz="1900" dirty="0">
                <a:solidFill>
                  <a:schemeClr val="bg1"/>
                </a:solidFill>
              </a:rPr>
              <a:t> developed by </a:t>
            </a:r>
            <a:r>
              <a:rPr lang="en-US" sz="1900" b="1" dirty="0">
                <a:solidFill>
                  <a:schemeClr val="accent2"/>
                </a:solidFill>
              </a:rPr>
              <a:t>Google</a:t>
            </a:r>
            <a:r>
              <a:rPr lang="en-US" sz="1900" dirty="0">
                <a:solidFill>
                  <a:schemeClr val="bg1"/>
                </a:solidFill>
              </a:rPr>
              <a:t>. It is the </a:t>
            </a:r>
            <a:r>
              <a:rPr lang="en-US" sz="1900" b="1" dirty="0">
                <a:solidFill>
                  <a:schemeClr val="accent2"/>
                </a:solidFill>
              </a:rPr>
              <a:t>primary language used to build Flutter apps</a:t>
            </a:r>
            <a:r>
              <a:rPr lang="en-US" sz="1900" dirty="0">
                <a:solidFill>
                  <a:schemeClr val="bg1"/>
                </a:solidFill>
              </a:rPr>
              <a:t>.</a:t>
            </a:r>
            <a:endParaRPr lang="en-US" sz="1900" dirty="0"/>
          </a:p>
        </p:txBody>
      </p:sp>
      <p:sp>
        <p:nvSpPr>
          <p:cNvPr id="5" name="Section marker"/>
          <p:cNvSpPr/>
          <p:nvPr/>
        </p:nvSpPr>
        <p:spPr>
          <a:xfrm rot="2700000">
            <a:off x="639890" y="3108770"/>
            <a:ext cx="219837" cy="219837"/>
          </a:xfrm>
          <a:prstGeom prst="roundRect">
            <a:avLst>
              <a:gd name="adj" fmla="val 16000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6" name="Section heading"/>
          <p:cNvSpPr txBox="1"/>
          <p:nvPr/>
        </p:nvSpPr>
        <p:spPr>
          <a:xfrm>
            <a:off x="1051560" y="299008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Writing a Dart Program?</a:t>
            </a:r>
            <a:endParaRPr lang="en-US" sz="2200" dirty="0"/>
          </a:p>
        </p:txBody>
      </p:sp>
      <p:sp>
        <p:nvSpPr>
          <p:cNvPr id="7" name="IDE card"/>
          <p:cNvSpPr/>
          <p:nvPr/>
        </p:nvSpPr>
        <p:spPr>
          <a:xfrm>
            <a:off x="548640" y="3611880"/>
            <a:ext cx="5394960" cy="256032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1F2236">
                <a:alpha val="14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8" name="Icon circle"/>
          <p:cNvSpPr/>
          <p:nvPr/>
        </p:nvSpPr>
        <p:spPr>
          <a:xfrm>
            <a:off x="822960" y="37947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9" name="Image 0" descr="laptop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3909060"/>
            <a:ext cx="228600" cy="228600"/>
          </a:xfrm>
          <a:prstGeom prst="rect">
            <a:avLst/>
          </a:prstGeom>
        </p:spPr>
      </p:pic>
      <p:sp>
        <p:nvSpPr>
          <p:cNvPr id="10" name="Heading IDE"/>
          <p:cNvSpPr txBox="1"/>
          <p:nvPr/>
        </p:nvSpPr>
        <p:spPr>
          <a:xfrm>
            <a:off x="1463040" y="3794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IDE</a:t>
            </a:r>
            <a:endParaRPr lang="en-US" sz="2000" dirty="0"/>
          </a:p>
        </p:txBody>
      </p:sp>
      <p:pic>
        <p:nvPicPr>
          <p:cNvPr id="11" name="Image 1" descr="Popular IDE logo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0" y="3794760"/>
            <a:ext cx="1737360" cy="904991"/>
          </a:xfrm>
          <a:prstGeom prst="rect">
            <a:avLst/>
          </a:prstGeom>
        </p:spPr>
      </p:pic>
      <p:sp>
        <p:nvSpPr>
          <p:cNvPr id="12" name="IDE text"/>
          <p:cNvSpPr txBox="1"/>
          <p:nvPr/>
        </p:nvSpPr>
        <p:spPr>
          <a:xfrm>
            <a:off x="868680" y="489204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A graphical user interface software which helps you write, save, edit, and run the Dart code.</a:t>
            </a:r>
            <a:endParaRPr lang="en-US" sz="1600" dirty="0"/>
          </a:p>
        </p:txBody>
      </p:sp>
      <p:sp>
        <p:nvSpPr>
          <p:cNvPr id="13" name="SDK card"/>
          <p:cNvSpPr/>
          <p:nvPr/>
        </p:nvSpPr>
        <p:spPr>
          <a:xfrm>
            <a:off x="6245352" y="3611880"/>
            <a:ext cx="5394960" cy="256032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1F2236">
                <a:alpha val="14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4" name="Icon circle"/>
          <p:cNvSpPr/>
          <p:nvPr/>
        </p:nvSpPr>
        <p:spPr>
          <a:xfrm>
            <a:off x="6519672" y="37947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5" name="Image 2" descr="cogs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3972" y="3909060"/>
            <a:ext cx="228600" cy="228600"/>
          </a:xfrm>
          <a:prstGeom prst="rect">
            <a:avLst/>
          </a:prstGeom>
        </p:spPr>
      </p:pic>
      <p:sp>
        <p:nvSpPr>
          <p:cNvPr id="16" name="Heading Dart SDK"/>
          <p:cNvSpPr txBox="1"/>
          <p:nvPr/>
        </p:nvSpPr>
        <p:spPr>
          <a:xfrm>
            <a:off x="7159752" y="3794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Dart SDK</a:t>
            </a:r>
            <a:endParaRPr lang="en-US" sz="2000" dirty="0"/>
          </a:p>
        </p:txBody>
      </p:sp>
      <p:pic>
        <p:nvPicPr>
          <p:cNvPr id="17" name="Image 3" descr="Dart log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62872" y="3794760"/>
            <a:ext cx="2103120" cy="653955"/>
          </a:xfrm>
          <a:prstGeom prst="rect">
            <a:avLst/>
          </a:prstGeom>
        </p:spPr>
      </p:pic>
      <p:sp>
        <p:nvSpPr>
          <p:cNvPr id="18" name="SDK text"/>
          <p:cNvSpPr txBox="1"/>
          <p:nvPr/>
        </p:nvSpPr>
        <p:spPr>
          <a:xfrm>
            <a:off x="6565392" y="4754880"/>
            <a:ext cx="4846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A software to translate these Dart commands, which are written in a Dart IDE (such as Android Studio), to a lower level language to create an executable program.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A60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4" hasCustomPrompt="1"/>
          </p:nvPr>
        </p:nvSpPr>
        <p:spPr>
          <a:xfrm>
            <a:off x="1371600" y="36576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INTRODUCTION TO </a:t>
            </a:r>
            <a:r>
              <a:rPr lang="en-US" sz="3200" b="1" dirty="0">
                <a:solidFill>
                  <a:schemeClr val="accent1"/>
                </a:solidFill>
              </a:rPr>
              <a:t>DARTPAD</a:t>
            </a:r>
            <a:endParaRPr lang="en-US" sz="3200" dirty="0"/>
          </a:p>
        </p:txBody>
      </p:sp>
      <p:sp>
        <p:nvSpPr>
          <p:cNvPr id="3" name="Text card"/>
          <p:cNvSpPr/>
          <p:nvPr/>
        </p:nvSpPr>
        <p:spPr>
          <a:xfrm>
            <a:off x="548640" y="1463040"/>
            <a:ext cx="4389120" cy="4709160"/>
          </a:xfrm>
          <a:prstGeom prst="roundRect">
            <a:avLst>
              <a:gd name="adj" fmla="val 2917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1F2236">
                <a:alpha val="14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4" name="Icon circle"/>
          <p:cNvSpPr/>
          <p:nvPr/>
        </p:nvSpPr>
        <p:spPr>
          <a:xfrm>
            <a:off x="777240" y="16916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5" name="Image 0" descr="laptop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1805940"/>
            <a:ext cx="228600" cy="228600"/>
          </a:xfrm>
          <a:prstGeom prst="rect">
            <a:avLst/>
          </a:prstGeom>
        </p:spPr>
      </p:pic>
      <p:sp>
        <p:nvSpPr>
          <p:cNvPr id="6" name="Heading What is DartPad?"/>
          <p:cNvSpPr txBox="1"/>
          <p:nvPr/>
        </p:nvSpPr>
        <p:spPr>
          <a:xfrm>
            <a:off x="1417320" y="16916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What is DartPad?</a:t>
            </a:r>
            <a:endParaRPr lang="en-US" sz="2000" dirty="0"/>
          </a:p>
        </p:txBody>
      </p:sp>
      <p:sp>
        <p:nvSpPr>
          <p:cNvPr id="7" name="DartPad text"/>
          <p:cNvSpPr txBox="1"/>
          <p:nvPr/>
        </p:nvSpPr>
        <p:spPr>
          <a:xfrm>
            <a:off x="822960" y="2331720"/>
            <a:ext cx="3840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DartPad is an open-source tool that lets you work with the Dart language in any modern web browser. It is a great, no-download-required way to learn Dart syntax and to experiment with Dart language features.</a:t>
            </a:r>
            <a:endParaRPr lang="en-US" sz="1500" dirty="0"/>
          </a:p>
        </p:txBody>
      </p:sp>
      <p:sp>
        <p:nvSpPr>
          <p:cNvPr id="8" name="Icon circle"/>
          <p:cNvSpPr/>
          <p:nvPr/>
        </p:nvSpPr>
        <p:spPr>
          <a:xfrm>
            <a:off x="777240" y="43434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9" name="Image 1" descr="globe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540" y="4457700"/>
            <a:ext cx="228600" cy="228600"/>
          </a:xfrm>
          <a:prstGeom prst="rect">
            <a:avLst/>
          </a:prstGeom>
        </p:spPr>
      </p:pic>
      <p:sp>
        <p:nvSpPr>
          <p:cNvPr id="10" name="Heading How to Use DartPad?"/>
          <p:cNvSpPr txBox="1"/>
          <p:nvPr/>
        </p:nvSpPr>
        <p:spPr>
          <a:xfrm>
            <a:off x="1417320" y="43434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</a:rPr>
              <a:t>How to Use DartPad?</a:t>
            </a:r>
            <a:endParaRPr lang="en-US" sz="1900" dirty="0"/>
          </a:p>
        </p:txBody>
      </p:sp>
      <p:sp>
        <p:nvSpPr>
          <p:cNvPr id="11" name="Type label"/>
          <p:cNvSpPr txBox="1"/>
          <p:nvPr/>
        </p:nvSpPr>
        <p:spPr>
          <a:xfrm>
            <a:off x="822960" y="50292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Type:</a:t>
            </a:r>
            <a:endParaRPr lang="en-US" sz="1600" dirty="0"/>
          </a:p>
        </p:txBody>
      </p:sp>
      <p:sp>
        <p:nvSpPr>
          <p:cNvPr id="12" name="Link pill"/>
          <p:cNvSpPr/>
          <p:nvPr/>
        </p:nvSpPr>
        <p:spPr>
          <a:xfrm>
            <a:off x="1463040" y="5029200"/>
            <a:ext cx="3017520" cy="457200"/>
          </a:xfrm>
          <a:prstGeom prst="roundRect">
            <a:avLst>
              <a:gd name="adj" fmla="val 50000"/>
            </a:avLst>
          </a:prstGeom>
          <a:solidFill>
            <a:schemeClr val="accent1">
              <a:alpha val="15000"/>
            </a:scheme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3" name="DartPad link"/>
          <p:cNvSpPr txBox="1"/>
          <p:nvPr/>
        </p:nvSpPr>
        <p:spPr>
          <a:xfrm>
            <a:off x="1463040" y="5029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u="sng" dirty="0">
                <a:solidFill>
                  <a:schemeClr val="tx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https://dartpad.dev</a:t>
            </a:r>
            <a:endParaRPr lang="en-US" sz="1600" dirty="0"/>
          </a:p>
        </p:txBody>
      </p:sp>
      <p:sp>
        <p:nvSpPr>
          <p:cNvPr id="14" name="Screenshot stage"/>
          <p:cNvSpPr/>
          <p:nvPr/>
        </p:nvSpPr>
        <p:spPr>
          <a:xfrm>
            <a:off x="5166360" y="1463040"/>
            <a:ext cx="6473952" cy="4709160"/>
          </a:xfrm>
          <a:prstGeom prst="roundRect">
            <a:avLst>
              <a:gd name="adj" fmla="val 2718"/>
            </a:avLst>
          </a:prstGeom>
          <a:solidFill>
            <a:schemeClr val="tx2"/>
          </a:solidFill>
          <a:ln/>
          <a:effectLst>
            <a:outerShdw blurRad="127000" dist="38100" dir="5400000" algn="bl" rotWithShape="0">
              <a:srgbClr val="1F2236">
                <a:alpha val="14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15" name="Image 2" descr="DartPad editor in the browse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0096" y="2424215"/>
            <a:ext cx="6126480" cy="2786809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A60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4" hasCustomPrompt="1"/>
          </p:nvPr>
        </p:nvSpPr>
        <p:spPr>
          <a:xfrm>
            <a:off x="1371600" y="36576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INSTALLING DART </a:t>
            </a:r>
            <a:r>
              <a:rPr lang="en-US" sz="3200" b="1" dirty="0">
                <a:solidFill>
                  <a:schemeClr val="accent1"/>
                </a:solidFill>
              </a:rPr>
              <a:t>SDK</a:t>
            </a:r>
            <a:endParaRPr lang="en-US" sz="3200" dirty="0"/>
          </a:p>
        </p:txBody>
      </p:sp>
      <p:sp>
        <p:nvSpPr>
          <p:cNvPr id="3" name="Official website card"/>
          <p:cNvSpPr/>
          <p:nvPr/>
        </p:nvSpPr>
        <p:spPr>
          <a:xfrm>
            <a:off x="548640" y="1463040"/>
            <a:ext cx="11091672" cy="1371600"/>
          </a:xfrm>
          <a:prstGeom prst="roundRect">
            <a:avLst>
              <a:gd name="adj" fmla="val 9333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1F2236">
                <a:alpha val="14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4" name="Icon circle"/>
          <p:cNvSpPr/>
          <p:nvPr/>
        </p:nvSpPr>
        <p:spPr>
          <a:xfrm>
            <a:off x="822960" y="16459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5" name="Image 0" descr="download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1760220"/>
            <a:ext cx="228600" cy="228600"/>
          </a:xfrm>
          <a:prstGeom prst="rect">
            <a:avLst/>
          </a:prstGeom>
        </p:spPr>
      </p:pic>
      <p:sp>
        <p:nvSpPr>
          <p:cNvPr id="6" name="Heading Install from official website"/>
          <p:cNvSpPr txBox="1"/>
          <p:nvPr/>
        </p:nvSpPr>
        <p:spPr>
          <a:xfrm>
            <a:off x="1463040" y="1645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Install from official website</a:t>
            </a:r>
            <a:endParaRPr lang="en-US" sz="2000" dirty="0"/>
          </a:p>
        </p:txBody>
      </p:sp>
      <p:sp>
        <p:nvSpPr>
          <p:cNvPr id="7" name="Official website text"/>
          <p:cNvSpPr txBox="1"/>
          <p:nvPr/>
        </p:nvSpPr>
        <p:spPr>
          <a:xfrm>
            <a:off x="868680" y="22860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Go to: </a:t>
            </a:r>
            <a:r>
              <a:rPr lang="en-US" sz="1700" b="1" u="sng" dirty="0">
                <a:solidFill>
                  <a:schemeClr val="tx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https://dart.dev</a:t>
            </a:r>
            <a:r>
              <a:rPr lang="en-US" sz="1700" dirty="0">
                <a:solidFill>
                  <a:schemeClr val="tx1"/>
                </a:solidFill>
              </a:rPr>
              <a:t>, then click the “Get Dart” tab, or go directly to </a:t>
            </a:r>
            <a:r>
              <a:rPr lang="en-US" sz="1700" b="1" u="sng" dirty="0">
                <a:solidFill>
                  <a:schemeClr val="tx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https://dart.dev/get-dart</a:t>
            </a:r>
            <a:endParaRPr lang="en-US" sz="1700" dirty="0"/>
          </a:p>
        </p:txBody>
      </p:sp>
      <p:sp>
        <p:nvSpPr>
          <p:cNvPr id="8" name="Windows steps card"/>
          <p:cNvSpPr/>
          <p:nvPr/>
        </p:nvSpPr>
        <p:spPr>
          <a:xfrm>
            <a:off x="548640" y="3063240"/>
            <a:ext cx="5029200" cy="3108960"/>
          </a:xfrm>
          <a:prstGeom prst="roundRect">
            <a:avLst>
              <a:gd name="adj" fmla="val 4118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1F2236">
                <a:alpha val="14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9" name="Steps heading"/>
          <p:cNvSpPr txBox="1"/>
          <p:nvPr/>
        </p:nvSpPr>
        <p:spPr>
          <a:xfrm>
            <a:off x="822960" y="32461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Step 1: for Windows users</a:t>
            </a:r>
            <a:endParaRPr lang="en-US" sz="2000" dirty="0"/>
          </a:p>
        </p:txBody>
      </p:sp>
      <p:sp>
        <p:nvSpPr>
          <p:cNvPr id="10" name="Number badge 1"/>
          <p:cNvSpPr/>
          <p:nvPr/>
        </p:nvSpPr>
        <p:spPr>
          <a:xfrm rot="2700000">
            <a:off x="857586" y="3829386"/>
            <a:ext cx="387947" cy="387947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1" name="Number 1"/>
          <p:cNvSpPr txBox="1"/>
          <p:nvPr/>
        </p:nvSpPr>
        <p:spPr>
          <a:xfrm>
            <a:off x="832104" y="38039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12" name="Step 1 text"/>
          <p:cNvSpPr txBox="1"/>
          <p:nvPr/>
        </p:nvSpPr>
        <p:spPr>
          <a:xfrm>
            <a:off x="1463040" y="37490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Click </a:t>
            </a:r>
            <a:r>
              <a:rPr lang="en-US" sz="1600" b="1" u="sng" dirty="0">
                <a:solidFill>
                  <a:schemeClr val="tx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https://gekorm.com/dart-windows</a:t>
            </a:r>
            <a:endParaRPr lang="en-US" sz="1600" dirty="0"/>
          </a:p>
        </p:txBody>
      </p:sp>
      <p:sp>
        <p:nvSpPr>
          <p:cNvPr id="13" name="Number badge 2"/>
          <p:cNvSpPr/>
          <p:nvPr/>
        </p:nvSpPr>
        <p:spPr>
          <a:xfrm rot="2700000">
            <a:off x="857586" y="4469466"/>
            <a:ext cx="387947" cy="387947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4" name="Number 2"/>
          <p:cNvSpPr txBox="1"/>
          <p:nvPr/>
        </p:nvSpPr>
        <p:spPr>
          <a:xfrm>
            <a:off x="832104" y="44439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Step 2 text"/>
          <p:cNvSpPr txBox="1"/>
          <p:nvPr/>
        </p:nvSpPr>
        <p:spPr>
          <a:xfrm>
            <a:off x="1463040" y="43891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Click </a:t>
            </a:r>
            <a:r>
              <a:rPr lang="en-US" sz="1600" b="1" dirty="0">
                <a:solidFill>
                  <a:schemeClr val="tx1"/>
                </a:solidFill>
              </a:rPr>
              <a:t>The Get Dart Stable Version</a:t>
            </a:r>
            <a:endParaRPr lang="en-US" sz="1600" dirty="0"/>
          </a:p>
        </p:txBody>
      </p:sp>
      <p:sp>
        <p:nvSpPr>
          <p:cNvPr id="16" name="Video pill"/>
          <p:cNvSpPr/>
          <p:nvPr/>
        </p:nvSpPr>
        <p:spPr>
          <a:xfrm>
            <a:off x="822960" y="5257800"/>
            <a:ext cx="4480560" cy="640080"/>
          </a:xfrm>
          <a:prstGeom prst="roundRect">
            <a:avLst>
              <a:gd name="adj" fmla="val 50000"/>
            </a:avLst>
          </a:prstGeom>
          <a:solidFill>
            <a:schemeClr val="accent3">
              <a:alpha val="35000"/>
            </a:schemeClr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7" name="Image 1" descr="play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7552" y="5458968"/>
            <a:ext cx="237744" cy="237744"/>
          </a:xfrm>
          <a:prstGeom prst="rect">
            <a:avLst/>
          </a:prstGeom>
        </p:spPr>
      </p:pic>
      <p:sp>
        <p:nvSpPr>
          <p:cNvPr id="18" name="Video link"/>
          <p:cNvSpPr txBox="1"/>
          <p:nvPr/>
        </p:nvSpPr>
        <p:spPr>
          <a:xfrm>
            <a:off x="1371600" y="52578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Video Tutorial: </a:t>
            </a:r>
            <a:r>
              <a:rPr lang="en-US" sz="1500" b="1" u="sng" dirty="0">
                <a:solidFill>
                  <a:schemeClr val="tx1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Click Video Tutorial</a:t>
            </a:r>
            <a:endParaRPr lang="en-US" sz="1500" dirty="0"/>
          </a:p>
        </p:txBody>
      </p:sp>
      <p:sp>
        <p:nvSpPr>
          <p:cNvPr id="19" name="Screenshot frame"/>
          <p:cNvSpPr/>
          <p:nvPr/>
        </p:nvSpPr>
        <p:spPr>
          <a:xfrm>
            <a:off x="5852160" y="3063240"/>
            <a:ext cx="5788152" cy="3108960"/>
          </a:xfrm>
          <a:prstGeom prst="roundRect">
            <a:avLst>
              <a:gd name="adj" fmla="val 4118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1F2236">
                <a:alpha val="14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20" name="Image 2" descr="Dart for Windows download pag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25896" y="3546478"/>
            <a:ext cx="5440680" cy="214248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A60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4" hasCustomPrompt="1"/>
          </p:nvPr>
        </p:nvSpPr>
        <p:spPr>
          <a:xfrm>
            <a:off x="1371600" y="36576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INSTALLING DART </a:t>
            </a:r>
            <a:r>
              <a:rPr lang="en-US" sz="3200" b="1" dirty="0">
                <a:solidFill>
                  <a:schemeClr val="accent1"/>
                </a:solidFill>
              </a:rPr>
              <a:t>SDK</a:t>
            </a:r>
            <a:endParaRPr lang="en-US" sz="3200" dirty="0"/>
          </a:p>
        </p:txBody>
      </p:sp>
      <p:sp>
        <p:nvSpPr>
          <p:cNvPr id="3" name="Instruction panel"/>
          <p:cNvSpPr/>
          <p:nvPr/>
        </p:nvSpPr>
        <p:spPr>
          <a:xfrm>
            <a:off x="548640" y="1463040"/>
            <a:ext cx="3566160" cy="4709160"/>
          </a:xfrm>
          <a:prstGeom prst="roundRect">
            <a:avLst>
              <a:gd name="adj" fmla="val 3590"/>
            </a:avLst>
          </a:prstGeom>
          <a:solidFill>
            <a:schemeClr val="tx2"/>
          </a:solidFill>
          <a:ln/>
          <a:effectLst>
            <a:outerShdw blurRad="127000" dist="38100" dir="5400000" algn="bl" rotWithShape="0">
              <a:srgbClr val="1F2236">
                <a:alpha val="14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4" name="Instruction marker"/>
          <p:cNvSpPr/>
          <p:nvPr/>
        </p:nvSpPr>
        <p:spPr>
          <a:xfrm rot="2700000">
            <a:off x="975809" y="1890209"/>
            <a:ext cx="517263" cy="517263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5" name="Image 0" descr="arrow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11680"/>
            <a:ext cx="274320" cy="274320"/>
          </a:xfrm>
          <a:prstGeom prst="rect">
            <a:avLst/>
          </a:prstGeom>
        </p:spPr>
      </p:pic>
      <p:sp>
        <p:nvSpPr>
          <p:cNvPr id="6" name="Instruction"/>
          <p:cNvSpPr txBox="1"/>
          <p:nvPr/>
        </p:nvSpPr>
        <p:spPr>
          <a:xfrm>
            <a:off x="868680" y="2926080"/>
            <a:ext cx="2971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Accept the agreement</a:t>
            </a:r>
            <a:endParaRPr lang="en-US" sz="2400" dirty="0"/>
          </a:p>
        </p:txBody>
      </p:sp>
      <p:sp>
        <p:nvSpPr>
          <p:cNvPr id="7" name="Screenshot stage"/>
          <p:cNvSpPr/>
          <p:nvPr/>
        </p:nvSpPr>
        <p:spPr>
          <a:xfrm>
            <a:off x="4389120" y="1463040"/>
            <a:ext cx="7251192" cy="4709160"/>
          </a:xfrm>
          <a:prstGeom prst="roundRect">
            <a:avLst>
              <a:gd name="adj" fmla="val 2718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1F2236">
                <a:alpha val="14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8" name="Image 1" descr="Screenshot s8_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4794" y="1645920"/>
            <a:ext cx="5819844" cy="43434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A60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4" hasCustomPrompt="1"/>
          </p:nvPr>
        </p:nvSpPr>
        <p:spPr>
          <a:xfrm>
            <a:off x="1371600" y="36576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INSTALLING DART </a:t>
            </a:r>
            <a:r>
              <a:rPr lang="en-US" sz="3200" b="1" dirty="0">
                <a:solidFill>
                  <a:schemeClr val="accent1"/>
                </a:solidFill>
              </a:rPr>
              <a:t>SDK</a:t>
            </a:r>
            <a:endParaRPr lang="en-US" sz="3200" dirty="0"/>
          </a:p>
        </p:txBody>
      </p:sp>
      <p:sp>
        <p:nvSpPr>
          <p:cNvPr id="3" name="Instruction panel"/>
          <p:cNvSpPr/>
          <p:nvPr/>
        </p:nvSpPr>
        <p:spPr>
          <a:xfrm>
            <a:off x="548640" y="1463040"/>
            <a:ext cx="3566160" cy="4709160"/>
          </a:xfrm>
          <a:prstGeom prst="roundRect">
            <a:avLst>
              <a:gd name="adj" fmla="val 3590"/>
            </a:avLst>
          </a:prstGeom>
          <a:solidFill>
            <a:schemeClr val="tx2"/>
          </a:solidFill>
          <a:ln/>
          <a:effectLst>
            <a:outerShdw blurRad="127000" dist="38100" dir="5400000" algn="bl" rotWithShape="0">
              <a:srgbClr val="1F2236">
                <a:alpha val="14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4" name="Instruction marker"/>
          <p:cNvSpPr/>
          <p:nvPr/>
        </p:nvSpPr>
        <p:spPr>
          <a:xfrm rot="2700000">
            <a:off x="975809" y="1890209"/>
            <a:ext cx="517263" cy="517263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5" name="Image 0" descr="arrow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11680"/>
            <a:ext cx="274320" cy="274320"/>
          </a:xfrm>
          <a:prstGeom prst="rect">
            <a:avLst/>
          </a:prstGeom>
        </p:spPr>
      </p:pic>
      <p:sp>
        <p:nvSpPr>
          <p:cNvPr id="6" name="Instruction"/>
          <p:cNvSpPr txBox="1"/>
          <p:nvPr/>
        </p:nvSpPr>
        <p:spPr>
          <a:xfrm>
            <a:off x="868680" y="2926080"/>
            <a:ext cx="2971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Check the folder location</a:t>
            </a:r>
            <a:endParaRPr lang="en-US" sz="2400" dirty="0"/>
          </a:p>
        </p:txBody>
      </p:sp>
      <p:sp>
        <p:nvSpPr>
          <p:cNvPr id="7" name="Screenshot stage"/>
          <p:cNvSpPr/>
          <p:nvPr/>
        </p:nvSpPr>
        <p:spPr>
          <a:xfrm>
            <a:off x="4389120" y="1463040"/>
            <a:ext cx="7251192" cy="4709160"/>
          </a:xfrm>
          <a:prstGeom prst="roundRect">
            <a:avLst>
              <a:gd name="adj" fmla="val 2718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1F2236">
                <a:alpha val="14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8" name="Image 1" descr="Screenshot s9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4895" y="1645920"/>
            <a:ext cx="5859641" cy="43434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A60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4" hasCustomPrompt="1"/>
          </p:nvPr>
        </p:nvSpPr>
        <p:spPr>
          <a:xfrm>
            <a:off x="1371600" y="36576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INSTALLING DART </a:t>
            </a:r>
            <a:r>
              <a:rPr lang="en-US" sz="3200" b="1" dirty="0">
                <a:solidFill>
                  <a:schemeClr val="accent1"/>
                </a:solidFill>
              </a:rPr>
              <a:t>SDK</a:t>
            </a:r>
            <a:endParaRPr lang="en-US" sz="3200" dirty="0"/>
          </a:p>
        </p:txBody>
      </p:sp>
      <p:sp>
        <p:nvSpPr>
          <p:cNvPr id="3" name="Instruction marker"/>
          <p:cNvSpPr/>
          <p:nvPr/>
        </p:nvSpPr>
        <p:spPr>
          <a:xfrm rot="2700000">
            <a:off x="628986" y="1589106"/>
            <a:ext cx="387947" cy="387947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4" name="Image 0" descr="arrow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673352"/>
            <a:ext cx="219456" cy="219456"/>
          </a:xfrm>
          <a:prstGeom prst="rect">
            <a:avLst/>
          </a:prstGeom>
        </p:spPr>
      </p:pic>
      <p:sp>
        <p:nvSpPr>
          <p:cNvPr id="5" name="Instruction"/>
          <p:cNvSpPr txBox="1"/>
          <p:nvPr/>
        </p:nvSpPr>
        <p:spPr>
          <a:xfrm>
            <a:off x="1280160" y="14630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</a:rPr>
              <a:t>Download the files and install</a:t>
            </a:r>
            <a:endParaRPr lang="en-US" sz="2200" dirty="0"/>
          </a:p>
        </p:txBody>
      </p:sp>
      <p:sp>
        <p:nvSpPr>
          <p:cNvPr id="6" name="Screenshot frame"/>
          <p:cNvSpPr/>
          <p:nvPr/>
        </p:nvSpPr>
        <p:spPr>
          <a:xfrm>
            <a:off x="904341" y="2331720"/>
            <a:ext cx="5052845" cy="3840480"/>
          </a:xfrm>
          <a:prstGeom prst="roundRect">
            <a:avLst>
              <a:gd name="adj" fmla="val 2857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1F2236">
                <a:alpha val="14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7" name="Image 1" descr="Screenshot s10_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1501" y="2468880"/>
            <a:ext cx="4778525" cy="3566160"/>
          </a:xfrm>
          <a:prstGeom prst="rect">
            <a:avLst/>
          </a:prstGeom>
        </p:spPr>
      </p:pic>
      <p:sp>
        <p:nvSpPr>
          <p:cNvPr id="8" name="Screenshot frame"/>
          <p:cNvSpPr/>
          <p:nvPr/>
        </p:nvSpPr>
        <p:spPr>
          <a:xfrm>
            <a:off x="6231506" y="2331720"/>
            <a:ext cx="5053105" cy="3840480"/>
          </a:xfrm>
          <a:prstGeom prst="roundRect">
            <a:avLst>
              <a:gd name="adj" fmla="val 2857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1F2236">
                <a:alpha val="14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9" name="Image 2" descr="Screenshot s10_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8666" y="2468880"/>
            <a:ext cx="4778785" cy="35661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A60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4" hasCustomPrompt="1"/>
          </p:nvPr>
        </p:nvSpPr>
        <p:spPr>
          <a:xfrm>
            <a:off x="1371600" y="36576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INSTALLING DART </a:t>
            </a:r>
            <a:r>
              <a:rPr lang="en-US" sz="3200" b="1" dirty="0">
                <a:solidFill>
                  <a:schemeClr val="accent1"/>
                </a:solidFill>
              </a:rPr>
              <a:t>SDK</a:t>
            </a:r>
            <a:endParaRPr lang="en-US" sz="3200" dirty="0"/>
          </a:p>
        </p:txBody>
      </p:sp>
      <p:sp>
        <p:nvSpPr>
          <p:cNvPr id="3" name="Instruction marker"/>
          <p:cNvSpPr/>
          <p:nvPr/>
        </p:nvSpPr>
        <p:spPr>
          <a:xfrm rot="2700000">
            <a:off x="628986" y="1589106"/>
            <a:ext cx="387947" cy="387947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4" name="Image 0" descr="arrow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673352"/>
            <a:ext cx="219456" cy="219456"/>
          </a:xfrm>
          <a:prstGeom prst="rect">
            <a:avLst/>
          </a:prstGeom>
        </p:spPr>
      </p:pic>
      <p:sp>
        <p:nvSpPr>
          <p:cNvPr id="5" name="Instruction"/>
          <p:cNvSpPr txBox="1"/>
          <p:nvPr/>
        </p:nvSpPr>
        <p:spPr>
          <a:xfrm>
            <a:off x="1280160" y="14630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</a:rPr>
              <a:t>Installation is completed and we can check the </a:t>
            </a:r>
            <a:r>
              <a:rPr lang="en-US" sz="2200" b="1" dirty="0">
                <a:solidFill>
                  <a:schemeClr val="accent1"/>
                </a:solidFill>
              </a:rPr>
              <a:t>dart sdk</a:t>
            </a:r>
            <a:r>
              <a:rPr lang="en-US" sz="2200" dirty="0">
                <a:solidFill>
                  <a:schemeClr val="tx1"/>
                </a:solidFill>
              </a:rPr>
              <a:t> is alive in our computer</a:t>
            </a:r>
            <a:endParaRPr lang="en-US" sz="2200" dirty="0"/>
          </a:p>
        </p:txBody>
      </p:sp>
      <p:sp>
        <p:nvSpPr>
          <p:cNvPr id="6" name="Screenshot frame"/>
          <p:cNvSpPr/>
          <p:nvPr/>
        </p:nvSpPr>
        <p:spPr>
          <a:xfrm>
            <a:off x="548640" y="2506777"/>
            <a:ext cx="4554711" cy="3490367"/>
          </a:xfrm>
          <a:prstGeom prst="roundRect">
            <a:avLst>
              <a:gd name="adj" fmla="val 3144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1F2236">
                <a:alpha val="14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7" name="Image 1" descr="Screenshot s11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643937"/>
            <a:ext cx="4280391" cy="3216047"/>
          </a:xfrm>
          <a:prstGeom prst="rect">
            <a:avLst/>
          </a:prstGeom>
        </p:spPr>
      </p:pic>
      <p:sp>
        <p:nvSpPr>
          <p:cNvPr id="8" name="Screenshot frame"/>
          <p:cNvSpPr/>
          <p:nvPr/>
        </p:nvSpPr>
        <p:spPr>
          <a:xfrm>
            <a:off x="5377671" y="2506777"/>
            <a:ext cx="6262641" cy="3490367"/>
          </a:xfrm>
          <a:prstGeom prst="roundRect">
            <a:avLst>
              <a:gd name="adj" fmla="val 3144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1F2236">
                <a:alpha val="14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9" name="Image 2" descr="Screenshot s11_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4831" y="2643937"/>
            <a:ext cx="5988321" cy="321604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A60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4" hasCustomPrompt="1"/>
          </p:nvPr>
        </p:nvSpPr>
        <p:spPr>
          <a:xfrm>
            <a:off x="1371600" y="36576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INSTALLING </a:t>
            </a:r>
            <a:r>
              <a:rPr lang="en-US" sz="3200" b="1" dirty="0">
                <a:solidFill>
                  <a:schemeClr val="accent1"/>
                </a:solidFill>
              </a:rPr>
              <a:t>VS CODE</a:t>
            </a:r>
            <a:endParaRPr lang="en-US" sz="3200" dirty="0"/>
          </a:p>
        </p:txBody>
      </p:sp>
      <p:sp>
        <p:nvSpPr>
          <p:cNvPr id="3" name="What is VS Code card"/>
          <p:cNvSpPr/>
          <p:nvPr/>
        </p:nvSpPr>
        <p:spPr>
          <a:xfrm>
            <a:off x="548640" y="1463040"/>
            <a:ext cx="7406640" cy="2743200"/>
          </a:xfrm>
          <a:prstGeom prst="roundRect">
            <a:avLst>
              <a:gd name="adj" fmla="val 4667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1F2236">
                <a:alpha val="14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4" name="Icon circle"/>
          <p:cNvSpPr/>
          <p:nvPr/>
        </p:nvSpPr>
        <p:spPr>
          <a:xfrm>
            <a:off x="822960" y="16916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5" name="Image 0" descr="code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1805940"/>
            <a:ext cx="228600" cy="228600"/>
          </a:xfrm>
          <a:prstGeom prst="rect">
            <a:avLst/>
          </a:prstGeom>
        </p:spPr>
      </p:pic>
      <p:sp>
        <p:nvSpPr>
          <p:cNvPr id="6" name="Heading What is VS Code?"/>
          <p:cNvSpPr txBox="1"/>
          <p:nvPr/>
        </p:nvSpPr>
        <p:spPr>
          <a:xfrm>
            <a:off x="1463040" y="1691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What is VS Code?</a:t>
            </a:r>
            <a:endParaRPr lang="en-US" sz="2000" dirty="0"/>
          </a:p>
        </p:txBody>
      </p:sp>
      <p:sp>
        <p:nvSpPr>
          <p:cNvPr id="7" name="VS Code text"/>
          <p:cNvSpPr txBox="1"/>
          <p:nvPr/>
        </p:nvSpPr>
        <p:spPr>
          <a:xfrm>
            <a:off x="868680" y="2377440"/>
            <a:ext cx="6766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Visual Studio Code is a versatile code editor for software development, supporting multiple programming languages and frameworks. It is developed by Microsoft and offers extensive customization through extensions.</a:t>
            </a:r>
            <a:endParaRPr lang="en-US" sz="1700" dirty="0"/>
          </a:p>
        </p:txBody>
      </p:sp>
      <p:sp>
        <p:nvSpPr>
          <p:cNvPr id="8" name="Logo tile"/>
          <p:cNvSpPr/>
          <p:nvPr/>
        </p:nvSpPr>
        <p:spPr>
          <a:xfrm>
            <a:off x="8229600" y="1463040"/>
            <a:ext cx="3410712" cy="2743200"/>
          </a:xfrm>
          <a:prstGeom prst="roundRect">
            <a:avLst>
              <a:gd name="adj" fmla="val 4667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1F2236">
                <a:alpha val="14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9" name="Image 1" descr="Visual Studio Code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1916" y="2103120"/>
            <a:ext cx="2926080" cy="1463040"/>
          </a:xfrm>
          <a:prstGeom prst="rect">
            <a:avLst/>
          </a:prstGeom>
        </p:spPr>
      </p:pic>
      <p:sp>
        <p:nvSpPr>
          <p:cNvPr id="10" name="Download card"/>
          <p:cNvSpPr/>
          <p:nvPr/>
        </p:nvSpPr>
        <p:spPr>
          <a:xfrm>
            <a:off x="548640" y="4434840"/>
            <a:ext cx="11091672" cy="1737360"/>
          </a:xfrm>
          <a:prstGeom prst="roundRect">
            <a:avLst>
              <a:gd name="adj" fmla="val 7368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1F2236">
                <a:alpha val="14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1" name="Icon circle"/>
          <p:cNvSpPr/>
          <p:nvPr/>
        </p:nvSpPr>
        <p:spPr>
          <a:xfrm>
            <a:off x="822960" y="46634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2" name="Image 2" descr="download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60" y="4777740"/>
            <a:ext cx="228600" cy="228600"/>
          </a:xfrm>
          <a:prstGeom prst="rect">
            <a:avLst/>
          </a:prstGeom>
        </p:spPr>
      </p:pic>
      <p:sp>
        <p:nvSpPr>
          <p:cNvPr id="13" name="Heading Downloading VS Code?"/>
          <p:cNvSpPr txBox="1"/>
          <p:nvPr/>
        </p:nvSpPr>
        <p:spPr>
          <a:xfrm>
            <a:off x="1463040" y="46634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Downloading VS Code?</a:t>
            </a:r>
            <a:endParaRPr lang="en-US" sz="2000" dirty="0"/>
          </a:p>
        </p:txBody>
      </p:sp>
      <p:sp>
        <p:nvSpPr>
          <p:cNvPr id="14" name="Go to label"/>
          <p:cNvSpPr txBox="1"/>
          <p:nvPr/>
        </p:nvSpPr>
        <p:spPr>
          <a:xfrm>
            <a:off x="868680" y="54406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Go to:</a:t>
            </a:r>
            <a:endParaRPr lang="en-US" sz="1700" dirty="0"/>
          </a:p>
        </p:txBody>
      </p:sp>
      <p:sp>
        <p:nvSpPr>
          <p:cNvPr id="15" name="Link pill"/>
          <p:cNvSpPr/>
          <p:nvPr/>
        </p:nvSpPr>
        <p:spPr>
          <a:xfrm>
            <a:off x="1645920" y="5440680"/>
            <a:ext cx="5394960" cy="457200"/>
          </a:xfrm>
          <a:prstGeom prst="roundRect">
            <a:avLst>
              <a:gd name="adj" fmla="val 50000"/>
            </a:avLst>
          </a:prstGeom>
          <a:solidFill>
            <a:schemeClr val="accent1">
              <a:alpha val="15000"/>
            </a:scheme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6" name="Download link"/>
          <p:cNvSpPr txBox="1"/>
          <p:nvPr/>
        </p:nvSpPr>
        <p:spPr>
          <a:xfrm>
            <a:off x="1645920" y="544068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u="sng" dirty="0">
                <a:solidFill>
                  <a:schemeClr val="tx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https://code.visualstudio.com/download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A60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4" hasCustomPrompt="1"/>
          </p:nvPr>
        </p:nvSpPr>
        <p:spPr>
          <a:xfrm>
            <a:off x="1371600" y="36576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INSTALLING </a:t>
            </a:r>
            <a:r>
              <a:rPr lang="en-US" sz="3200" b="1" dirty="0">
                <a:solidFill>
                  <a:schemeClr val="accent1"/>
                </a:solidFill>
              </a:rPr>
              <a:t>VS CODE</a:t>
            </a:r>
            <a:endParaRPr lang="en-US" sz="3200" dirty="0"/>
          </a:p>
        </p:txBody>
      </p:sp>
      <p:sp>
        <p:nvSpPr>
          <p:cNvPr id="3" name="Instruction panel"/>
          <p:cNvSpPr/>
          <p:nvPr/>
        </p:nvSpPr>
        <p:spPr>
          <a:xfrm>
            <a:off x="548640" y="1463040"/>
            <a:ext cx="3566160" cy="4709160"/>
          </a:xfrm>
          <a:prstGeom prst="roundRect">
            <a:avLst>
              <a:gd name="adj" fmla="val 3590"/>
            </a:avLst>
          </a:prstGeom>
          <a:solidFill>
            <a:schemeClr val="tx2"/>
          </a:solidFill>
          <a:ln/>
          <a:effectLst>
            <a:outerShdw blurRad="127000" dist="38100" dir="5400000" algn="bl" rotWithShape="0">
              <a:srgbClr val="1F2236">
                <a:alpha val="14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4" name="Instruction marker"/>
          <p:cNvSpPr/>
          <p:nvPr/>
        </p:nvSpPr>
        <p:spPr>
          <a:xfrm rot="2700000">
            <a:off x="975809" y="1890209"/>
            <a:ext cx="517263" cy="517263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5" name="Image 0" descr="arrow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11680"/>
            <a:ext cx="274320" cy="274320"/>
          </a:xfrm>
          <a:prstGeom prst="rect">
            <a:avLst/>
          </a:prstGeom>
        </p:spPr>
      </p:pic>
      <p:sp>
        <p:nvSpPr>
          <p:cNvPr id="6" name="Instruction"/>
          <p:cNvSpPr txBox="1"/>
          <p:nvPr/>
        </p:nvSpPr>
        <p:spPr>
          <a:xfrm>
            <a:off x="868680" y="2926080"/>
            <a:ext cx="2971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Choose the app based on your OS</a:t>
            </a:r>
            <a:endParaRPr lang="en-US" sz="2400" dirty="0"/>
          </a:p>
        </p:txBody>
      </p:sp>
      <p:sp>
        <p:nvSpPr>
          <p:cNvPr id="7" name="Screenshot stage"/>
          <p:cNvSpPr/>
          <p:nvPr/>
        </p:nvSpPr>
        <p:spPr>
          <a:xfrm>
            <a:off x="4389120" y="1463040"/>
            <a:ext cx="7251192" cy="4709160"/>
          </a:xfrm>
          <a:prstGeom prst="roundRect">
            <a:avLst>
              <a:gd name="adj" fmla="val 2718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1F2236">
                <a:alpha val="14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8" name="Image 1" descr="Screenshot s13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2856" y="1785846"/>
            <a:ext cx="6903720" cy="406354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A60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4" hasCustomPrompt="1"/>
          </p:nvPr>
        </p:nvSpPr>
        <p:spPr>
          <a:xfrm>
            <a:off x="1371600" y="36576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INSTALLING </a:t>
            </a:r>
            <a:r>
              <a:rPr lang="en-US" sz="3200" b="1" dirty="0">
                <a:solidFill>
                  <a:schemeClr val="accent1"/>
                </a:solidFill>
              </a:rPr>
              <a:t>VS CODE</a:t>
            </a:r>
            <a:endParaRPr lang="en-US" sz="3200" dirty="0"/>
          </a:p>
        </p:txBody>
      </p:sp>
      <p:sp>
        <p:nvSpPr>
          <p:cNvPr id="3" name="Instruction panel"/>
          <p:cNvSpPr/>
          <p:nvPr/>
        </p:nvSpPr>
        <p:spPr>
          <a:xfrm>
            <a:off x="548640" y="1463040"/>
            <a:ext cx="3566160" cy="4709160"/>
          </a:xfrm>
          <a:prstGeom prst="roundRect">
            <a:avLst>
              <a:gd name="adj" fmla="val 3590"/>
            </a:avLst>
          </a:prstGeom>
          <a:solidFill>
            <a:schemeClr val="tx2"/>
          </a:solidFill>
          <a:ln/>
          <a:effectLst>
            <a:outerShdw blurRad="127000" dist="38100" dir="5400000" algn="bl" rotWithShape="0">
              <a:srgbClr val="1F2236">
                <a:alpha val="14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4" name="Instruction marker"/>
          <p:cNvSpPr/>
          <p:nvPr/>
        </p:nvSpPr>
        <p:spPr>
          <a:xfrm rot="2700000">
            <a:off x="975809" y="1890209"/>
            <a:ext cx="517263" cy="517263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5" name="Image 0" descr="arrow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11680"/>
            <a:ext cx="274320" cy="274320"/>
          </a:xfrm>
          <a:prstGeom prst="rect">
            <a:avLst/>
          </a:prstGeom>
        </p:spPr>
      </p:pic>
      <p:sp>
        <p:nvSpPr>
          <p:cNvPr id="6" name="Instruction"/>
          <p:cNvSpPr txBox="1"/>
          <p:nvPr/>
        </p:nvSpPr>
        <p:spPr>
          <a:xfrm>
            <a:off x="868680" y="2926080"/>
            <a:ext cx="2971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Accept the agreement</a:t>
            </a:r>
            <a:endParaRPr lang="en-US" sz="2400" dirty="0"/>
          </a:p>
        </p:txBody>
      </p:sp>
      <p:sp>
        <p:nvSpPr>
          <p:cNvPr id="7" name="Screenshot stage"/>
          <p:cNvSpPr/>
          <p:nvPr/>
        </p:nvSpPr>
        <p:spPr>
          <a:xfrm>
            <a:off x="4389120" y="1463040"/>
            <a:ext cx="7251192" cy="4709160"/>
          </a:xfrm>
          <a:prstGeom prst="roundRect">
            <a:avLst>
              <a:gd name="adj" fmla="val 2718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1F2236">
                <a:alpha val="14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8" name="Image 1" descr="Screenshot s14_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201" y="1645920"/>
            <a:ext cx="5789029" cy="43434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A60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4" hasCustomPrompt="1"/>
          </p:nvPr>
        </p:nvSpPr>
        <p:spPr>
          <a:xfrm>
            <a:off x="1371600" y="36576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INSTALLING </a:t>
            </a:r>
            <a:r>
              <a:rPr lang="en-US" sz="3200" b="1" dirty="0">
                <a:solidFill>
                  <a:schemeClr val="accent1"/>
                </a:solidFill>
              </a:rPr>
              <a:t>VS CODE</a:t>
            </a:r>
            <a:endParaRPr lang="en-US" sz="3200" dirty="0"/>
          </a:p>
        </p:txBody>
      </p:sp>
      <p:sp>
        <p:nvSpPr>
          <p:cNvPr id="3" name="Instruction panel"/>
          <p:cNvSpPr/>
          <p:nvPr/>
        </p:nvSpPr>
        <p:spPr>
          <a:xfrm>
            <a:off x="548640" y="1463040"/>
            <a:ext cx="3566160" cy="4709160"/>
          </a:xfrm>
          <a:prstGeom prst="roundRect">
            <a:avLst>
              <a:gd name="adj" fmla="val 3590"/>
            </a:avLst>
          </a:prstGeom>
          <a:solidFill>
            <a:schemeClr val="tx2"/>
          </a:solidFill>
          <a:ln/>
          <a:effectLst>
            <a:outerShdw blurRad="127000" dist="38100" dir="5400000" algn="bl" rotWithShape="0">
              <a:srgbClr val="1F2236">
                <a:alpha val="14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4" name="Instruction marker"/>
          <p:cNvSpPr/>
          <p:nvPr/>
        </p:nvSpPr>
        <p:spPr>
          <a:xfrm rot="2700000">
            <a:off x="975809" y="1890209"/>
            <a:ext cx="517263" cy="517263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5" name="Image 0" descr="arrow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11680"/>
            <a:ext cx="274320" cy="274320"/>
          </a:xfrm>
          <a:prstGeom prst="rect">
            <a:avLst/>
          </a:prstGeom>
        </p:spPr>
      </p:pic>
      <p:sp>
        <p:nvSpPr>
          <p:cNvPr id="6" name="Instruction"/>
          <p:cNvSpPr txBox="1"/>
          <p:nvPr/>
        </p:nvSpPr>
        <p:spPr>
          <a:xfrm>
            <a:off x="868680" y="2926080"/>
            <a:ext cx="2971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Check your folder location</a:t>
            </a:r>
            <a:endParaRPr lang="en-US" sz="2400" dirty="0"/>
          </a:p>
        </p:txBody>
      </p:sp>
      <p:sp>
        <p:nvSpPr>
          <p:cNvPr id="7" name="Screenshot stage"/>
          <p:cNvSpPr/>
          <p:nvPr/>
        </p:nvSpPr>
        <p:spPr>
          <a:xfrm>
            <a:off x="4389120" y="1463040"/>
            <a:ext cx="7251192" cy="4709160"/>
          </a:xfrm>
          <a:prstGeom prst="roundRect">
            <a:avLst>
              <a:gd name="adj" fmla="val 2718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1F2236">
                <a:alpha val="14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8" name="Image 1" descr="Screenshot s15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6679" y="1645920"/>
            <a:ext cx="5776074" cy="43434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A60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4" hasCustomPrompt="1"/>
          </p:nvPr>
        </p:nvSpPr>
        <p:spPr>
          <a:xfrm>
            <a:off x="1371600" y="36576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INSTALLING </a:t>
            </a:r>
            <a:r>
              <a:rPr lang="en-US" sz="3200" b="1" dirty="0">
                <a:solidFill>
                  <a:schemeClr val="accent1"/>
                </a:solidFill>
              </a:rPr>
              <a:t>VS CODE</a:t>
            </a:r>
            <a:endParaRPr lang="en-US" sz="3200" dirty="0"/>
          </a:p>
        </p:txBody>
      </p:sp>
      <p:sp>
        <p:nvSpPr>
          <p:cNvPr id="3" name="Instruction panel"/>
          <p:cNvSpPr/>
          <p:nvPr/>
        </p:nvSpPr>
        <p:spPr>
          <a:xfrm>
            <a:off x="548640" y="1463040"/>
            <a:ext cx="3566160" cy="4709160"/>
          </a:xfrm>
          <a:prstGeom prst="roundRect">
            <a:avLst>
              <a:gd name="adj" fmla="val 3590"/>
            </a:avLst>
          </a:prstGeom>
          <a:solidFill>
            <a:schemeClr val="tx2"/>
          </a:solidFill>
          <a:ln/>
          <a:effectLst>
            <a:outerShdw blurRad="127000" dist="38100" dir="5400000" algn="bl" rotWithShape="0">
              <a:srgbClr val="1F2236">
                <a:alpha val="14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4" name="Instruction marker"/>
          <p:cNvSpPr/>
          <p:nvPr/>
        </p:nvSpPr>
        <p:spPr>
          <a:xfrm rot="2700000">
            <a:off x="975809" y="1890209"/>
            <a:ext cx="517263" cy="517263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5" name="Image 0" descr="arrow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11680"/>
            <a:ext cx="274320" cy="274320"/>
          </a:xfrm>
          <a:prstGeom prst="rect">
            <a:avLst/>
          </a:prstGeom>
        </p:spPr>
      </p:pic>
      <p:sp>
        <p:nvSpPr>
          <p:cNvPr id="6" name="Instruction"/>
          <p:cNvSpPr txBox="1"/>
          <p:nvPr/>
        </p:nvSpPr>
        <p:spPr>
          <a:xfrm>
            <a:off x="868680" y="2926080"/>
            <a:ext cx="2971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Install all documents</a:t>
            </a:r>
            <a:endParaRPr lang="en-US" sz="2400" dirty="0"/>
          </a:p>
        </p:txBody>
      </p:sp>
      <p:sp>
        <p:nvSpPr>
          <p:cNvPr id="7" name="Screenshot stage"/>
          <p:cNvSpPr/>
          <p:nvPr/>
        </p:nvSpPr>
        <p:spPr>
          <a:xfrm>
            <a:off x="4389120" y="1463040"/>
            <a:ext cx="7251192" cy="4709160"/>
          </a:xfrm>
          <a:prstGeom prst="roundRect">
            <a:avLst>
              <a:gd name="adj" fmla="val 2718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1F2236">
                <a:alpha val="14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8" name="Image 1" descr="Screenshot s16_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2043" y="1645920"/>
            <a:ext cx="5765346" cy="43434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A60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4" hasCustomPrompt="1"/>
          </p:nvPr>
        </p:nvSpPr>
        <p:spPr>
          <a:xfrm>
            <a:off x="1371600" y="36576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INSTALLING </a:t>
            </a:r>
            <a:r>
              <a:rPr lang="en-US" sz="3200" b="1" dirty="0">
                <a:solidFill>
                  <a:schemeClr val="accent1"/>
                </a:solidFill>
              </a:rPr>
              <a:t>VS CODE</a:t>
            </a:r>
            <a:endParaRPr lang="en-US" sz="3200" dirty="0"/>
          </a:p>
        </p:txBody>
      </p:sp>
      <p:sp>
        <p:nvSpPr>
          <p:cNvPr id="3" name="Instruction marker"/>
          <p:cNvSpPr/>
          <p:nvPr/>
        </p:nvSpPr>
        <p:spPr>
          <a:xfrm rot="2700000">
            <a:off x="628986" y="1589106"/>
            <a:ext cx="387947" cy="387947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4" name="Image 0" descr="arrow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673352"/>
            <a:ext cx="219456" cy="219456"/>
          </a:xfrm>
          <a:prstGeom prst="rect">
            <a:avLst/>
          </a:prstGeom>
        </p:spPr>
      </p:pic>
      <p:sp>
        <p:nvSpPr>
          <p:cNvPr id="5" name="Instruction"/>
          <p:cNvSpPr txBox="1"/>
          <p:nvPr/>
        </p:nvSpPr>
        <p:spPr>
          <a:xfrm>
            <a:off x="1280160" y="14630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</a:rPr>
              <a:t>Wait for the installation to complete</a:t>
            </a:r>
            <a:endParaRPr lang="en-US" sz="2200" dirty="0"/>
          </a:p>
        </p:txBody>
      </p:sp>
      <p:sp>
        <p:nvSpPr>
          <p:cNvPr id="6" name="Screenshot frame"/>
          <p:cNvSpPr/>
          <p:nvPr/>
        </p:nvSpPr>
        <p:spPr>
          <a:xfrm>
            <a:off x="923640" y="2331720"/>
            <a:ext cx="5027393" cy="3840480"/>
          </a:xfrm>
          <a:prstGeom prst="roundRect">
            <a:avLst>
              <a:gd name="adj" fmla="val 2857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1F2236">
                <a:alpha val="14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7" name="Image 1" descr="Screenshot s17_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800" y="2468880"/>
            <a:ext cx="4753073" cy="3566160"/>
          </a:xfrm>
          <a:prstGeom prst="rect">
            <a:avLst/>
          </a:prstGeom>
        </p:spPr>
      </p:pic>
      <p:sp>
        <p:nvSpPr>
          <p:cNvPr id="8" name="Screenshot frame"/>
          <p:cNvSpPr/>
          <p:nvPr/>
        </p:nvSpPr>
        <p:spPr>
          <a:xfrm>
            <a:off x="6225354" y="2331720"/>
            <a:ext cx="5039958" cy="3840480"/>
          </a:xfrm>
          <a:prstGeom prst="roundRect">
            <a:avLst>
              <a:gd name="adj" fmla="val 2857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1F2236">
                <a:alpha val="14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9" name="Image 2" descr="Screenshot s17_1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2514" y="2468880"/>
            <a:ext cx="4765638" cy="35661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A60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4" hasCustomPrompt="1"/>
          </p:nvPr>
        </p:nvSpPr>
        <p:spPr>
          <a:xfrm>
            <a:off x="1371600" y="36576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INSTALLATION DART TO </a:t>
            </a:r>
            <a:r>
              <a:rPr lang="en-US" sz="3200" b="1" dirty="0">
                <a:solidFill>
                  <a:schemeClr val="accent1"/>
                </a:solidFill>
              </a:rPr>
              <a:t>VSC</a:t>
            </a:r>
            <a:endParaRPr lang="en-US" sz="3200" dirty="0"/>
          </a:p>
        </p:txBody>
      </p:sp>
      <p:sp>
        <p:nvSpPr>
          <p:cNvPr id="3" name="Instruction panel"/>
          <p:cNvSpPr/>
          <p:nvPr/>
        </p:nvSpPr>
        <p:spPr>
          <a:xfrm>
            <a:off x="548640" y="1463040"/>
            <a:ext cx="3566160" cy="4709160"/>
          </a:xfrm>
          <a:prstGeom prst="roundRect">
            <a:avLst>
              <a:gd name="adj" fmla="val 3590"/>
            </a:avLst>
          </a:prstGeom>
          <a:solidFill>
            <a:schemeClr val="tx2"/>
          </a:solidFill>
          <a:ln/>
          <a:effectLst>
            <a:outerShdw blurRad="127000" dist="38100" dir="5400000" algn="bl" rotWithShape="0">
              <a:srgbClr val="1F2236">
                <a:alpha val="14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4" name="Instruction marker"/>
          <p:cNvSpPr/>
          <p:nvPr/>
        </p:nvSpPr>
        <p:spPr>
          <a:xfrm rot="2700000">
            <a:off x="975809" y="1890209"/>
            <a:ext cx="517263" cy="517263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5" name="Image 0" descr="arrow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11680"/>
            <a:ext cx="274320" cy="274320"/>
          </a:xfrm>
          <a:prstGeom prst="rect">
            <a:avLst/>
          </a:prstGeom>
        </p:spPr>
      </p:pic>
      <p:sp>
        <p:nvSpPr>
          <p:cNvPr id="6" name="Instruction"/>
          <p:cNvSpPr txBox="1"/>
          <p:nvPr/>
        </p:nvSpPr>
        <p:spPr>
          <a:xfrm>
            <a:off x="868680" y="2926080"/>
            <a:ext cx="2971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In the Windows search bar, type </a:t>
            </a:r>
            <a:r>
              <a:rPr lang="en-US" sz="2400" b="1" dirty="0">
                <a:solidFill>
                  <a:schemeClr val="accent2"/>
                </a:solidFill>
              </a:rPr>
              <a:t>edit environment variable</a:t>
            </a:r>
            <a:endParaRPr lang="en-US" sz="2400" dirty="0"/>
          </a:p>
        </p:txBody>
      </p:sp>
      <p:sp>
        <p:nvSpPr>
          <p:cNvPr id="7" name="Screenshot stage"/>
          <p:cNvSpPr/>
          <p:nvPr/>
        </p:nvSpPr>
        <p:spPr>
          <a:xfrm>
            <a:off x="4389120" y="1463040"/>
            <a:ext cx="7251192" cy="4709160"/>
          </a:xfrm>
          <a:prstGeom prst="roundRect">
            <a:avLst>
              <a:gd name="adj" fmla="val 2718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1F2236">
                <a:alpha val="14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8" name="Image 1" descr="Screenshot s18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2856" y="1687000"/>
            <a:ext cx="6903720" cy="42612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A60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4" hasCustomPrompt="1"/>
          </p:nvPr>
        </p:nvSpPr>
        <p:spPr>
          <a:xfrm>
            <a:off x="1371600" y="36576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INSTALLATION DART TO </a:t>
            </a:r>
            <a:r>
              <a:rPr lang="en-US" sz="3200" b="1" dirty="0">
                <a:solidFill>
                  <a:schemeClr val="accent1"/>
                </a:solidFill>
              </a:rPr>
              <a:t>VSC</a:t>
            </a:r>
            <a:endParaRPr lang="en-US" sz="3200" dirty="0"/>
          </a:p>
        </p:txBody>
      </p:sp>
      <p:sp>
        <p:nvSpPr>
          <p:cNvPr id="3" name="Instruction marker"/>
          <p:cNvSpPr/>
          <p:nvPr/>
        </p:nvSpPr>
        <p:spPr>
          <a:xfrm rot="2700000">
            <a:off x="628986" y="1589106"/>
            <a:ext cx="387947" cy="387947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4" name="Image 0" descr="arrow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673352"/>
            <a:ext cx="219456" cy="219456"/>
          </a:xfrm>
          <a:prstGeom prst="rect">
            <a:avLst/>
          </a:prstGeom>
        </p:spPr>
      </p:pic>
      <p:sp>
        <p:nvSpPr>
          <p:cNvPr id="5" name="Instruction"/>
          <p:cNvSpPr txBox="1"/>
          <p:nvPr/>
        </p:nvSpPr>
        <p:spPr>
          <a:xfrm>
            <a:off x="1280160" y="14630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</a:rPr>
              <a:t>Select the Dart SDK path and copy this path</a:t>
            </a:r>
            <a:endParaRPr lang="en-US" sz="2200" dirty="0"/>
          </a:p>
        </p:txBody>
      </p:sp>
      <p:sp>
        <p:nvSpPr>
          <p:cNvPr id="6" name="Screenshot frame"/>
          <p:cNvSpPr/>
          <p:nvPr/>
        </p:nvSpPr>
        <p:spPr>
          <a:xfrm>
            <a:off x="548640" y="2896178"/>
            <a:ext cx="5255940" cy="2711564"/>
          </a:xfrm>
          <a:prstGeom prst="roundRect">
            <a:avLst>
              <a:gd name="adj" fmla="val 4047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1F2236">
                <a:alpha val="14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7" name="Image 1" descr="Screenshot s19_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033338"/>
            <a:ext cx="4981620" cy="2437244"/>
          </a:xfrm>
          <a:prstGeom prst="rect">
            <a:avLst/>
          </a:prstGeom>
        </p:spPr>
      </p:pic>
      <p:sp>
        <p:nvSpPr>
          <p:cNvPr id="8" name="Screenshot frame"/>
          <p:cNvSpPr/>
          <p:nvPr/>
        </p:nvSpPr>
        <p:spPr>
          <a:xfrm>
            <a:off x="6078900" y="2896178"/>
            <a:ext cx="5561412" cy="2711564"/>
          </a:xfrm>
          <a:prstGeom prst="roundRect">
            <a:avLst>
              <a:gd name="adj" fmla="val 4047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1F2236">
                <a:alpha val="14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9" name="Image 2" descr="Screenshot s19_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6060" y="3033338"/>
            <a:ext cx="5287092" cy="243724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A60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4" hasCustomPrompt="1"/>
          </p:nvPr>
        </p:nvSpPr>
        <p:spPr>
          <a:xfrm>
            <a:off x="1371600" y="36576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INSTALLATION DART TO </a:t>
            </a:r>
            <a:r>
              <a:rPr lang="en-US" sz="3200" b="1" dirty="0">
                <a:solidFill>
                  <a:schemeClr val="accent1"/>
                </a:solidFill>
              </a:rPr>
              <a:t>VSC</a:t>
            </a:r>
            <a:endParaRPr lang="en-US" sz="3200" dirty="0"/>
          </a:p>
        </p:txBody>
      </p:sp>
      <p:sp>
        <p:nvSpPr>
          <p:cNvPr id="3" name="Instruction marker"/>
          <p:cNvSpPr/>
          <p:nvPr/>
        </p:nvSpPr>
        <p:spPr>
          <a:xfrm rot="2700000">
            <a:off x="628986" y="1589106"/>
            <a:ext cx="387947" cy="387947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4" name="Image 0" descr="arrow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673352"/>
            <a:ext cx="219456" cy="219456"/>
          </a:xfrm>
          <a:prstGeom prst="rect">
            <a:avLst/>
          </a:prstGeom>
        </p:spPr>
      </p:pic>
      <p:sp>
        <p:nvSpPr>
          <p:cNvPr id="5" name="Instruction"/>
          <p:cNvSpPr txBox="1"/>
          <p:nvPr/>
        </p:nvSpPr>
        <p:spPr>
          <a:xfrm>
            <a:off x="1280160" y="14630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</a:rPr>
              <a:t>Click </a:t>
            </a:r>
            <a:r>
              <a:rPr lang="en-US" sz="2200" b="1" dirty="0">
                <a:solidFill>
                  <a:schemeClr val="accent1"/>
                </a:solidFill>
              </a:rPr>
              <a:t>Environment variables</a:t>
            </a:r>
            <a:r>
              <a:rPr lang="en-US" sz="2200" dirty="0">
                <a:solidFill>
                  <a:schemeClr val="tx1"/>
                </a:solidFill>
              </a:rPr>
              <a:t>, then double click the </a:t>
            </a:r>
            <a:r>
              <a:rPr lang="en-US" sz="2200" b="1" dirty="0">
                <a:solidFill>
                  <a:schemeClr val="accent1"/>
                </a:solidFill>
              </a:rPr>
              <a:t>Path</a:t>
            </a:r>
            <a:endParaRPr lang="en-US" sz="2200" dirty="0"/>
          </a:p>
        </p:txBody>
      </p:sp>
      <p:sp>
        <p:nvSpPr>
          <p:cNvPr id="6" name="Screenshot frame"/>
          <p:cNvSpPr/>
          <p:nvPr/>
        </p:nvSpPr>
        <p:spPr>
          <a:xfrm>
            <a:off x="2551956" y="2331720"/>
            <a:ext cx="3287904" cy="3840480"/>
          </a:xfrm>
          <a:prstGeom prst="roundRect">
            <a:avLst>
              <a:gd name="adj" fmla="val 3337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1F2236">
                <a:alpha val="14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7" name="Image 1" descr="Screenshot s20_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9116" y="2468880"/>
            <a:ext cx="3013584" cy="3566160"/>
          </a:xfrm>
          <a:prstGeom prst="rect">
            <a:avLst/>
          </a:prstGeom>
        </p:spPr>
      </p:pic>
      <p:sp>
        <p:nvSpPr>
          <p:cNvPr id="8" name="Screenshot frame"/>
          <p:cNvSpPr/>
          <p:nvPr/>
        </p:nvSpPr>
        <p:spPr>
          <a:xfrm>
            <a:off x="6114180" y="2331720"/>
            <a:ext cx="3522816" cy="3840480"/>
          </a:xfrm>
          <a:prstGeom prst="roundRect">
            <a:avLst>
              <a:gd name="adj" fmla="val 3115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1F2236">
                <a:alpha val="14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9" name="Image 2" descr="Screenshot s20_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1340" y="2468880"/>
            <a:ext cx="3248496" cy="35661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A60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4" hasCustomPrompt="1"/>
          </p:nvPr>
        </p:nvSpPr>
        <p:spPr>
          <a:xfrm>
            <a:off x="1371600" y="36576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INSTALLATION DART TO </a:t>
            </a:r>
            <a:r>
              <a:rPr lang="en-US" sz="3200" b="1" dirty="0">
                <a:solidFill>
                  <a:schemeClr val="accent1"/>
                </a:solidFill>
              </a:rPr>
              <a:t>VSC</a:t>
            </a:r>
            <a:endParaRPr lang="en-US" sz="3200" dirty="0"/>
          </a:p>
        </p:txBody>
      </p:sp>
      <p:sp>
        <p:nvSpPr>
          <p:cNvPr id="3" name="Instruction marker"/>
          <p:cNvSpPr/>
          <p:nvPr/>
        </p:nvSpPr>
        <p:spPr>
          <a:xfrm rot="2700000">
            <a:off x="628986" y="1589106"/>
            <a:ext cx="387947" cy="387947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4" name="Image 0" descr="arrow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673352"/>
            <a:ext cx="219456" cy="219456"/>
          </a:xfrm>
          <a:prstGeom prst="rect">
            <a:avLst/>
          </a:prstGeom>
        </p:spPr>
      </p:pic>
      <p:sp>
        <p:nvSpPr>
          <p:cNvPr id="5" name="Instruction"/>
          <p:cNvSpPr txBox="1"/>
          <p:nvPr/>
        </p:nvSpPr>
        <p:spPr>
          <a:xfrm>
            <a:off x="1280160" y="14630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</a:rPr>
              <a:t>Click </a:t>
            </a:r>
            <a:r>
              <a:rPr lang="en-US" sz="2200" b="1" dirty="0">
                <a:solidFill>
                  <a:schemeClr val="accent1"/>
                </a:solidFill>
              </a:rPr>
              <a:t>New</a:t>
            </a:r>
            <a:r>
              <a:rPr lang="en-US" sz="2200" dirty="0">
                <a:solidFill>
                  <a:schemeClr val="tx1"/>
                </a:solidFill>
              </a:rPr>
              <a:t>, paste the copied path, then click </a:t>
            </a:r>
            <a:r>
              <a:rPr lang="en-US" sz="2200" b="1" dirty="0">
                <a:solidFill>
                  <a:schemeClr val="accent1"/>
                </a:solidFill>
              </a:rPr>
              <a:t>OK</a:t>
            </a:r>
            <a:r>
              <a:rPr lang="en-US" sz="2200" dirty="0">
                <a:solidFill>
                  <a:schemeClr val="tx1"/>
                </a:solidFill>
              </a:rPr>
              <a:t> and close all boxes with </a:t>
            </a:r>
            <a:r>
              <a:rPr lang="en-US" sz="2200" b="1" dirty="0">
                <a:solidFill>
                  <a:schemeClr val="accent1"/>
                </a:solidFill>
              </a:rPr>
              <a:t>OK</a:t>
            </a:r>
            <a:endParaRPr lang="en-US" sz="2200" dirty="0"/>
          </a:p>
        </p:txBody>
      </p:sp>
      <p:sp>
        <p:nvSpPr>
          <p:cNvPr id="6" name="Screenshot frame"/>
          <p:cNvSpPr/>
          <p:nvPr/>
        </p:nvSpPr>
        <p:spPr>
          <a:xfrm>
            <a:off x="2426943" y="2331720"/>
            <a:ext cx="3527891" cy="3840480"/>
          </a:xfrm>
          <a:prstGeom prst="roundRect">
            <a:avLst>
              <a:gd name="adj" fmla="val 3110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1F2236">
                <a:alpha val="14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7" name="Image 1" descr="Screenshot s21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4103" y="2468880"/>
            <a:ext cx="3253571" cy="3566160"/>
          </a:xfrm>
          <a:prstGeom prst="rect">
            <a:avLst/>
          </a:prstGeom>
        </p:spPr>
      </p:pic>
      <p:sp>
        <p:nvSpPr>
          <p:cNvPr id="8" name="Screenshot frame"/>
          <p:cNvSpPr/>
          <p:nvPr/>
        </p:nvSpPr>
        <p:spPr>
          <a:xfrm>
            <a:off x="6229153" y="2331720"/>
            <a:ext cx="3532856" cy="3840480"/>
          </a:xfrm>
          <a:prstGeom prst="roundRect">
            <a:avLst>
              <a:gd name="adj" fmla="val 3106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1F2236">
                <a:alpha val="14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9" name="Image 2" descr="Screenshot s21_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6313" y="2468880"/>
            <a:ext cx="3258536" cy="35661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A60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4" hasCustomPrompt="1"/>
          </p:nvPr>
        </p:nvSpPr>
        <p:spPr>
          <a:xfrm>
            <a:off x="1371600" y="36576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RUN </a:t>
            </a:r>
            <a:r>
              <a:rPr lang="en-US" sz="3200" b="1" dirty="0">
                <a:solidFill>
                  <a:schemeClr val="accent1"/>
                </a:solidFill>
              </a:rPr>
              <a:t>VS CODE</a:t>
            </a:r>
            <a:endParaRPr lang="en-US" sz="3200" dirty="0"/>
          </a:p>
        </p:txBody>
      </p:sp>
      <p:sp>
        <p:nvSpPr>
          <p:cNvPr id="3" name="Instruction marker"/>
          <p:cNvSpPr/>
          <p:nvPr/>
        </p:nvSpPr>
        <p:spPr>
          <a:xfrm rot="2700000">
            <a:off x="628986" y="1589106"/>
            <a:ext cx="387947" cy="387947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4" name="Image 0" descr="arrow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673352"/>
            <a:ext cx="219456" cy="219456"/>
          </a:xfrm>
          <a:prstGeom prst="rect">
            <a:avLst/>
          </a:prstGeom>
        </p:spPr>
      </p:pic>
      <p:sp>
        <p:nvSpPr>
          <p:cNvPr id="5" name="Instruction"/>
          <p:cNvSpPr txBox="1"/>
          <p:nvPr/>
        </p:nvSpPr>
        <p:spPr>
          <a:xfrm>
            <a:off x="1280160" y="14630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</a:rPr>
              <a:t>Run the first code</a:t>
            </a:r>
            <a:endParaRPr lang="en-US" sz="2200" dirty="0"/>
          </a:p>
        </p:txBody>
      </p:sp>
      <p:sp>
        <p:nvSpPr>
          <p:cNvPr id="6" name="Screenshot frame"/>
          <p:cNvSpPr/>
          <p:nvPr/>
        </p:nvSpPr>
        <p:spPr>
          <a:xfrm>
            <a:off x="1976047" y="2331720"/>
            <a:ext cx="8236857" cy="3840480"/>
          </a:xfrm>
          <a:prstGeom prst="roundRect">
            <a:avLst>
              <a:gd name="adj" fmla="val 2857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1F2236">
                <a:alpha val="14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7" name="Image 1" descr="Screenshot s22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3207" y="2468880"/>
            <a:ext cx="7962537" cy="35661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A60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4" hasCustomPrompt="1"/>
          </p:nvPr>
        </p:nvSpPr>
        <p:spPr>
          <a:xfrm>
            <a:off x="1371600" y="36576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RUN </a:t>
            </a:r>
            <a:r>
              <a:rPr lang="en-US" sz="3200" b="1" dirty="0">
                <a:solidFill>
                  <a:schemeClr val="accent1"/>
                </a:solidFill>
              </a:rPr>
              <a:t>VS CODE</a:t>
            </a:r>
            <a:endParaRPr lang="en-US" sz="3200" dirty="0"/>
          </a:p>
        </p:txBody>
      </p:sp>
      <p:sp>
        <p:nvSpPr>
          <p:cNvPr id="3" name="Instruction marker"/>
          <p:cNvSpPr/>
          <p:nvPr/>
        </p:nvSpPr>
        <p:spPr>
          <a:xfrm rot="2700000">
            <a:off x="628986" y="1589106"/>
            <a:ext cx="387947" cy="387947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4" name="Image 0" descr="arrow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673352"/>
            <a:ext cx="219456" cy="219456"/>
          </a:xfrm>
          <a:prstGeom prst="rect">
            <a:avLst/>
          </a:prstGeom>
        </p:spPr>
      </p:pic>
      <p:sp>
        <p:nvSpPr>
          <p:cNvPr id="5" name="Instruction"/>
          <p:cNvSpPr txBox="1"/>
          <p:nvPr/>
        </p:nvSpPr>
        <p:spPr>
          <a:xfrm>
            <a:off x="1280160" y="14630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</a:rPr>
              <a:t>Install the Dart extension</a:t>
            </a:r>
            <a:endParaRPr lang="en-US" sz="2200" dirty="0"/>
          </a:p>
        </p:txBody>
      </p:sp>
      <p:sp>
        <p:nvSpPr>
          <p:cNvPr id="6" name="Screenshot frame"/>
          <p:cNvSpPr/>
          <p:nvPr/>
        </p:nvSpPr>
        <p:spPr>
          <a:xfrm>
            <a:off x="2133550" y="2331720"/>
            <a:ext cx="7921852" cy="3840480"/>
          </a:xfrm>
          <a:prstGeom prst="roundRect">
            <a:avLst>
              <a:gd name="adj" fmla="val 2857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1F2236">
                <a:alpha val="14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7" name="Image 1" descr="Screenshot s23_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0710" y="2468880"/>
            <a:ext cx="7647532" cy="35661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A60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4" hasCustomPrompt="1"/>
          </p:nvPr>
        </p:nvSpPr>
        <p:spPr>
          <a:xfrm>
            <a:off x="1371600" y="36576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RUN </a:t>
            </a:r>
            <a:r>
              <a:rPr lang="en-US" sz="3200" b="1" dirty="0">
                <a:solidFill>
                  <a:schemeClr val="accent1"/>
                </a:solidFill>
              </a:rPr>
              <a:t>VS CODE</a:t>
            </a:r>
            <a:endParaRPr lang="en-US" sz="3200" dirty="0"/>
          </a:p>
        </p:txBody>
      </p:sp>
      <p:sp>
        <p:nvSpPr>
          <p:cNvPr id="3" name="Instruction marker"/>
          <p:cNvSpPr/>
          <p:nvPr/>
        </p:nvSpPr>
        <p:spPr>
          <a:xfrm rot="2700000">
            <a:off x="628986" y="1589106"/>
            <a:ext cx="387947" cy="387947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4" name="Image 0" descr="arrow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673352"/>
            <a:ext cx="219456" cy="219456"/>
          </a:xfrm>
          <a:prstGeom prst="rect">
            <a:avLst/>
          </a:prstGeom>
        </p:spPr>
      </p:pic>
      <p:sp>
        <p:nvSpPr>
          <p:cNvPr id="5" name="Instruction"/>
          <p:cNvSpPr txBox="1"/>
          <p:nvPr/>
        </p:nvSpPr>
        <p:spPr>
          <a:xfrm>
            <a:off x="1280160" y="14630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</a:rPr>
              <a:t>Click the </a:t>
            </a:r>
            <a:r>
              <a:rPr lang="en-US" sz="2200" b="1" dirty="0">
                <a:solidFill>
                  <a:schemeClr val="accent1"/>
                </a:solidFill>
              </a:rPr>
              <a:t>Run and Start Debugging</a:t>
            </a:r>
            <a:r>
              <a:rPr lang="en-US" sz="2200" dirty="0">
                <a:solidFill>
                  <a:schemeClr val="tx1"/>
                </a:solidFill>
              </a:rPr>
              <a:t> option</a:t>
            </a:r>
            <a:endParaRPr lang="en-US" sz="2200" dirty="0"/>
          </a:p>
        </p:txBody>
      </p:sp>
      <p:sp>
        <p:nvSpPr>
          <p:cNvPr id="6" name="Screenshot frame"/>
          <p:cNvSpPr/>
          <p:nvPr/>
        </p:nvSpPr>
        <p:spPr>
          <a:xfrm>
            <a:off x="1517904" y="2331720"/>
            <a:ext cx="9153144" cy="3840480"/>
          </a:xfrm>
          <a:prstGeom prst="roundRect">
            <a:avLst>
              <a:gd name="adj" fmla="val 2857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1F2236">
                <a:alpha val="14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7" name="Image 1" descr="Screenshot s24_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5064" y="2468880"/>
            <a:ext cx="8878824" cy="35661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A60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4" hasCustomPrompt="1"/>
          </p:nvPr>
        </p:nvSpPr>
        <p:spPr>
          <a:xfrm>
            <a:off x="1371600" y="36576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RUN </a:t>
            </a:r>
            <a:r>
              <a:rPr lang="en-US" sz="3200" b="1" dirty="0">
                <a:solidFill>
                  <a:schemeClr val="accent1"/>
                </a:solidFill>
              </a:rPr>
              <a:t>VS CODE</a:t>
            </a:r>
            <a:endParaRPr lang="en-US" sz="3200" dirty="0"/>
          </a:p>
        </p:txBody>
      </p:sp>
      <p:sp>
        <p:nvSpPr>
          <p:cNvPr id="3" name="Instruction marker"/>
          <p:cNvSpPr/>
          <p:nvPr/>
        </p:nvSpPr>
        <p:spPr>
          <a:xfrm rot="2700000">
            <a:off x="628986" y="1589106"/>
            <a:ext cx="387947" cy="387947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4" name="Image 0" descr="arrow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673352"/>
            <a:ext cx="219456" cy="219456"/>
          </a:xfrm>
          <a:prstGeom prst="rect">
            <a:avLst/>
          </a:prstGeom>
        </p:spPr>
      </p:pic>
      <p:sp>
        <p:nvSpPr>
          <p:cNvPr id="5" name="Instruction"/>
          <p:cNvSpPr txBox="1"/>
          <p:nvPr/>
        </p:nvSpPr>
        <p:spPr>
          <a:xfrm>
            <a:off x="1280160" y="14630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</a:rPr>
              <a:t>VS Code automatically creates the </a:t>
            </a:r>
            <a:r>
              <a:rPr lang="en-US" sz="2200" b="1" dirty="0">
                <a:solidFill>
                  <a:schemeClr val="accent1"/>
                </a:solidFill>
              </a:rPr>
              <a:t>launch.json</a:t>
            </a:r>
            <a:r>
              <a:rPr lang="en-US" sz="2200" dirty="0">
                <a:solidFill>
                  <a:schemeClr val="tx1"/>
                </a:solidFill>
              </a:rPr>
              <a:t> file</a:t>
            </a:r>
            <a:endParaRPr lang="en-US" sz="2200" dirty="0"/>
          </a:p>
        </p:txBody>
      </p:sp>
      <p:sp>
        <p:nvSpPr>
          <p:cNvPr id="6" name="Screenshot frame"/>
          <p:cNvSpPr/>
          <p:nvPr/>
        </p:nvSpPr>
        <p:spPr>
          <a:xfrm>
            <a:off x="548640" y="2526962"/>
            <a:ext cx="11091672" cy="3449995"/>
          </a:xfrm>
          <a:prstGeom prst="roundRect">
            <a:avLst>
              <a:gd name="adj" fmla="val 3181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1F2236">
                <a:alpha val="14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7" name="Image 1" descr="Screenshot s25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664122"/>
            <a:ext cx="10817352" cy="317567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A60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4" hasCustomPrompt="1"/>
          </p:nvPr>
        </p:nvSpPr>
        <p:spPr>
          <a:xfrm>
            <a:off x="1371600" y="36576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RUN </a:t>
            </a:r>
            <a:r>
              <a:rPr lang="en-US" sz="3200" b="1" dirty="0">
                <a:solidFill>
                  <a:schemeClr val="accent1"/>
                </a:solidFill>
              </a:rPr>
              <a:t>VS CODE</a:t>
            </a:r>
            <a:endParaRPr lang="en-US" sz="3200" dirty="0"/>
          </a:p>
        </p:txBody>
      </p:sp>
      <p:sp>
        <p:nvSpPr>
          <p:cNvPr id="3" name="Instruction marker"/>
          <p:cNvSpPr/>
          <p:nvPr/>
        </p:nvSpPr>
        <p:spPr>
          <a:xfrm rot="2700000">
            <a:off x="628986" y="1589106"/>
            <a:ext cx="387947" cy="387947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4" name="Image 0" descr="arrow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673352"/>
            <a:ext cx="219456" cy="219456"/>
          </a:xfrm>
          <a:prstGeom prst="rect">
            <a:avLst/>
          </a:prstGeom>
        </p:spPr>
      </p:pic>
      <p:sp>
        <p:nvSpPr>
          <p:cNvPr id="5" name="Instruction"/>
          <p:cNvSpPr txBox="1"/>
          <p:nvPr/>
        </p:nvSpPr>
        <p:spPr>
          <a:xfrm>
            <a:off x="1280160" y="14630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</a:rPr>
              <a:t>Add the </a:t>
            </a:r>
            <a:r>
              <a:rPr lang="en-US" sz="2200" b="1" dirty="0">
                <a:solidFill>
                  <a:schemeClr val="accent1"/>
                </a:solidFill>
              </a:rPr>
              <a:t>program</a:t>
            </a:r>
            <a:r>
              <a:rPr lang="en-US" sz="2200" dirty="0">
                <a:solidFill>
                  <a:schemeClr val="tx1"/>
                </a:solidFill>
              </a:rPr>
              <a:t> and our file name, then save this file</a:t>
            </a:r>
            <a:endParaRPr lang="en-US" sz="2200" dirty="0"/>
          </a:p>
        </p:txBody>
      </p:sp>
      <p:sp>
        <p:nvSpPr>
          <p:cNvPr id="6" name="Screenshot frame"/>
          <p:cNvSpPr/>
          <p:nvPr/>
        </p:nvSpPr>
        <p:spPr>
          <a:xfrm>
            <a:off x="756403" y="2331720"/>
            <a:ext cx="10676146" cy="3840480"/>
          </a:xfrm>
          <a:prstGeom prst="roundRect">
            <a:avLst>
              <a:gd name="adj" fmla="val 2857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1F2236">
                <a:alpha val="14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7" name="Image 1" descr="Screenshot s26_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563" y="2468880"/>
            <a:ext cx="10401826" cy="35661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A60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4" hasCustomPrompt="1"/>
          </p:nvPr>
        </p:nvSpPr>
        <p:spPr>
          <a:xfrm>
            <a:off x="1371600" y="36576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RUN </a:t>
            </a:r>
            <a:r>
              <a:rPr lang="en-US" sz="3200" b="1" dirty="0">
                <a:solidFill>
                  <a:schemeClr val="accent1"/>
                </a:solidFill>
              </a:rPr>
              <a:t>VS CODE</a:t>
            </a:r>
            <a:endParaRPr lang="en-US" sz="3200" dirty="0"/>
          </a:p>
        </p:txBody>
      </p:sp>
      <p:sp>
        <p:nvSpPr>
          <p:cNvPr id="3" name="Instruction marker"/>
          <p:cNvSpPr/>
          <p:nvPr/>
        </p:nvSpPr>
        <p:spPr>
          <a:xfrm rot="2700000">
            <a:off x="628986" y="1589106"/>
            <a:ext cx="387947" cy="387947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4" name="Image 0" descr="arrow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673352"/>
            <a:ext cx="219456" cy="219456"/>
          </a:xfrm>
          <a:prstGeom prst="rect">
            <a:avLst/>
          </a:prstGeom>
        </p:spPr>
      </p:pic>
      <p:sp>
        <p:nvSpPr>
          <p:cNvPr id="5" name="Instruction"/>
          <p:cNvSpPr txBox="1"/>
          <p:nvPr/>
        </p:nvSpPr>
        <p:spPr>
          <a:xfrm>
            <a:off x="1280160" y="14630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</a:rPr>
              <a:t>Click </a:t>
            </a:r>
            <a:r>
              <a:rPr lang="en-US" sz="2200" b="1" dirty="0">
                <a:solidFill>
                  <a:schemeClr val="accent1"/>
                </a:solidFill>
              </a:rPr>
              <a:t>Run and Start Debugging</a:t>
            </a:r>
            <a:r>
              <a:rPr lang="en-US" sz="2200" dirty="0">
                <a:solidFill>
                  <a:schemeClr val="tx1"/>
                </a:solidFill>
              </a:rPr>
              <a:t> again</a:t>
            </a:r>
            <a:endParaRPr lang="en-US" sz="2200" dirty="0"/>
          </a:p>
        </p:txBody>
      </p:sp>
      <p:sp>
        <p:nvSpPr>
          <p:cNvPr id="6" name="Screenshot frame"/>
          <p:cNvSpPr/>
          <p:nvPr/>
        </p:nvSpPr>
        <p:spPr>
          <a:xfrm>
            <a:off x="1517904" y="2331720"/>
            <a:ext cx="9153144" cy="3840480"/>
          </a:xfrm>
          <a:prstGeom prst="roundRect">
            <a:avLst>
              <a:gd name="adj" fmla="val 2857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1F2236">
                <a:alpha val="14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7" name="Image 1" descr="Screenshot s27_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5064" y="2468880"/>
            <a:ext cx="8878824" cy="35661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A60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4" hasCustomPrompt="1"/>
          </p:nvPr>
        </p:nvSpPr>
        <p:spPr>
          <a:xfrm>
            <a:off x="1371600" y="36576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GITHUB &amp; CI/CD </a:t>
            </a:r>
            <a:r>
              <a:rPr lang="en-US" sz="3200" b="1" dirty="0">
                <a:solidFill>
                  <a:schemeClr val="accent1"/>
                </a:solidFill>
              </a:rPr>
              <a:t>PART 1</a:t>
            </a:r>
            <a:endParaRPr lang="en-US" sz="3200" dirty="0"/>
          </a:p>
        </p:txBody>
      </p:sp>
      <p:sp>
        <p:nvSpPr>
          <p:cNvPr id="3" name="Git card"/>
          <p:cNvSpPr/>
          <p:nvPr/>
        </p:nvSpPr>
        <p:spPr>
          <a:xfrm>
            <a:off x="548640" y="1417320"/>
            <a:ext cx="5440680" cy="1783080"/>
          </a:xfrm>
          <a:prstGeom prst="roundRect">
            <a:avLst>
              <a:gd name="adj" fmla="val 7179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1F2236">
                <a:alpha val="14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4" name="Icon circle"/>
          <p:cNvSpPr/>
          <p:nvPr/>
        </p:nvSpPr>
        <p:spPr>
          <a:xfrm>
            <a:off x="822960" y="1600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5" name="Image 0" descr="branch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1714500"/>
            <a:ext cx="228600" cy="228600"/>
          </a:xfrm>
          <a:prstGeom prst="rect">
            <a:avLst/>
          </a:prstGeom>
        </p:spPr>
      </p:pic>
      <p:sp>
        <p:nvSpPr>
          <p:cNvPr id="6" name="Heading What is Git?"/>
          <p:cNvSpPr txBox="1"/>
          <p:nvPr/>
        </p:nvSpPr>
        <p:spPr>
          <a:xfrm>
            <a:off x="1463040" y="1600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What is Git?</a:t>
            </a:r>
            <a:endParaRPr lang="en-US" sz="2000" dirty="0"/>
          </a:p>
        </p:txBody>
      </p:sp>
      <p:sp>
        <p:nvSpPr>
          <p:cNvPr id="7" name="Git text"/>
          <p:cNvSpPr txBox="1"/>
          <p:nvPr/>
        </p:nvSpPr>
        <p:spPr>
          <a:xfrm>
            <a:off x="868680" y="224028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Git is a version control system that tracks changes in source code and helps developers work together on software projects.</a:t>
            </a:r>
            <a:endParaRPr lang="en-US" sz="1500" dirty="0"/>
          </a:p>
        </p:txBody>
      </p:sp>
      <p:sp>
        <p:nvSpPr>
          <p:cNvPr id="8" name="GitHub card"/>
          <p:cNvSpPr/>
          <p:nvPr/>
        </p:nvSpPr>
        <p:spPr>
          <a:xfrm>
            <a:off x="6199632" y="1417320"/>
            <a:ext cx="5440680" cy="1783080"/>
          </a:xfrm>
          <a:prstGeom prst="roundRect">
            <a:avLst>
              <a:gd name="adj" fmla="val 7179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1F2236">
                <a:alpha val="14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9" name="Icon circle"/>
          <p:cNvSpPr/>
          <p:nvPr/>
        </p:nvSpPr>
        <p:spPr>
          <a:xfrm>
            <a:off x="6473952" y="1600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0" name="Image 1" descr="github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8252" y="1714500"/>
            <a:ext cx="228600" cy="228600"/>
          </a:xfrm>
          <a:prstGeom prst="rect">
            <a:avLst/>
          </a:prstGeom>
        </p:spPr>
      </p:pic>
      <p:sp>
        <p:nvSpPr>
          <p:cNvPr id="11" name="Heading What is GitHub?"/>
          <p:cNvSpPr txBox="1"/>
          <p:nvPr/>
        </p:nvSpPr>
        <p:spPr>
          <a:xfrm>
            <a:off x="7114032" y="1600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What is GitHub?</a:t>
            </a:r>
            <a:endParaRPr lang="en-US" sz="2000" dirty="0"/>
          </a:p>
        </p:txBody>
      </p:sp>
      <p:sp>
        <p:nvSpPr>
          <p:cNvPr id="12" name="GitHub text"/>
          <p:cNvSpPr txBox="1"/>
          <p:nvPr/>
        </p:nvSpPr>
        <p:spPr>
          <a:xfrm>
            <a:off x="6519672" y="224028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GitHub is an online platform used to store and collaborate on Git repositories.</a:t>
            </a:r>
            <a:endParaRPr lang="en-US" sz="1500" dirty="0"/>
          </a:p>
        </p:txBody>
      </p:sp>
      <p:sp>
        <p:nvSpPr>
          <p:cNvPr id="13" name="Version control card"/>
          <p:cNvSpPr/>
          <p:nvPr/>
        </p:nvSpPr>
        <p:spPr>
          <a:xfrm>
            <a:off x="548640" y="3429000"/>
            <a:ext cx="6766560" cy="2743200"/>
          </a:xfrm>
          <a:prstGeom prst="roundRect">
            <a:avLst>
              <a:gd name="adj" fmla="val 4667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1F2236">
                <a:alpha val="14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4" name="Icon circle"/>
          <p:cNvSpPr/>
          <p:nvPr/>
        </p:nvSpPr>
        <p:spPr>
          <a:xfrm>
            <a:off x="822960" y="36118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5" name="Image 2" descr="history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60" y="3726180"/>
            <a:ext cx="228600" cy="228600"/>
          </a:xfrm>
          <a:prstGeom prst="rect">
            <a:avLst/>
          </a:prstGeom>
        </p:spPr>
      </p:pic>
      <p:sp>
        <p:nvSpPr>
          <p:cNvPr id="16" name="Heading Why Version Control Matters"/>
          <p:cNvSpPr txBox="1"/>
          <p:nvPr/>
        </p:nvSpPr>
        <p:spPr>
          <a:xfrm>
            <a:off x="1463040" y="361188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Why Version Control Matters</a:t>
            </a:r>
            <a:endParaRPr lang="en-US" sz="2000" dirty="0"/>
          </a:p>
        </p:txBody>
      </p:sp>
      <p:sp>
        <p:nvSpPr>
          <p:cNvPr id="17" name="Version control bullets"/>
          <p:cNvSpPr txBox="1"/>
          <p:nvPr/>
        </p:nvSpPr>
        <p:spPr>
          <a:xfrm>
            <a:off x="868680" y="4297680"/>
            <a:ext cx="61264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Tracks changes in source code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Keeps previous versions of the project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Helps team members collaborate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Reduces the risk of losing code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Makes it easier to identify and fix mistakes</a:t>
            </a:r>
            <a:endParaRPr lang="en-US" sz="1500" dirty="0"/>
          </a:p>
        </p:txBody>
      </p:sp>
      <p:sp>
        <p:nvSpPr>
          <p:cNvPr id="18" name="Equation card"/>
          <p:cNvSpPr/>
          <p:nvPr/>
        </p:nvSpPr>
        <p:spPr>
          <a:xfrm>
            <a:off x="7543800" y="3429000"/>
            <a:ext cx="4096512" cy="2743200"/>
          </a:xfrm>
          <a:prstGeom prst="roundRect">
            <a:avLst>
              <a:gd name="adj" fmla="val 4667"/>
            </a:avLst>
          </a:prstGeom>
          <a:solidFill>
            <a:schemeClr val="tx2"/>
          </a:solidFill>
          <a:ln/>
          <a:effectLst>
            <a:outerShdw blurRad="127000" dist="38100" dir="5400000" algn="bl" rotWithShape="0">
              <a:srgbClr val="1F2236">
                <a:alpha val="14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19" name="Equation Git"/>
          <p:cNvSpPr txBox="1"/>
          <p:nvPr/>
        </p:nvSpPr>
        <p:spPr>
          <a:xfrm>
            <a:off x="7863840" y="3611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Git</a:t>
            </a:r>
            <a:endParaRPr lang="en-US" sz="2600" dirty="0"/>
          </a:p>
        </p:txBody>
      </p:sp>
      <p:sp>
        <p:nvSpPr>
          <p:cNvPr id="20" name="Equation Git value"/>
          <p:cNvSpPr txBox="1"/>
          <p:nvPr/>
        </p:nvSpPr>
        <p:spPr>
          <a:xfrm>
            <a:off x="7863840" y="40690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= Version Control</a:t>
            </a:r>
            <a:endParaRPr lang="en-US" sz="1800" dirty="0"/>
          </a:p>
        </p:txBody>
      </p:sp>
      <p:sp>
        <p:nvSpPr>
          <p:cNvPr id="21" name="Equation GitHub"/>
          <p:cNvSpPr txBox="1"/>
          <p:nvPr/>
        </p:nvSpPr>
        <p:spPr>
          <a:xfrm>
            <a:off x="7863840" y="4754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GitHub</a:t>
            </a:r>
            <a:endParaRPr lang="en-US" sz="2600" dirty="0"/>
          </a:p>
        </p:txBody>
      </p:sp>
      <p:sp>
        <p:nvSpPr>
          <p:cNvPr id="22" name="Equation GitHub value"/>
          <p:cNvSpPr txBox="1"/>
          <p:nvPr/>
        </p:nvSpPr>
        <p:spPr>
          <a:xfrm>
            <a:off x="7863840" y="52120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= Online Repository &amp; Collaboration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A60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4" hasCustomPrompt="1"/>
          </p:nvPr>
        </p:nvSpPr>
        <p:spPr>
          <a:xfrm>
            <a:off x="1371600" y="36576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INSTALL &amp; CONFIGURE </a:t>
            </a:r>
            <a:r>
              <a:rPr lang="en-US" sz="3200" b="1" dirty="0">
                <a:solidFill>
                  <a:schemeClr val="accent1"/>
                </a:solidFill>
              </a:rPr>
              <a:t>GIT</a:t>
            </a:r>
            <a:endParaRPr lang="en-US" sz="3200" dirty="0"/>
          </a:p>
        </p:txBody>
      </p:sp>
      <p:sp>
        <p:nvSpPr>
          <p:cNvPr id="3" name="Steps card"/>
          <p:cNvSpPr/>
          <p:nvPr/>
        </p:nvSpPr>
        <p:spPr>
          <a:xfrm>
            <a:off x="548640" y="1463040"/>
            <a:ext cx="5669280" cy="4709160"/>
          </a:xfrm>
          <a:prstGeom prst="roundRect">
            <a:avLst>
              <a:gd name="adj" fmla="val 2718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1F2236">
                <a:alpha val="14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4" name="Number badge 1"/>
          <p:cNvSpPr/>
          <p:nvPr/>
        </p:nvSpPr>
        <p:spPr>
          <a:xfrm rot="2700000">
            <a:off x="870978" y="1831098"/>
            <a:ext cx="452605" cy="452605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" name="Number 1"/>
          <p:cNvSpPr txBox="1"/>
          <p:nvPr/>
        </p:nvSpPr>
        <p:spPr>
          <a:xfrm>
            <a:off x="841248" y="18013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</a:rPr>
              <a:t>1</a:t>
            </a:r>
            <a:endParaRPr lang="en-US" sz="1700" dirty="0"/>
          </a:p>
        </p:txBody>
      </p:sp>
      <p:sp>
        <p:nvSpPr>
          <p:cNvPr id="6" name="Git step 1"/>
          <p:cNvSpPr txBox="1"/>
          <p:nvPr/>
        </p:nvSpPr>
        <p:spPr>
          <a:xfrm>
            <a:off x="1645920" y="169164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Go to the Git official website: </a:t>
            </a:r>
            <a:r>
              <a:rPr lang="en-US" sz="1600" b="1" u="sng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https://git-scm.com/install/windows</a:t>
            </a:r>
            <a:endParaRPr lang="en-US" sz="1600" dirty="0"/>
          </a:p>
        </p:txBody>
      </p:sp>
      <p:sp>
        <p:nvSpPr>
          <p:cNvPr id="7" name="Number badge 2"/>
          <p:cNvSpPr/>
          <p:nvPr/>
        </p:nvSpPr>
        <p:spPr>
          <a:xfrm rot="2700000">
            <a:off x="870978" y="2672346"/>
            <a:ext cx="452605" cy="452605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8" name="Number 2"/>
          <p:cNvSpPr txBox="1"/>
          <p:nvPr/>
        </p:nvSpPr>
        <p:spPr>
          <a:xfrm>
            <a:off x="841248" y="26426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</a:rPr>
              <a:t>2</a:t>
            </a:r>
            <a:endParaRPr lang="en-US" sz="1700" dirty="0"/>
          </a:p>
        </p:txBody>
      </p:sp>
      <p:sp>
        <p:nvSpPr>
          <p:cNvPr id="9" name="Git step 2"/>
          <p:cNvSpPr txBox="1"/>
          <p:nvPr/>
        </p:nvSpPr>
        <p:spPr>
          <a:xfrm>
            <a:off x="1645920" y="253288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Download the file based on your operating system, like Windows or macOS</a:t>
            </a:r>
            <a:endParaRPr lang="en-US" sz="1600" dirty="0"/>
          </a:p>
        </p:txBody>
      </p:sp>
      <p:sp>
        <p:nvSpPr>
          <p:cNvPr id="10" name="Number badge 3"/>
          <p:cNvSpPr/>
          <p:nvPr/>
        </p:nvSpPr>
        <p:spPr>
          <a:xfrm rot="2700000">
            <a:off x="870978" y="3513594"/>
            <a:ext cx="452605" cy="452605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1" name="Number 3"/>
          <p:cNvSpPr txBox="1"/>
          <p:nvPr/>
        </p:nvSpPr>
        <p:spPr>
          <a:xfrm>
            <a:off x="841248" y="348386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</a:rPr>
              <a:t>3</a:t>
            </a:r>
            <a:endParaRPr lang="en-US" sz="1700" dirty="0"/>
          </a:p>
        </p:txBody>
      </p:sp>
      <p:sp>
        <p:nvSpPr>
          <p:cNvPr id="12" name="Git step 3"/>
          <p:cNvSpPr txBox="1"/>
          <p:nvPr/>
        </p:nvSpPr>
        <p:spPr>
          <a:xfrm>
            <a:off x="1645920" y="337413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Install Git</a:t>
            </a:r>
            <a:endParaRPr lang="en-US" sz="1600" dirty="0"/>
          </a:p>
        </p:txBody>
      </p:sp>
      <p:sp>
        <p:nvSpPr>
          <p:cNvPr id="13" name="Number badge 4"/>
          <p:cNvSpPr/>
          <p:nvPr/>
        </p:nvSpPr>
        <p:spPr>
          <a:xfrm rot="2700000">
            <a:off x="870978" y="4354842"/>
            <a:ext cx="452605" cy="452605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4" name="Number 4"/>
          <p:cNvSpPr txBox="1"/>
          <p:nvPr/>
        </p:nvSpPr>
        <p:spPr>
          <a:xfrm>
            <a:off x="841248" y="43251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</a:rPr>
              <a:t>4</a:t>
            </a:r>
            <a:endParaRPr lang="en-US" sz="1700" dirty="0"/>
          </a:p>
        </p:txBody>
      </p:sp>
      <p:sp>
        <p:nvSpPr>
          <p:cNvPr id="15" name="Git step 4"/>
          <p:cNvSpPr txBox="1"/>
          <p:nvPr/>
        </p:nvSpPr>
        <p:spPr>
          <a:xfrm>
            <a:off x="1645920" y="421538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Now we need to check the Git version</a:t>
            </a:r>
            <a:endParaRPr lang="en-US" sz="1600" dirty="0"/>
          </a:p>
        </p:txBody>
      </p:sp>
      <p:sp>
        <p:nvSpPr>
          <p:cNvPr id="16" name="Number badge 5"/>
          <p:cNvSpPr/>
          <p:nvPr/>
        </p:nvSpPr>
        <p:spPr>
          <a:xfrm rot="2700000">
            <a:off x="870978" y="5196090"/>
            <a:ext cx="452605" cy="452605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7" name="Number 5"/>
          <p:cNvSpPr txBox="1"/>
          <p:nvPr/>
        </p:nvSpPr>
        <p:spPr>
          <a:xfrm>
            <a:off x="841248" y="51663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bg1"/>
                </a:solidFill>
              </a:rPr>
              <a:t>5</a:t>
            </a:r>
            <a:endParaRPr lang="en-US" sz="1700" dirty="0"/>
          </a:p>
        </p:txBody>
      </p:sp>
      <p:sp>
        <p:nvSpPr>
          <p:cNvPr id="18" name="Git step 5"/>
          <p:cNvSpPr txBox="1"/>
          <p:nvPr/>
        </p:nvSpPr>
        <p:spPr>
          <a:xfrm>
            <a:off x="1645920" y="505663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Open Command Prompt and write: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--version</a:t>
            </a:r>
            <a:endParaRPr lang="en-US" sz="1600" dirty="0"/>
          </a:p>
        </p:txBody>
      </p:sp>
      <p:sp>
        <p:nvSpPr>
          <p:cNvPr id="19" name="Terminal stage"/>
          <p:cNvSpPr/>
          <p:nvPr/>
        </p:nvSpPr>
        <p:spPr>
          <a:xfrm>
            <a:off x="6446520" y="1463040"/>
            <a:ext cx="5193792" cy="4709160"/>
          </a:xfrm>
          <a:prstGeom prst="roundRect">
            <a:avLst>
              <a:gd name="adj" fmla="val 2718"/>
            </a:avLst>
          </a:prstGeom>
          <a:solidFill>
            <a:schemeClr val="tx2"/>
          </a:solidFill>
          <a:ln/>
          <a:effectLst>
            <a:outerShdw blurRad="127000" dist="38100" dir="5400000" algn="bl" rotWithShape="0">
              <a:srgbClr val="1F2236">
                <a:alpha val="14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20" name="Image 0" descr="Command Prompt showing git --version outpu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0256" y="2388577"/>
            <a:ext cx="4846320" cy="285808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A60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4" hasCustomPrompt="1"/>
          </p:nvPr>
        </p:nvSpPr>
        <p:spPr>
          <a:xfrm>
            <a:off x="1371600" y="36576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PUSH MY CODE INTO </a:t>
            </a:r>
            <a:r>
              <a:rPr lang="en-US" sz="3200" b="1" dirty="0">
                <a:solidFill>
                  <a:schemeClr val="accent1"/>
                </a:solidFill>
              </a:rPr>
              <a:t>GITHUB</a:t>
            </a:r>
            <a:endParaRPr lang="en-US" sz="3200" dirty="0"/>
          </a:p>
        </p:txBody>
      </p:sp>
      <p:sp>
        <p:nvSpPr>
          <p:cNvPr id="3" name="Steps card"/>
          <p:cNvSpPr/>
          <p:nvPr/>
        </p:nvSpPr>
        <p:spPr>
          <a:xfrm>
            <a:off x="548640" y="1463040"/>
            <a:ext cx="5120640" cy="2331720"/>
          </a:xfrm>
          <a:prstGeom prst="roundRect">
            <a:avLst>
              <a:gd name="adj" fmla="val 5490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1F2236">
                <a:alpha val="14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4" name="Number badge 1"/>
          <p:cNvSpPr/>
          <p:nvPr/>
        </p:nvSpPr>
        <p:spPr>
          <a:xfrm rot="2700000">
            <a:off x="844195" y="1712875"/>
            <a:ext cx="323289" cy="323289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" name="Number 1"/>
          <p:cNvSpPr txBox="1"/>
          <p:nvPr/>
        </p:nvSpPr>
        <p:spPr>
          <a:xfrm>
            <a:off x="82296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Push step 1"/>
          <p:cNvSpPr txBox="1"/>
          <p:nvPr/>
        </p:nvSpPr>
        <p:spPr>
          <a:xfrm>
            <a:off x="1417320" y="16459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Create your GitHub account</a:t>
            </a:r>
            <a:endParaRPr lang="en-US" sz="1700" dirty="0"/>
          </a:p>
        </p:txBody>
      </p:sp>
      <p:sp>
        <p:nvSpPr>
          <p:cNvPr id="7" name="Number badge 2"/>
          <p:cNvSpPr/>
          <p:nvPr/>
        </p:nvSpPr>
        <p:spPr>
          <a:xfrm rot="2700000">
            <a:off x="844195" y="2215795"/>
            <a:ext cx="323289" cy="323289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8" name="Number 2"/>
          <p:cNvSpPr txBox="1"/>
          <p:nvPr/>
        </p:nvSpPr>
        <p:spPr>
          <a:xfrm>
            <a:off x="822960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Push step 2"/>
          <p:cNvSpPr txBox="1"/>
          <p:nvPr/>
        </p:nvSpPr>
        <p:spPr>
          <a:xfrm>
            <a:off x="1417320" y="21488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Create a repository</a:t>
            </a:r>
            <a:endParaRPr lang="en-US" sz="1700" dirty="0"/>
          </a:p>
        </p:txBody>
      </p:sp>
      <p:sp>
        <p:nvSpPr>
          <p:cNvPr id="10" name="Number badge 3"/>
          <p:cNvSpPr/>
          <p:nvPr/>
        </p:nvSpPr>
        <p:spPr>
          <a:xfrm rot="2700000">
            <a:off x="844195" y="2718715"/>
            <a:ext cx="323289" cy="323289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1" name="Number 3"/>
          <p:cNvSpPr txBox="1"/>
          <p:nvPr/>
        </p:nvSpPr>
        <p:spPr>
          <a:xfrm>
            <a:off x="822960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Push step 3"/>
          <p:cNvSpPr txBox="1"/>
          <p:nvPr/>
        </p:nvSpPr>
        <p:spPr>
          <a:xfrm>
            <a:off x="1417320" y="26517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Follow the instructions</a:t>
            </a:r>
            <a:endParaRPr lang="en-US" sz="1700" dirty="0"/>
          </a:p>
        </p:txBody>
      </p:sp>
      <p:sp>
        <p:nvSpPr>
          <p:cNvPr id="13" name="Video pill"/>
          <p:cNvSpPr/>
          <p:nvPr/>
        </p:nvSpPr>
        <p:spPr>
          <a:xfrm>
            <a:off x="822960" y="3337560"/>
            <a:ext cx="4572000" cy="384048"/>
          </a:xfrm>
          <a:prstGeom prst="roundRect">
            <a:avLst>
              <a:gd name="adj" fmla="val 50000"/>
            </a:avLst>
          </a:prstGeom>
          <a:solidFill>
            <a:schemeClr val="accent3">
              <a:alpha val="35000"/>
            </a:schemeClr>
          </a:solidFill>
          <a:ln/>
        </p:spPr>
        <p:txBody>
          <a:bodyPr/>
          <a:lstStyle/>
          <a:p>
            <a:endParaRPr lang="en-MY"/>
          </a:p>
        </p:txBody>
      </p:sp>
      <p:pic>
        <p:nvPicPr>
          <p:cNvPr id="14" name="Image 0" descr="play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419856"/>
            <a:ext cx="219456" cy="219456"/>
          </a:xfrm>
          <a:prstGeom prst="rect">
            <a:avLst/>
          </a:prstGeom>
        </p:spPr>
      </p:pic>
      <p:sp>
        <p:nvSpPr>
          <p:cNvPr id="15" name="Video link"/>
          <p:cNvSpPr txBox="1"/>
          <p:nvPr/>
        </p:nvSpPr>
        <p:spPr>
          <a:xfrm>
            <a:off x="1325880" y="333756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For better understanding, watch: </a:t>
            </a:r>
            <a:r>
              <a:rPr lang="en-US" sz="1400" b="1" u="sng" dirty="0">
                <a:solidFill>
                  <a:schemeClr val="tx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Click Video Tutorial</a:t>
            </a:r>
            <a:endParaRPr lang="en-US" sz="1400" dirty="0"/>
          </a:p>
        </p:txBody>
      </p:sp>
      <p:sp>
        <p:nvSpPr>
          <p:cNvPr id="16" name="Command frame"/>
          <p:cNvSpPr/>
          <p:nvPr/>
        </p:nvSpPr>
        <p:spPr>
          <a:xfrm>
            <a:off x="548640" y="3977640"/>
            <a:ext cx="5120640" cy="2194560"/>
          </a:xfrm>
          <a:prstGeom prst="roundRect">
            <a:avLst>
              <a:gd name="adj" fmla="val 5833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1F2236">
                <a:alpha val="14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17" name="Image 1" descr="GitHub repository setup command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9009" y="4114800"/>
            <a:ext cx="3419902" cy="1920240"/>
          </a:xfrm>
          <a:prstGeom prst="rect">
            <a:avLst/>
          </a:prstGeom>
        </p:spPr>
      </p:pic>
      <p:sp>
        <p:nvSpPr>
          <p:cNvPr id="18" name="GitHub page frame"/>
          <p:cNvSpPr/>
          <p:nvPr/>
        </p:nvSpPr>
        <p:spPr>
          <a:xfrm>
            <a:off x="5943600" y="1463040"/>
            <a:ext cx="5696712" cy="2788920"/>
          </a:xfrm>
          <a:prstGeom prst="roundRect">
            <a:avLst>
              <a:gd name="adj" fmla="val 4590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1F2236">
                <a:alpha val="14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19" name="Image 2" descr="GitHub landing p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9356" y="1600200"/>
            <a:ext cx="5425200" cy="2514600"/>
          </a:xfrm>
          <a:prstGeom prst="rect">
            <a:avLst/>
          </a:prstGeom>
        </p:spPr>
      </p:pic>
      <p:sp>
        <p:nvSpPr>
          <p:cNvPr id="20" name="Repository frame"/>
          <p:cNvSpPr/>
          <p:nvPr/>
        </p:nvSpPr>
        <p:spPr>
          <a:xfrm>
            <a:off x="5943600" y="4434840"/>
            <a:ext cx="5696712" cy="1737360"/>
          </a:xfrm>
          <a:prstGeom prst="roundRect">
            <a:avLst>
              <a:gd name="adj" fmla="val 7368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1F2236">
                <a:alpha val="14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pic>
        <p:nvPicPr>
          <p:cNvPr id="21" name="Image 3" descr="GitHub repository quick setup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71616" y="4612798"/>
            <a:ext cx="5440680" cy="138144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A60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4" hasCustomPrompt="1"/>
          </p:nvPr>
        </p:nvSpPr>
        <p:spPr>
          <a:xfrm>
            <a:off x="1371600" y="36576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BASIC </a:t>
            </a:r>
            <a:r>
              <a:rPr lang="en-US" sz="3200" b="1" dirty="0">
                <a:solidFill>
                  <a:schemeClr val="accent1"/>
                </a:solidFill>
              </a:rPr>
              <a:t>GIT</a:t>
            </a:r>
            <a:r>
              <a:rPr lang="en-US" sz="3200" b="1" dirty="0">
                <a:solidFill>
                  <a:schemeClr val="tx1"/>
                </a:solidFill>
              </a:rPr>
              <a:t> WORKFLOW</a:t>
            </a:r>
            <a:endParaRPr lang="en-US" sz="3200" dirty="0"/>
          </a:p>
        </p:txBody>
      </p:sp>
      <p:sp>
        <p:nvSpPr>
          <p:cNvPr id="3" name="Workflow card"/>
          <p:cNvSpPr/>
          <p:nvPr/>
        </p:nvSpPr>
        <p:spPr>
          <a:xfrm>
            <a:off x="548640" y="1463040"/>
            <a:ext cx="6400800" cy="4709160"/>
          </a:xfrm>
          <a:prstGeom prst="roundRect">
            <a:avLst>
              <a:gd name="adj" fmla="val 2718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1F2236">
                <a:alpha val="14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4" name="Number badge 1"/>
          <p:cNvSpPr/>
          <p:nvPr/>
        </p:nvSpPr>
        <p:spPr>
          <a:xfrm rot="2700000">
            <a:off x="857586" y="1799418"/>
            <a:ext cx="387947" cy="387947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5" name="Number 1"/>
          <p:cNvSpPr txBox="1"/>
          <p:nvPr/>
        </p:nvSpPr>
        <p:spPr>
          <a:xfrm>
            <a:off x="832104" y="17739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Workflow label 1"/>
          <p:cNvSpPr txBox="1"/>
          <p:nvPr/>
        </p:nvSpPr>
        <p:spPr>
          <a:xfrm>
            <a:off x="1508760" y="16916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Clone a project to your computer from GitHub:</a:t>
            </a:r>
            <a:endParaRPr lang="en-US" sz="1400" dirty="0"/>
          </a:p>
        </p:txBody>
      </p:sp>
      <p:sp>
        <p:nvSpPr>
          <p:cNvPr id="7" name="Workflow command 1"/>
          <p:cNvSpPr txBox="1"/>
          <p:nvPr/>
        </p:nvSpPr>
        <p:spPr>
          <a:xfrm>
            <a:off x="1508760" y="198424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&lt;repository-url&gt;</a:t>
            </a:r>
            <a:endParaRPr lang="en-US" sz="1300" dirty="0"/>
          </a:p>
        </p:txBody>
      </p:sp>
      <p:sp>
        <p:nvSpPr>
          <p:cNvPr id="8" name="Number badge 2"/>
          <p:cNvSpPr/>
          <p:nvPr/>
        </p:nvSpPr>
        <p:spPr>
          <a:xfrm rot="2700000">
            <a:off x="857586" y="2530938"/>
            <a:ext cx="387947" cy="387947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9" name="Number 2"/>
          <p:cNvSpPr txBox="1"/>
          <p:nvPr/>
        </p:nvSpPr>
        <p:spPr>
          <a:xfrm>
            <a:off x="832104" y="25054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0" name="Workflow label 2"/>
          <p:cNvSpPr txBox="1"/>
          <p:nvPr/>
        </p:nvSpPr>
        <p:spPr>
          <a:xfrm>
            <a:off x="1508760" y="24231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Check changes:</a:t>
            </a:r>
            <a:endParaRPr lang="en-US" sz="1400" dirty="0"/>
          </a:p>
        </p:txBody>
      </p:sp>
      <p:sp>
        <p:nvSpPr>
          <p:cNvPr id="11" name="Workflow command 2"/>
          <p:cNvSpPr txBox="1"/>
          <p:nvPr/>
        </p:nvSpPr>
        <p:spPr>
          <a:xfrm>
            <a:off x="1508760" y="271576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</a:t>
            </a:r>
            <a:endParaRPr lang="en-US" sz="1300" dirty="0"/>
          </a:p>
        </p:txBody>
      </p:sp>
      <p:sp>
        <p:nvSpPr>
          <p:cNvPr id="12" name="Number badge 3"/>
          <p:cNvSpPr/>
          <p:nvPr/>
        </p:nvSpPr>
        <p:spPr>
          <a:xfrm rot="2700000">
            <a:off x="857586" y="3262458"/>
            <a:ext cx="387947" cy="387947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3" name="Number 3"/>
          <p:cNvSpPr txBox="1"/>
          <p:nvPr/>
        </p:nvSpPr>
        <p:spPr>
          <a:xfrm>
            <a:off x="832104" y="32369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4" name="Workflow label 3"/>
          <p:cNvSpPr txBox="1"/>
          <p:nvPr/>
        </p:nvSpPr>
        <p:spPr>
          <a:xfrm>
            <a:off x="1508760" y="31546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Stage changes:</a:t>
            </a:r>
            <a:endParaRPr lang="en-US" sz="1400" dirty="0"/>
          </a:p>
        </p:txBody>
      </p:sp>
      <p:sp>
        <p:nvSpPr>
          <p:cNvPr id="15" name="Workflow command 3"/>
          <p:cNvSpPr txBox="1"/>
          <p:nvPr/>
        </p:nvSpPr>
        <p:spPr>
          <a:xfrm>
            <a:off x="1508760" y="344728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</a:t>
            </a:r>
            <a:endParaRPr lang="en-US" sz="1300" dirty="0"/>
          </a:p>
        </p:txBody>
      </p:sp>
      <p:sp>
        <p:nvSpPr>
          <p:cNvPr id="16" name="Number badge 4"/>
          <p:cNvSpPr/>
          <p:nvPr/>
        </p:nvSpPr>
        <p:spPr>
          <a:xfrm rot="2700000">
            <a:off x="857586" y="3993978"/>
            <a:ext cx="387947" cy="387947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17" name="Number 4"/>
          <p:cNvSpPr txBox="1"/>
          <p:nvPr/>
        </p:nvSpPr>
        <p:spPr>
          <a:xfrm>
            <a:off x="832104" y="39684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8" name="Workflow label 4"/>
          <p:cNvSpPr txBox="1"/>
          <p:nvPr/>
        </p:nvSpPr>
        <p:spPr>
          <a:xfrm>
            <a:off x="1508760" y="38862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Commit changes:</a:t>
            </a:r>
            <a:endParaRPr lang="en-US" sz="1400" dirty="0"/>
          </a:p>
        </p:txBody>
      </p:sp>
      <p:sp>
        <p:nvSpPr>
          <p:cNvPr id="19" name="Workflow command 4"/>
          <p:cNvSpPr txBox="1"/>
          <p:nvPr/>
        </p:nvSpPr>
        <p:spPr>
          <a:xfrm>
            <a:off x="1508760" y="417880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"Add student information program"</a:t>
            </a:r>
            <a:endParaRPr lang="en-US" sz="1300" dirty="0"/>
          </a:p>
        </p:txBody>
      </p:sp>
      <p:sp>
        <p:nvSpPr>
          <p:cNvPr id="20" name="Number badge 5"/>
          <p:cNvSpPr/>
          <p:nvPr/>
        </p:nvSpPr>
        <p:spPr>
          <a:xfrm rot="2700000">
            <a:off x="857586" y="4725498"/>
            <a:ext cx="387947" cy="387947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1" name="Number 5"/>
          <p:cNvSpPr txBox="1"/>
          <p:nvPr/>
        </p:nvSpPr>
        <p:spPr>
          <a:xfrm>
            <a:off x="832104" y="47000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22" name="Workflow label 5"/>
          <p:cNvSpPr txBox="1"/>
          <p:nvPr/>
        </p:nvSpPr>
        <p:spPr>
          <a:xfrm>
            <a:off x="1508760" y="46177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Get the latest changes:</a:t>
            </a:r>
            <a:endParaRPr lang="en-US" sz="1400" dirty="0"/>
          </a:p>
        </p:txBody>
      </p:sp>
      <p:sp>
        <p:nvSpPr>
          <p:cNvPr id="23" name="Workflow command 5"/>
          <p:cNvSpPr txBox="1"/>
          <p:nvPr/>
        </p:nvSpPr>
        <p:spPr>
          <a:xfrm>
            <a:off x="1508760" y="491032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pull</a:t>
            </a:r>
            <a:endParaRPr lang="en-US" sz="1300" dirty="0"/>
          </a:p>
        </p:txBody>
      </p:sp>
      <p:sp>
        <p:nvSpPr>
          <p:cNvPr id="24" name="Number badge 6"/>
          <p:cNvSpPr/>
          <p:nvPr/>
        </p:nvSpPr>
        <p:spPr>
          <a:xfrm rot="2700000">
            <a:off x="857586" y="5457018"/>
            <a:ext cx="387947" cy="387947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25" name="Number 6"/>
          <p:cNvSpPr txBox="1"/>
          <p:nvPr/>
        </p:nvSpPr>
        <p:spPr>
          <a:xfrm>
            <a:off x="832104" y="54315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6</a:t>
            </a:r>
            <a:endParaRPr lang="en-US" sz="1500" dirty="0"/>
          </a:p>
        </p:txBody>
      </p:sp>
      <p:sp>
        <p:nvSpPr>
          <p:cNvPr id="26" name="Workflow label 6"/>
          <p:cNvSpPr txBox="1"/>
          <p:nvPr/>
        </p:nvSpPr>
        <p:spPr>
          <a:xfrm>
            <a:off x="1508760" y="53492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Upload your changes:</a:t>
            </a:r>
            <a:endParaRPr lang="en-US" sz="1400" dirty="0"/>
          </a:p>
        </p:txBody>
      </p:sp>
      <p:sp>
        <p:nvSpPr>
          <p:cNvPr id="27" name="Workflow command 6"/>
          <p:cNvSpPr txBox="1"/>
          <p:nvPr/>
        </p:nvSpPr>
        <p:spPr>
          <a:xfrm>
            <a:off x="1508760" y="564184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</a:t>
            </a:r>
            <a:endParaRPr lang="en-US" sz="1300" dirty="0"/>
          </a:p>
        </p:txBody>
      </p:sp>
      <p:sp>
        <p:nvSpPr>
          <p:cNvPr id="28" name="Commit messages card"/>
          <p:cNvSpPr/>
          <p:nvPr/>
        </p:nvSpPr>
        <p:spPr>
          <a:xfrm>
            <a:off x="7223760" y="1463040"/>
            <a:ext cx="4416552" cy="16002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1F2236">
                <a:alpha val="14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29" name="Commit heading"/>
          <p:cNvSpPr txBox="1"/>
          <p:nvPr/>
        </p:nvSpPr>
        <p:spPr>
          <a:xfrm>
            <a:off x="7498080" y="162763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Better commit messages:</a:t>
            </a:r>
            <a:endParaRPr lang="en-US" sz="1700" dirty="0"/>
          </a:p>
        </p:txBody>
      </p:sp>
      <p:sp>
        <p:nvSpPr>
          <p:cNvPr id="30" name="Commit bullets"/>
          <p:cNvSpPr txBox="1"/>
          <p:nvPr/>
        </p:nvSpPr>
        <p:spPr>
          <a:xfrm>
            <a:off x="7498080" y="210312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Add student information program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Fix input validation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Update README with setup instructions</a:t>
            </a:r>
            <a:endParaRPr lang="en-US" sz="1400" dirty="0"/>
          </a:p>
        </p:txBody>
      </p:sp>
      <p:sp>
        <p:nvSpPr>
          <p:cNvPr id="31" name="README card"/>
          <p:cNvSpPr/>
          <p:nvPr/>
        </p:nvSpPr>
        <p:spPr>
          <a:xfrm>
            <a:off x="7223760" y="3246120"/>
            <a:ext cx="4416552" cy="16002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1F2236">
                <a:alpha val="14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32" name="README heading"/>
          <p:cNvSpPr txBox="1"/>
          <p:nvPr/>
        </p:nvSpPr>
        <p:spPr>
          <a:xfrm>
            <a:off x="7498080" y="341071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README.md:</a:t>
            </a:r>
            <a:endParaRPr lang="en-US" sz="1700" dirty="0"/>
          </a:p>
        </p:txBody>
      </p:sp>
      <p:sp>
        <p:nvSpPr>
          <p:cNvPr id="33" name="README bullets"/>
          <p:cNvSpPr txBox="1"/>
          <p:nvPr/>
        </p:nvSpPr>
        <p:spPr>
          <a:xfrm>
            <a:off x="7498080" y="388620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Project name and description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Installation/setup instructions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How to run the project</a:t>
            </a:r>
            <a:endParaRPr lang="en-US" sz="1400" dirty="0"/>
          </a:p>
        </p:txBody>
      </p:sp>
      <p:sp>
        <p:nvSpPr>
          <p:cNvPr id="34" name="gitignore card"/>
          <p:cNvSpPr/>
          <p:nvPr/>
        </p:nvSpPr>
        <p:spPr>
          <a:xfrm>
            <a:off x="7223760" y="5029200"/>
            <a:ext cx="4416552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blurRad="127000" dist="38100" dir="5400000" algn="bl" rotWithShape="0">
              <a:srgbClr val="1F2236">
                <a:alpha val="14000"/>
              </a:srgbClr>
            </a:outerShdw>
          </a:effectLst>
        </p:spPr>
        <p:txBody>
          <a:bodyPr/>
          <a:lstStyle/>
          <a:p>
            <a:endParaRPr lang="en-MY"/>
          </a:p>
        </p:txBody>
      </p:sp>
      <p:sp>
        <p:nvSpPr>
          <p:cNvPr id="35" name="gitignore heading"/>
          <p:cNvSpPr txBox="1"/>
          <p:nvPr/>
        </p:nvSpPr>
        <p:spPr>
          <a:xfrm>
            <a:off x="7498080" y="513892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.gitignore</a:t>
            </a:r>
            <a:endParaRPr lang="en-US" sz="1700" dirty="0"/>
          </a:p>
        </p:txBody>
      </p:sp>
      <p:sp>
        <p:nvSpPr>
          <p:cNvPr id="36" name="Code chip"/>
          <p:cNvSpPr/>
          <p:nvPr/>
        </p:nvSpPr>
        <p:spPr>
          <a:xfrm>
            <a:off x="7498080" y="5596128"/>
            <a:ext cx="1463040" cy="365760"/>
          </a:xfrm>
          <a:prstGeom prst="roundRect">
            <a:avLst>
              <a:gd name="adj" fmla="val 50000"/>
            </a:avLst>
          </a:prstGeom>
          <a:solidFill>
            <a:schemeClr val="accent1">
              <a:alpha val="15000"/>
            </a:scheme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7" name="Code chip text"/>
          <p:cNvSpPr txBox="1"/>
          <p:nvPr/>
        </p:nvSpPr>
        <p:spPr>
          <a:xfrm>
            <a:off x="7498080" y="559612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.dart_tool/</a:t>
            </a:r>
            <a:endParaRPr lang="en-US" sz="1300" dirty="0"/>
          </a:p>
        </p:txBody>
      </p:sp>
      <p:sp>
        <p:nvSpPr>
          <p:cNvPr id="38" name="Code chip"/>
          <p:cNvSpPr/>
          <p:nvPr/>
        </p:nvSpPr>
        <p:spPr>
          <a:xfrm>
            <a:off x="9098280" y="5596128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accent1">
              <a:alpha val="15000"/>
            </a:scheme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39" name="Code chip text"/>
          <p:cNvSpPr txBox="1"/>
          <p:nvPr/>
        </p:nvSpPr>
        <p:spPr>
          <a:xfrm>
            <a:off x="9098280" y="559612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build/</a:t>
            </a:r>
            <a:endParaRPr lang="en-US" sz="1300" dirty="0"/>
          </a:p>
        </p:txBody>
      </p:sp>
      <p:sp>
        <p:nvSpPr>
          <p:cNvPr id="40" name="Code chip"/>
          <p:cNvSpPr/>
          <p:nvPr/>
        </p:nvSpPr>
        <p:spPr>
          <a:xfrm>
            <a:off x="10149840" y="5596128"/>
            <a:ext cx="868680" cy="365760"/>
          </a:xfrm>
          <a:prstGeom prst="roundRect">
            <a:avLst>
              <a:gd name="adj" fmla="val 50000"/>
            </a:avLst>
          </a:prstGeom>
          <a:solidFill>
            <a:schemeClr val="accent1">
              <a:alpha val="15000"/>
            </a:schemeClr>
          </a:solidFill>
          <a:ln/>
        </p:spPr>
        <p:txBody>
          <a:bodyPr/>
          <a:lstStyle/>
          <a:p>
            <a:endParaRPr lang="en-MY"/>
          </a:p>
        </p:txBody>
      </p:sp>
      <p:sp>
        <p:nvSpPr>
          <p:cNvPr id="41" name="Code chip text"/>
          <p:cNvSpPr txBox="1"/>
          <p:nvPr/>
        </p:nvSpPr>
        <p:spPr>
          <a:xfrm>
            <a:off x="10149840" y="5596128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.pub/</a:t>
            </a:r>
            <a:endParaRPr lang="en-US" sz="1300" dirty="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A60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3630168" y="28346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bg1"/>
                </a:solidFill>
              </a:rPr>
              <a:t>ANY QUESTIONS?</a:t>
            </a:r>
            <a:endParaRPr lang="en-US" sz="3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3630168" y="28346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bg1"/>
                </a:solidFill>
              </a:rPr>
              <a:t>THANK YOU</a:t>
            </a:r>
            <a:endParaRPr lang="en-US" sz="3200" dirty="0"/>
          </a:p>
        </p:txBody>
      </p:sp>
      <p:sp>
        <p:nvSpPr>
          <p:cNvPr id="3" name="Course"/>
          <p:cNvSpPr txBox="1"/>
          <p:nvPr/>
        </p:nvSpPr>
        <p:spPr>
          <a:xfrm>
            <a:off x="3813048" y="3703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TMA3084 · Software Engineering Laboratory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art Up Lab">
  <a:themeElements>
    <a:clrScheme name="Start Up Lab">
      <a:dk1>
        <a:srgbClr val="1F2236"/>
      </a:dk1>
      <a:lt1>
        <a:srgbClr val="FFFFFF"/>
      </a:lt1>
      <a:dk2>
        <a:srgbClr val="343857"/>
      </a:dk2>
      <a:lt2>
        <a:srgbClr val="EEF0F4"/>
      </a:lt2>
      <a:accent1>
        <a:srgbClr val="1E9E7F"/>
      </a:accent1>
      <a:accent2>
        <a:srgbClr val="5CCB8C"/>
      </a:accent2>
      <a:accent3>
        <a:srgbClr val="F4B400"/>
      </a:accent3>
      <a:accent4>
        <a:srgbClr val="F28A30"/>
      </a:accent4>
      <a:accent5>
        <a:srgbClr val="3B82C4"/>
      </a:accent5>
      <a:accent6>
        <a:srgbClr val="E5484D"/>
      </a:accent6>
      <a:hlink>
        <a:srgbClr val="0B7A75"/>
      </a:hlink>
      <a:folHlink>
        <a:srgbClr val="5B6B8C"/>
      </a:folHlink>
    </a:clrScheme>
    <a:fontScheme name="Start Up Lab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</TotalTime>
  <Words>1121</Words>
  <Application>Microsoft Office PowerPoint</Application>
  <PresentationFormat>Widescreen</PresentationFormat>
  <Paragraphs>244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Arial</vt:lpstr>
      <vt:lpstr>Calibri</vt:lpstr>
      <vt:lpstr>Courier New</vt:lpstr>
      <vt:lpstr>Start Up Lab</vt:lpstr>
      <vt:lpstr>INTRODUCTION TO FLUTTER AND DART PROGRAMMING LANGUAGE</vt:lpstr>
      <vt:lpstr>TABLE OF CONTENTS</vt:lpstr>
      <vt:lpstr>INTRODUCTION TO FLUTTER</vt:lpstr>
      <vt:lpstr>IMPORTANCE OF FLUTTER</vt:lpstr>
      <vt:lpstr>INTRODUCTION TO DART</vt:lpstr>
      <vt:lpstr>INTRODUCTION TO DARTPAD</vt:lpstr>
      <vt:lpstr>INSTALLING DART SDK</vt:lpstr>
      <vt:lpstr>INSTALLING DART SDK</vt:lpstr>
      <vt:lpstr>INSTALLING DART SDK</vt:lpstr>
      <vt:lpstr>INSTALLING DART SDK</vt:lpstr>
      <vt:lpstr>INSTALLING DART SDK</vt:lpstr>
      <vt:lpstr>INSTALLING VS CODE</vt:lpstr>
      <vt:lpstr>INSTALLING VS CODE</vt:lpstr>
      <vt:lpstr>INSTALLING VS CODE</vt:lpstr>
      <vt:lpstr>INSTALLING VS CODE</vt:lpstr>
      <vt:lpstr>INSTALLING VS CODE</vt:lpstr>
      <vt:lpstr>INSTALLING VS CODE</vt:lpstr>
      <vt:lpstr>INSTALLATION DART TO VSC</vt:lpstr>
      <vt:lpstr>INSTALLATION DART TO VSC</vt:lpstr>
      <vt:lpstr>INSTALLATION DART TO VSC</vt:lpstr>
      <vt:lpstr>INSTALLATION DART TO VSC</vt:lpstr>
      <vt:lpstr>RUN VS CODE</vt:lpstr>
      <vt:lpstr>RUN VS CODE</vt:lpstr>
      <vt:lpstr>RUN VS CODE</vt:lpstr>
      <vt:lpstr>RUN VS CODE</vt:lpstr>
      <vt:lpstr>RUN VS CODE</vt:lpstr>
      <vt:lpstr>RUN VS CODE</vt:lpstr>
      <vt:lpstr>GITHUB &amp; CI/CD PART 1</vt:lpstr>
      <vt:lpstr>INSTALL &amp; CONFIGURE GIT</vt:lpstr>
      <vt:lpstr>PUSH MY CODE INTO GITHUB</vt:lpstr>
      <vt:lpstr>BASIC GIT WORKFLOW</vt:lpstr>
      <vt:lpstr>ANY QUESTIONS?</vt:lpstr>
      <vt:lpstr>THANK YOU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1: Introduction to Flutter and Dart Programming Language</dc:title>
  <dc:subject>PptxGenJS Presentation</dc:subject>
  <dc:creator>TMA3084 Software Engineering Laboratory</dc:creator>
  <cp:lastModifiedBy>RAYNOLD ANAK KABAI</cp:lastModifiedBy>
  <cp:revision>2</cp:revision>
  <dcterms:created xsi:type="dcterms:W3CDTF">2026-10-03T16:22:21Z</dcterms:created>
  <dcterms:modified xsi:type="dcterms:W3CDTF">2026-10-05T05:26:54Z</dcterms:modified>
</cp:coreProperties>
</file>